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আসসালামু আলাইকুম। গত পর্বে দেখিয়েছিলাম কীভাবে লাখ লাখ ইউজারকে ফ্রিতে নোটিফিকেশন পাঠাই। আজকে তার নিচের স্তরটা — Redis। আমার ব্যাকএন্ডে Redis শুধু ক্যাশ না, আটটা আলাদা কাজ করছে। প্রতিটা কীভাবে কাজ করে, কোন সিদ্ধান্তটা কেন নিয়েছি — আর শেষে সবচেয়ে জরুরি অংশ: কোথায় কোথায় আমি নিজেই ভুল করেছি। ওই শেষ দুইটা স্লাইড মিস করো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শুরুতে পুরো ম্যাপটা দেখে নাও। এক, ক্যাশ — ২৩টা জায়গায়। দুই, লক। তিন, জব কিউ — BullMQ। চার, স্ট্রিম — চ্যাট মেসেজ ডাটাবেজে নেওয়ার জন্য। পাঁচ, Pub/Sub — ছয়টা প্রসেস যেন একটাই রুম শেয়ার করতে পারে। ছয়, রেট লিমিট। সাত, প্রেজেন্স — কে অনলাইন আছে। আট, অস্থায়ী স্টেট — ডেস্কটপ লগইনের হ্যান্ডশেক। খেয়াল করো, এর মধ্যে শুধু প্রথমটাই আসলে ক্যাশ। বাকি সাতটা এমন কাজ যেগুলো Postgres দিয়ে করলে হয় ভয়ানক ধীর হতো, নয়তো একেবারেই সম্ভব হতো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প্রথম সিদ্ধান্ত — কানেকশন। আমি চারটা আলাদা ioredis ক্লায়েন্ট খুলি, একটা না। কেন? সাবস্ক্রাইব মোডে থাকা কানেকশনে Redis অন্য কোনো কমান্ডই নেয় না, তাই Socket.IO-র পাব আর সাব আলাদা লাগবেই। কিন্তু সবচেয়ে গুরুত্বপূর্ণ চতুর্থটা: redisCacheConnection। এটার commandTimeout দেড় সেকেন্ড, আর রিট্রাই মাত্র একবার। মানে Redis ধীর হলে ক্যাশ রিড দেড় সেকেন্ডেই হাল ছেড়ে দেবে, আর রিকোয়েস্টটা সরাসরি ডাটাবেজ থেকে উত্তর নিয়ে চলে যাবে। পেজ ঝুলে থাকবে না। এই এক লাইনের কনফিগটা প্রোডাকশনে অনেকবার বাঁচিয়েছে।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ক্যাশ ইঞ্জিনের ভেতরে। আমি Redis-এ সরাসরি ভ্যালু রাখি না — একটা খাম রাখি। ভেতরে তিনটা জিনিস: ভার্সন, freshUntil, আর আসল ডেটা। ভার্সন কেন? ক্যাশের ফরম্যাট বদলালে পুরনো এন্ট্রি নিজে থেকেই বাতিল হয়ে যায়। freshUntil কেন? কারণ Redis-এর TTL আর ডেটার ফ্রেশনেস আমি আলাদা রেখেছি। আর jitter — TTL-এর সাথে দশ পার্সেন্ট এলোমেলো যোগ-বিয়োগ, যাতে একসাথে লেখা হাজারটা key একই সেকেন্ডে এক্সপায়ার না করে। নাহলে প্রতি TTL-এ ডাটাবেজে একটা করে ঢেউ আসত।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ক্যাশ পড়ার সময় তিনটা অবস্থা পাই। FRESH — সাথে সাথে ফেরত। STALE — পুরনো ডেটাটাই সাথে সাথে ফেরত দিই, আর পেছনে চুপচাপ রিফ্রেশ করি; ইউজার অপেক্ষা করে না। MISS — কেউ একজন লক নিয়ে ডাটাবেজে যায়। এখন একটা সৎ কথা বলি, যেটা শেষে আবার বলব — আমার তেইশটা কল সাইটের মধ্যে বিশটাই strict মোড ব্যবহার করে, যেখানে staleTtl শূন্য। মানে এই মাঝের দরজাটা, STALE, আমার কোডে আসলে কখনো খোলেই না। কোডটা লেখা আছে, কাজে লাগছে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MISS-এর ক্ষেত্রে সবচেয়ে বিপজ্জনক জিনিসটা cache stampede। ক্যাশ এইমাত্র এক্সপায়ার করলো, আর ঠিক তখন দশ হাজার রিকোয়েস্ট এলো — সবাই মিস পাবে, সবাই ডাটাবেজে যাবে। আমি চার স্তরে আটকেছি। এক, singleFlight। দুই, Redis লক — ছয়টা ইনস্ট্যান্সের মধ্যে একজনই ডাটাবেজে যায়। তিন, বাকিরা ৪০ থেকে ১০০ মিলিসেকেন্ড এলোমেলো গ্যাপে ক্যাশ চেক করে; এলোমেলো, যাতে সবাই আবার একসাথে গিয়ে না পড়ে। চার, rescue lock। আর heartbeat — লক পাঁচ সেকেন্ডের কিন্তু কোয়েরি সাত সেকেন্ড নিলে লক ছুটে যেত আর দুইজন একসাথে ঢুকে পড়ত।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লক নেওয়ার চেয়ে লক ছাড়াটা আসলে বেশি কঠিন, আর এখানেই বেশিরভাগ মানুষ ভুল করে। ভাবো: Worker A লক নিলো, কাজ বেশি সময় নিলো, লক এক্সপায়ার করলো। এখন Worker B নতুন লক নিলো। তারপর A কাজ শেষ করে DEL করলো — কিন্তু সে নিজের লক মুছলো না, সে B-র লক মুছে দিলো। তাই আমি প্রতিটা লকের সাথে একটা র‍্যান্ডম টোকেন রাখি, আর ছাড়ার সময় Lua স্ক্রিপ্টে মিলিয়ে দেখি। Lua কেন? কারণ GET আর DEL আলাদা করে পাঠালে মাঝখানে আবার সেই একই রেস।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ইনভ্যালিডেশন — ক্যাশের সবচেয়ে কঠিন সমস্যা। প্রথম কৌশল সহজ: key-টা জানা থাকলে সরাসরি DELETE। স্টুডেন্ট প্রোফাইল আপডেট করলো? ওই একটা key মুছে দাও। এনরোলমেন্ট বাতিল হলো? ওই জোড়ার key মুছে দাও, পরের রিকোয়েস্টেই সে আর ঢুকতে পারবে না। অথ, পারমিশন, রেস্ট্রিকশন — সবগুলোতেই এটা কাজ করে, কারণ key-এর নামটা ঠিক জানা আছে। কিন্তু এখানেই সীমা: একটা কোর্সের নাম এডিট করলে ঠিক কোন কোন লিস্ট বদলাবে সেটা তো জানা নেই।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তাই দ্বিতীয় কৌশল: মুছি না, ভার্সন বাড়াই। কোর্স ক্যাটালগের key-তে কোয়েরি প্যারামিটার, হোস্ট, পেজ নম্বর — সব মিলিয়ে হাজার হাজার key। খুঁজে মুছতে SCAN চালালে Redis ব্যস্ত হয়ে যাবে। তাই ভার্সন নম্বরটা key-এর নামের ভেতরেই বসিয়ে দিয়েছি। কোর্স এডিট হলে শুধু একটা INCR। পরের রিকোয়েস্ট আর পুরনো নামটা চাইবেই না, তাই সব পুরনো key এক মুহূর্তে অনাথ হয়ে যায়, আর TTL শেষে Redis নিজেই মুছে ফেলে।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এখন যে জিনিসটা নিয়ে আমি নিজে সবচেয়ে খুশি — দুইটা ভার্সন একসাথে। সমস্যাটা বুঝো: আমার কোর্স লিস্টটা দুইভাবে বদলাতে পারে। এক, স্টুডেন্ট নিজে নতুন কোর্স কিনলো। দুই, অ্যাডমিন কোর্সের নাম বা ছবি বদলালো। শুধু গ্লোবাল ভার্সন রাখলে একটা কোর্স এডিট করলেই পাঁচ লাখ স্টুডেন্টের ক্যাশ একসাথে অচল হয়ে সবাই ডাটাবেজে ঝাঁপিয়ে পড়ত। আর শুধু স্টুডেন্ট-ভিত্তিক রাখলে কোর্স এডিট কারো কাছেই পৌঁছাত না। তাই key-তে দুইটাই — sv আর cv। যেটা যতটুকু বদলেছে, ঠিক ততটুকুই অচল হয়।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সবচেয়ে বড় লাভটা কোথায়? প্রতিটা প্রোটেক্টেড রিকোয়েস্টে অন্তত তিনটা প্রশ্নের উত্তর লাগে: ইউজারটা কে, এই আইডিটা কোন কোর্সের, আর তার কি এই কোর্সে অ্যাক্সেস আছে। আগে এই তিনটাই আলাদা ডাটাবেজ কোয়েরি ছিল — প্রতিটা রিকোয়েস্টে, প্রতিটা এন্ডপয়েন্টে। এখন তিনটাই Redis থেকে আসে, মানে শূন্য ডাটাবেজ কোয়েরিতে অথ চেক শেষ। এটা সব এন্ডপয়েন্টের হিসাব, তাই লাভটা গুণিতক। আর ব্যান বা রেস্ট্রিকশন ক্যাশ থেকে পড়ার পরে ফিল্টার করা হয়, তাই ব্যান শেষ হলে TTL-এর অপেক্ষা করতে হয়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TTL কীভাবে ঠিক করি? নিয়মটা সহজ — TTL ঠিক করে ডেটার গুরুত্ব, আকার নয়। প্রশ্ন একটাই: বাসি ডেটা দেখালে কতটা ক্ষতি? নোটিফিকেশন ফিড কুড়ি সেকেন্ড, কারণ ইউজার বারবার রিফ্রেশ করে। অথ ইউজার ষাট সেকেন্ড, কারণ কাউকে ব্যান করার পর সে যদি পাঁচ মিনিট ঢুকতে পারে সেটা নিরাপত্তার সমস্যা। পারমিশন দুই মিনিট, কারণ ওখানে সরাসরি DELETE-ও আছে। মূল ট্রেড-অফটা এই: যেখানে ইনভ্যালিডেশন নেই, সেখানে TTL ছোট রাখো।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রিয়েলটাইম অংশ। PM2-তে ছয়টা ইনস্ট্যান্স চলে — ছয়টা আলাদা Node প্রসেস, প্রত্যেকের নিজের মেমোরি। স্টুডেন্ট A ইনস্ট্যান্স ১-এ, স্টুডেন্ট B ইনস্ট্যান্স ৪-এ। A চ্যাটে কিছু লিখলে B কিছুই পাবে না, কারণ ইনস্ট্যান্স ১ জানেই না B বলে কেউ আছে। সমাধান Redis-এর Pub/Sub adapter। আমি sharded adapter ব্যবহার করি — সাধারণটা একটাই চ্যানেলে সব পাঠায়, তাই প্রতিটা ইনস্ট্যান্স প্রয়োজন না থাকলেও সব মেসেজ পায়। sharded ভার্সনে অপ্রয়োজনীয় ট্রাফিক অনেক কমে।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আমার সবচেয়ে প্রিয় অংশ — কতজন দেখছে সেটা গোনা। একটা লাইভ ক্লাসে পাঁচশো জনও থাকতে পারে, আবার এক লাখও। প্রত্যেককে আলাদা করে ZSET-এ রাখলে প্রতি ইউজারে প্রায় সত্তর বাইট — এক লাখে সেটা মেগাবাইটে চলে যায়, প্রতিটা ক্লাসের জন্য। তাই হাইব্রিড। পাঁচশোর নিচে ZSET — নিখুঁত সংখ্যা আর প্রত্যেকের অ্যাভাটার। পাঁচশোর উপরে HyperLogLog — প্রায় শূন্য দশমিক আট শতাংশ ভুল, কিন্তু পাঁচ হাজার হোক বা পাঁচ লাখ, মেমোরি সবসময় বারো কিলোবাইট। আর তিনটা ত্রিশ-সেকেন্ডের bucket মার্জ করি, তাই এক ঝলক দেখে চলে যাওয়া লোক গোনা হয়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একটা জিনিস অনেকে খেয়াল করে না। Redis একটাই থ্রেডে চলে। প্রতিটা কমান্ড মাইক্রোসেকেন্ডে শেষ হয়, কিন্তু নেটওয়ার্ক রাউন্ড-ট্রিপ মাইক্রোসেকেন্ড না। তাই আসল খরচ কমান্ডে না, খরচ যাওয়া-আসায়। প্রেজেন্স আপডেট করতে চারটা কমান্ড লাগে। আলাদা পাঠালে চারবার যাওয়া-আসা। তাই চারটাই একটা Lua স্ক্রিপ্টে রেখেছি — একবার যাওয়া, একবার আসা, আর পুরোটা atomic। আর রুমটা পাঁচশোর কম কিনা, এই সিদ্ধান্তটাও স্ক্রিপ্টের ভেতরেই নেওয়া হয়।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রাউন্ড-ট্রিপ কমানোর সবচেয়ে বড় অস্ত্র হলো বাফারিং। পঞ্চাশ হাজার স্টুডেন্ট ভিডিও দেখছে, প্রত্যেকে সেকেন্ডে একটা করে প্রোগ্রেস ইভেন্ট পাঠাচ্ছে। প্রতিটা সরাসরি Redis-এ লিখলে Redis-ই বটলনেক হয়ে যাবে। তাই প্রেজেন্স আপডেট এক সেকেন্ড মেমোরিতে জমে, তারপর একটা pipeline-এ সব একসাথে যায় — তিনশো জন করে চাঙ্কে। প্রোগ্রেস আরও চালাক: একটা Map-এ জমে, তাই একই ইউজারের নতুন ইভেন্ট পুরনোটা ওভাররাইট করে দেয় — ত্রিশ সেকেন্ডে একজন ত্রিশটা ইভেন্ট পাঠালেও ডাটাবেজে যায় একটা।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চ্যাট মেসেজ সেভ করার জন্য Pub/Sub না, Redis Streams ব্যবহার করি। কেন? Pub/Sub-এ কেউ যদি ওই মুহূর্তে না শুনে থাকে, মেসেজটা চিরতরে হারিয়ে যায়। Stream ধরে রাখে যতক্ষণ না কেউ ACK করে। XADD দিয়ে ঢোকে, ওয়ার্কার XREADGROUP দিয়ে দুইশোটা করে পড়ে — BLOCK মোডে, মানে খালি থাকলে অপেক্ষা করে, পোলিং করে Redis-কে জ্বালায় না। ব্যাচ ফেল করলে একটা একটা করে আবার চেষ্টা, তাতেও ফেল করলে dead-letter স্ট্রিমে। আর সবচেয়ে সুন্দর অংশ XAUTOCLAIM — ওয়ার্কার ক্র্যাশ করলে ত্রিশ সেকেন্ড পর আরেকটা ওয়ার্কার আটকে থাকা কাজগুলো দখল করে নেয়।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রেট লিমিটও Redis-এ, আর কারণটা গুরুত্বপূর্ণ। কাউন্টারটা প্রসেসের মেমোরিতে রাখলে ছয়টা ইনস্ট্যান্সে ছয়টা আলাদা কাউন্টার হতো। লিমিট পাঁচশো দিলে অ্যাটাকার আসলে তিন হাজার রিকোয়েস্ট পাঠাতে পারত। Redis-এ রাখায় কাউন্টার একটাই। আর দুই স্তরে লিমিট দিই — IP ধরে, আবার ফোন বা ইমেইল ধরেও, কারণ শুধু IP দিলে একটা অফিসের পেছনের সবাই একসাথে ব্লক হয়ে যেত। আর OTP রিসেন্ডে কুকির রিফ্রেশ টোকেন ডিকোড করে ইউজার আইডি দিয়ে লিমিট করি।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যদি মরে যায়? আমার নিয়ম: ক্যাশ একটা অপ্টিমাইজেশন, নির্ভরতা নয়। তাই প্রতিটা getCached ফাংশনে try-catch, আর catch-এ সরাসরি loader কল — মানে ডাটাবেজ থেকে পড়া। Redis ধীর হলে দেড় সেকেন্ডে টাইমআউট। Redis একেবারে ডাউন হলেও সাইট চলে, শুধু ধীরে। কিন্তু এখানে সৎ থাকতে হবে — এটা শুধু ক্যাশের জন্য সত্যি। কিউ, স্ট্রিম আর Socket.IO adapter Redis ছাড়া একদমই চলবে না। তাই Redis-এর আপটাইম আর মেমোরি মনিটর করাটা ঐচ্ছিক কিছু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সবচেয়ে দরকারি অংশ — আমি কোথায় কোথায় আরও ভালো করতে পারতাম। এই চারটা এখনই ঠিক করব। এক, সবচেয়ে বড় ঝুঁকি: ক্যাশ আর কিউ আমার একই Redis-এ। ক্যাশ key মুছে গেলে কিছুই হয় না, কিন্তু BullMQ-র জব বা চ্যাট স্ট্রিম মুছে গেলে ডেটা হারায়। allkeys-lru পলিসি এই পার্থক্য বোঝে না। সমাধান — দুইটা আলাদা Redis। দুই, maxmemory সেট করা, নাহলে একদিন OS প্রসেসটাকে মেরে ফেলবে। তিন, hit রেট মাপার কোনো ব্যবস্থাই নেই — কোন ক্যাশটা কাজ করছে সেটা এখন পুরোপুরি অনুমান। চার, BullMQ-র জন্য আলাদা কানেকশন।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আর এই পাঁচটা পরে করলেও চলবে। পাঁচ — মনে আছে পাঁচ নম্বর স্লাইডে বলেছিলাম? stale-while-revalidate আসলে ব্যবহারই হচ্ছে না। সুন্দর ব্যাকগ্রাউন্ড-রিফ্রেশ কোড লেখা আছে, কিন্তু তেইশটার মধ্যে বিশটা কল সাইট strict মোডে, যেখানে staleTtl শূন্য। ফলে প্রতি TTL-এ একজনকে ডাটাবেজের জন্য অপেক্ষা করতেই হয়। কোডটা আমার আছে, আমি শুধু ব্যবহার করিনি। ছয় — বড় রুমে HGETALL। সাত — key প্রিফিক্স কনভেনশন। আট — অথ ইউজারের জন্য ছোট ইন-মেমোরি LRU। নয় — এখন একটাই Redis ইনস্ট্যান্স, মানে single point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সব মিলিয়ে চারটা কথা। এক, TTL ঠিক করে ডেটার গুরুত্ব — বাসি ডেটা দেখালে কতটা ক্ষতি, সেটাই প্রশ্ন। দুই, key জানা থাকলে DELETE, না জানলে ভার্সন INCR — SCAN কখনো নয়। তিন, রাউন্ড-ট্রিপ কমাও — pipeline, Lua, MGET, বাফার। চার, ক্যাশ ফেল করলে ফিচার ফেল করা উচিত না, যদিও কিউ আর স্ট্রিমের জন্য এটা খাটে না। আর শেষ কথা — আজকে আমি নিজের নয়টা দুর্বলতা দেখালাম। কোড লেখার চেয়ে নিজের কোডের দুর্বলতা জানাটা বেশি জরুরি, কারণ ওটা না জানলে একদিন রাত তিনটায় সেটা নিজে থেকে জানান দেয়। ভিডিওটা কাজে লাগলে লাইক দিও, আর তোমার সিস্টেমে Redis কোথায় ব্যবহার করছো কমেন্টে লিখো। ধন্যবাদ।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01</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9646920" y="1737360"/>
            <a:ext cx="50292" cy="3566160"/>
          </a:xfrm>
          <a:prstGeom prst="rect">
            <a:avLst/>
          </a:prstGeom>
          <a:solidFill>
            <a:srgbClr val="3FC9C0"/>
          </a:solidFill>
          <a:ln w="12700">
            <a:solidFill>
              <a:srgbClr val="333333"/>
            </a:solidFill>
            <a:prstDash val="solid"/>
          </a:ln>
        </p:spPr>
      </p:sp>
      <p:sp>
        <p:nvSpPr>
          <p:cNvPr id="5" name="Shape 3"/>
          <p:cNvSpPr/>
          <p:nvPr/>
        </p:nvSpPr>
        <p:spPr>
          <a:xfrm>
            <a:off x="10561320" y="2880360"/>
            <a:ext cx="1234440" cy="1234440"/>
          </a:xfrm>
          <a:prstGeom prst="roundRect">
            <a:avLst>
              <a:gd name="adj" fmla="val 5926"/>
            </a:avLst>
          </a:prstGeom>
          <a:solidFill>
            <a:srgbClr val="161B28"/>
          </a:solidFill>
          <a:ln w="12700">
            <a:solidFill>
              <a:srgbClr val="4A3F86"/>
            </a:solidFill>
            <a:prstDash val="solid"/>
          </a:ln>
        </p:spPr>
      </p:sp>
      <p:sp>
        <p:nvSpPr>
          <p:cNvPr id="6" name="Text 4"/>
          <p:cNvSpPr txBox="1"/>
          <p:nvPr/>
        </p:nvSpPr>
        <p:spPr>
          <a:xfrm>
            <a:off x="10561320" y="3310128"/>
            <a:ext cx="1234440" cy="365760"/>
          </a:xfrm>
          <a:prstGeom prst="rect">
            <a:avLst/>
          </a:prstGeom>
          <a:noFill/>
          <a:ln/>
        </p:spPr>
        <p:txBody>
          <a:bodyPr wrap="square" lIns="0" tIns="0" rIns="0" bIns="0" rtlCol="0" anchor="ctr"/>
          <a:lstStyle/>
          <a:p>
            <a:pPr algn="ctr" indent="0" marL="0">
              <a:buNone/>
            </a:pPr>
            <a:r>
              <a:rPr lang="en-US" sz="1300" spc="200" kern="0" dirty="0">
                <a:solidFill>
                  <a:srgbClr val="9A8CF0"/>
                </a:solidFill>
                <a:latin typeface="Consolas" pitchFamily="34" charset="0"/>
                <a:ea typeface="Consolas" pitchFamily="34" charset="-122"/>
                <a:cs typeface="Consolas" pitchFamily="34" charset="-120"/>
              </a:rPr>
              <a:t>DB</a:t>
            </a:r>
            <a:endParaRPr lang="en-US" sz="1300" dirty="0"/>
          </a:p>
        </p:txBody>
      </p:sp>
      <p:sp>
        <p:nvSpPr>
          <p:cNvPr id="7" name="Shape 5"/>
          <p:cNvSpPr/>
          <p:nvPr/>
        </p:nvSpPr>
        <p:spPr>
          <a:xfrm>
            <a:off x="9052560" y="2148840"/>
            <a:ext cx="155448" cy="155448"/>
          </a:xfrm>
          <a:prstGeom prst="ellipse">
            <a:avLst/>
          </a:prstGeom>
          <a:solidFill>
            <a:srgbClr val="F5A63C"/>
          </a:solidFill>
          <a:ln w="12700">
            <a:solidFill>
              <a:srgbClr val="333333"/>
            </a:solidFill>
            <a:prstDash val="solid"/>
          </a:ln>
        </p:spPr>
      </p:sp>
      <p:sp>
        <p:nvSpPr>
          <p:cNvPr id="8" name="Shape 6"/>
          <p:cNvSpPr/>
          <p:nvPr/>
        </p:nvSpPr>
        <p:spPr>
          <a:xfrm>
            <a:off x="9052560" y="2788920"/>
            <a:ext cx="155448" cy="155448"/>
          </a:xfrm>
          <a:prstGeom prst="ellipse">
            <a:avLst/>
          </a:prstGeom>
          <a:solidFill>
            <a:srgbClr val="F5A63C"/>
          </a:solidFill>
          <a:ln w="12700">
            <a:solidFill>
              <a:srgbClr val="333333"/>
            </a:solidFill>
            <a:prstDash val="solid"/>
          </a:ln>
        </p:spPr>
      </p:sp>
      <p:sp>
        <p:nvSpPr>
          <p:cNvPr id="9" name="Shape 7"/>
          <p:cNvSpPr/>
          <p:nvPr/>
        </p:nvSpPr>
        <p:spPr>
          <a:xfrm>
            <a:off x="9052560" y="4114800"/>
            <a:ext cx="155448" cy="155448"/>
          </a:xfrm>
          <a:prstGeom prst="ellipse">
            <a:avLst/>
          </a:prstGeom>
          <a:solidFill>
            <a:srgbClr val="F5A63C"/>
          </a:solidFill>
          <a:ln w="12700">
            <a:solidFill>
              <a:srgbClr val="333333"/>
            </a:solidFill>
            <a:prstDash val="solid"/>
          </a:ln>
        </p:spPr>
      </p:sp>
      <p:sp>
        <p:nvSpPr>
          <p:cNvPr id="10" name="Shape 8"/>
          <p:cNvSpPr/>
          <p:nvPr/>
        </p:nvSpPr>
        <p:spPr>
          <a:xfrm>
            <a:off x="9052560" y="4754880"/>
            <a:ext cx="155448" cy="155448"/>
          </a:xfrm>
          <a:prstGeom prst="ellipse">
            <a:avLst/>
          </a:prstGeom>
          <a:solidFill>
            <a:srgbClr val="F5A63C"/>
          </a:solidFill>
          <a:ln w="12700">
            <a:solidFill>
              <a:srgbClr val="333333"/>
            </a:solidFill>
            <a:prstDash val="solid"/>
          </a:ln>
        </p:spPr>
      </p:sp>
      <p:sp>
        <p:nvSpPr>
          <p:cNvPr id="11" name="Shape 9"/>
          <p:cNvSpPr/>
          <p:nvPr/>
        </p:nvSpPr>
        <p:spPr>
          <a:xfrm>
            <a:off x="10104120" y="3429000"/>
            <a:ext cx="155448" cy="155448"/>
          </a:xfrm>
          <a:prstGeom prst="ellipse">
            <a:avLst/>
          </a:prstGeom>
          <a:solidFill>
            <a:srgbClr val="F5A63C"/>
          </a:solidFill>
          <a:ln w="12700">
            <a:solidFill>
              <a:srgbClr val="333333"/>
            </a:solidFill>
            <a:prstDash val="solid"/>
          </a:ln>
        </p:spPr>
      </p:sp>
      <p:sp>
        <p:nvSpPr>
          <p:cNvPr id="12" name="Shape 10"/>
          <p:cNvSpPr/>
          <p:nvPr/>
        </p:nvSpPr>
        <p:spPr>
          <a:xfrm>
            <a:off x="658368" y="1463040"/>
            <a:ext cx="274320" cy="18288"/>
          </a:xfrm>
          <a:prstGeom prst="rect">
            <a:avLst/>
          </a:prstGeom>
          <a:solidFill>
            <a:srgbClr val="3FC9C0"/>
          </a:solidFill>
          <a:ln/>
        </p:spPr>
      </p:sp>
      <p:sp>
        <p:nvSpPr>
          <p:cNvPr id="13" name="Text 11"/>
          <p:cNvSpPr txBox="1"/>
          <p:nvPr/>
        </p:nvSpPr>
        <p:spPr>
          <a:xfrm>
            <a:off x="1042416" y="1325880"/>
            <a:ext cx="6400800" cy="274320"/>
          </a:xfrm>
          <a:prstGeom prst="rect">
            <a:avLst/>
          </a:prstGeom>
          <a:noFill/>
          <a:ln/>
        </p:spPr>
        <p:txBody>
          <a:bodyPr wrap="square" lIns="0" tIns="0" rIns="0" bIns="0" rtlCol="0" anchor="ctr"/>
          <a:lstStyle/>
          <a:p>
            <a:pPr indent="0" marL="0">
              <a:buNone/>
            </a:pPr>
            <a:r>
              <a:rPr lang="en-US" sz="1100" spc="160" kern="0" dirty="0">
                <a:solidFill>
                  <a:srgbClr val="3FC9C0"/>
                </a:solidFill>
                <a:latin typeface="Consolas" pitchFamily="34" charset="0"/>
                <a:ea typeface="Consolas" pitchFamily="34" charset="-122"/>
                <a:cs typeface="Consolas" pitchFamily="34" charset="-120"/>
              </a:rPr>
              <a:t>BACKEND SYSTEM DESIGN · বাংলা · পর্ব ২</a:t>
            </a:r>
            <a:endParaRPr lang="en-US" sz="1100" dirty="0"/>
          </a:p>
        </p:txBody>
      </p:sp>
      <p:sp>
        <p:nvSpPr>
          <p:cNvPr id="14" name="Text 12"/>
          <p:cNvSpPr txBox="1"/>
          <p:nvPr/>
        </p:nvSpPr>
        <p:spPr>
          <a:xfrm>
            <a:off x="658368" y="1783080"/>
            <a:ext cx="8229600" cy="1828800"/>
          </a:xfrm>
          <a:prstGeom prst="rect">
            <a:avLst/>
          </a:prstGeom>
          <a:noFill/>
          <a:ln/>
        </p:spPr>
        <p:txBody>
          <a:bodyPr wrap="square" lIns="0" tIns="0" rIns="0" bIns="0" rtlCol="0" anchor="t"/>
          <a:lstStyle/>
          <a:p>
            <a:pPr indent="0" marL="0">
              <a:lnSpc>
                <a:spcPts val="4600"/>
              </a:lnSpc>
              <a:buNone/>
            </a:pPr>
            <a:r>
              <a:rPr lang="en-US" sz="3800" b="1" dirty="0">
                <a:solidFill>
                  <a:srgbClr val="E9EDF6"/>
                </a:solidFill>
                <a:latin typeface="Nirmala UI" pitchFamily="34" charset="0"/>
                <a:ea typeface="Nirmala UI" pitchFamily="34" charset="-122"/>
                <a:cs typeface="Nirmala UI" pitchFamily="34" charset="-120"/>
              </a:rPr>
              <a:t>প্রোডাকশনে </a:t>
            </a:r>
            <a:pPr indent="0" marL="0">
              <a:lnSpc>
                <a:spcPts val="4600"/>
              </a:lnSpc>
              <a:buNone/>
            </a:pPr>
            <a:r>
              <a:rPr lang="en-US" sz="3800" b="1" dirty="0">
                <a:solidFill>
                  <a:srgbClr val="3FC9C0"/>
                </a:solidFill>
                <a:latin typeface="Nirmala UI" pitchFamily="34" charset="0"/>
                <a:ea typeface="Nirmala UI" pitchFamily="34" charset="-122"/>
                <a:cs typeface="Nirmala UI" pitchFamily="34" charset="-120"/>
              </a:rPr>
              <a:t>Redis</a:t>
            </a:r>
            <a:endParaRPr lang="en-US" sz="3800" dirty="0"/>
          </a:p>
          <a:p>
            <a:pPr indent="0" marL="0">
              <a:lnSpc>
                <a:spcPts val="4600"/>
              </a:lnSpc>
              <a:buNone/>
            </a:pPr>
            <a:r>
              <a:rPr lang="en-US" sz="3800" b="1" dirty="0">
                <a:solidFill>
                  <a:srgbClr val="E9EDF6"/>
                </a:solidFill>
                <a:latin typeface="Nirmala UI" pitchFamily="34" charset="0"/>
                <a:ea typeface="Nirmala UI" pitchFamily="34" charset="-122"/>
                <a:cs typeface="Nirmala UI" pitchFamily="34" charset="-120"/>
              </a:rPr>
              <a:t>সার্ভারকে যেভাবে হালকা রেখেছি</a:t>
            </a:r>
            <a:endParaRPr lang="en-US" sz="3800" dirty="0"/>
          </a:p>
        </p:txBody>
      </p:sp>
      <p:sp>
        <p:nvSpPr>
          <p:cNvPr id="15" name="Text 13"/>
          <p:cNvSpPr txBox="1"/>
          <p:nvPr/>
        </p:nvSpPr>
        <p:spPr>
          <a:xfrm>
            <a:off x="658368" y="3840480"/>
            <a:ext cx="8046720" cy="822960"/>
          </a:xfrm>
          <a:prstGeom prst="rect">
            <a:avLst/>
          </a:prstGeom>
          <a:noFill/>
          <a:ln/>
        </p:spPr>
        <p:txBody>
          <a:bodyPr wrap="square" lIns="0" tIns="0" rIns="0" bIns="0" rtlCol="0" anchor="t"/>
          <a:lstStyle/>
          <a:p>
            <a:pPr indent="0" marL="0">
              <a:buNone/>
            </a:pPr>
            <a:r>
              <a:rPr lang="en-US" sz="1400" dirty="0">
                <a:solidFill>
                  <a:srgbClr val="B4BCCE"/>
                </a:solidFill>
                <a:latin typeface="Nirmala UI" pitchFamily="34" charset="0"/>
                <a:ea typeface="Nirmala UI" pitchFamily="34" charset="-122"/>
                <a:cs typeface="Nirmala UI" pitchFamily="34" charset="-120"/>
              </a:rPr>
              <a:t>ক্যাশ, লক, কিউ, স্ট্রিম, Pub/Sub, রেট লিমিট, প্রেজেন্স — একটাই Redis, আটটা আলাদা কাজ।</a:t>
            </a:r>
            <a:endParaRPr lang="en-US" sz="1400" dirty="0"/>
          </a:p>
          <a:p>
            <a:pPr indent="0" marL="0">
              <a:buNone/>
            </a:pPr>
            <a:r>
              <a:rPr lang="en-US" sz="1400" dirty="0">
                <a:solidFill>
                  <a:srgbClr val="B4BCCE"/>
                </a:solidFill>
                <a:latin typeface="Nirmala UI" pitchFamily="34" charset="0"/>
                <a:ea typeface="Nirmala UI" pitchFamily="34" charset="-122"/>
                <a:cs typeface="Nirmala UI" pitchFamily="34" charset="-120"/>
              </a:rPr>
              <a:t>কোড থেকে, সাথে যা যা আরও ভালো করা যেত।</a:t>
            </a:r>
            <a:endParaRPr lang="en-US" sz="1400" dirty="0"/>
          </a:p>
        </p:txBody>
      </p:sp>
      <p:sp>
        <p:nvSpPr>
          <p:cNvPr id="16" name="Text 14"/>
          <p:cNvSpPr txBox="1"/>
          <p:nvPr/>
        </p:nvSpPr>
        <p:spPr>
          <a:xfrm>
            <a:off x="658368" y="4937760"/>
            <a:ext cx="2560320" cy="502920"/>
          </a:xfrm>
          <a:prstGeom prst="rect">
            <a:avLst/>
          </a:prstGeom>
          <a:noFill/>
          <a:ln/>
        </p:spPr>
        <p:txBody>
          <a:bodyPr wrap="square" lIns="0" tIns="0" rIns="0" bIns="0" rtlCol="0" anchor="t"/>
          <a:lstStyle/>
          <a:p>
            <a:pPr indent="0" marL="0">
              <a:buNone/>
            </a:pPr>
            <a:r>
              <a:rPr lang="en-US" sz="2800" b="1" dirty="0">
                <a:solidFill>
                  <a:srgbClr val="3FC9C0"/>
                </a:solidFill>
                <a:latin typeface="Consolas" pitchFamily="34" charset="0"/>
                <a:ea typeface="Consolas" pitchFamily="34" charset="-122"/>
                <a:cs typeface="Consolas" pitchFamily="34" charset="-120"/>
              </a:rPr>
              <a:t>৮</a:t>
            </a:r>
            <a:endParaRPr lang="en-US" sz="2800" dirty="0"/>
          </a:p>
        </p:txBody>
      </p:sp>
      <p:sp>
        <p:nvSpPr>
          <p:cNvPr id="17" name="Text 15"/>
          <p:cNvSpPr txBox="1"/>
          <p:nvPr/>
        </p:nvSpPr>
        <p:spPr>
          <a:xfrm>
            <a:off x="658368" y="5440680"/>
            <a:ext cx="256032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আলাদা ভূমিকা</a:t>
            </a:r>
            <a:endParaRPr lang="en-US" sz="1000" dirty="0"/>
          </a:p>
        </p:txBody>
      </p:sp>
      <p:sp>
        <p:nvSpPr>
          <p:cNvPr id="18" name="Text 16"/>
          <p:cNvSpPr txBox="1"/>
          <p:nvPr/>
        </p:nvSpPr>
        <p:spPr>
          <a:xfrm>
            <a:off x="3310128" y="4937760"/>
            <a:ext cx="2560320" cy="502920"/>
          </a:xfrm>
          <a:prstGeom prst="rect">
            <a:avLst/>
          </a:prstGeom>
          <a:noFill/>
          <a:ln/>
        </p:spPr>
        <p:txBody>
          <a:bodyPr wrap="square" lIns="0" tIns="0" rIns="0" bIns="0" rtlCol="0" anchor="t"/>
          <a:lstStyle/>
          <a:p>
            <a:pPr indent="0" marL="0">
              <a:buNone/>
            </a:pPr>
            <a:r>
              <a:rPr lang="en-US" sz="2800" b="1" dirty="0">
                <a:solidFill>
                  <a:srgbClr val="F5A63C"/>
                </a:solidFill>
                <a:latin typeface="Consolas" pitchFamily="34" charset="0"/>
                <a:ea typeface="Consolas" pitchFamily="34" charset="-122"/>
                <a:cs typeface="Consolas" pitchFamily="34" charset="-120"/>
              </a:rPr>
              <a:t>২৩</a:t>
            </a:r>
            <a:endParaRPr lang="en-US" sz="2800" dirty="0"/>
          </a:p>
        </p:txBody>
      </p:sp>
      <p:sp>
        <p:nvSpPr>
          <p:cNvPr id="19" name="Text 17"/>
          <p:cNvSpPr txBox="1"/>
          <p:nvPr/>
        </p:nvSpPr>
        <p:spPr>
          <a:xfrm>
            <a:off x="3310128" y="5440680"/>
            <a:ext cx="256032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ক্যাশড কোয়েরি</a:t>
            </a:r>
            <a:endParaRPr lang="en-US" sz="1000" dirty="0"/>
          </a:p>
        </p:txBody>
      </p:sp>
      <p:sp>
        <p:nvSpPr>
          <p:cNvPr id="20" name="Text 18"/>
          <p:cNvSpPr txBox="1"/>
          <p:nvPr/>
        </p:nvSpPr>
        <p:spPr>
          <a:xfrm>
            <a:off x="5961888" y="4937760"/>
            <a:ext cx="2560320" cy="502920"/>
          </a:xfrm>
          <a:prstGeom prst="rect">
            <a:avLst/>
          </a:prstGeom>
          <a:noFill/>
          <a:ln/>
        </p:spPr>
        <p:txBody>
          <a:bodyPr wrap="square" lIns="0" tIns="0" rIns="0" bIns="0" rtlCol="0" anchor="t"/>
          <a:lstStyle/>
          <a:p>
            <a:pPr indent="0" marL="0">
              <a:buNone/>
            </a:pPr>
            <a:r>
              <a:rPr lang="en-US" sz="2800" b="1" dirty="0">
                <a:solidFill>
                  <a:srgbClr val="7BD88F"/>
                </a:solidFill>
                <a:latin typeface="Consolas" pitchFamily="34" charset="0"/>
                <a:ea typeface="Consolas" pitchFamily="34" charset="-122"/>
                <a:cs typeface="Consolas" pitchFamily="34" charset="-120"/>
              </a:rPr>
              <a:t>০</a:t>
            </a:r>
            <a:endParaRPr lang="en-US" sz="2800" dirty="0"/>
          </a:p>
        </p:txBody>
      </p:sp>
      <p:sp>
        <p:nvSpPr>
          <p:cNvPr id="21" name="Text 19"/>
          <p:cNvSpPr txBox="1"/>
          <p:nvPr/>
        </p:nvSpPr>
        <p:spPr>
          <a:xfrm>
            <a:off x="5961888" y="5440680"/>
            <a:ext cx="256032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DB হিট — অথ চেকে</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02</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ম্যাপ</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Redis এখানে আটটা আলাদা কাজ করছে</a:t>
            </a:r>
            <a:endParaRPr lang="en-US" sz="2900" dirty="0"/>
          </a:p>
        </p:txBody>
      </p:sp>
      <p:sp>
        <p:nvSpPr>
          <p:cNvPr id="7" name="Shape 5"/>
          <p:cNvSpPr/>
          <p:nvPr/>
        </p:nvSpPr>
        <p:spPr>
          <a:xfrm>
            <a:off x="658368" y="1645920"/>
            <a:ext cx="2606040" cy="1664208"/>
          </a:xfrm>
          <a:prstGeom prst="roundRect">
            <a:avLst>
              <a:gd name="adj" fmla="val 3297"/>
            </a:avLst>
          </a:prstGeom>
          <a:solidFill>
            <a:srgbClr val="161B28"/>
          </a:solidFill>
          <a:ln w="12700">
            <a:solidFill>
              <a:srgbClr val="28303F"/>
            </a:solidFill>
            <a:prstDash val="solid"/>
          </a:ln>
        </p:spPr>
      </p:sp>
      <p:sp>
        <p:nvSpPr>
          <p:cNvPr id="8" name="Text 6"/>
          <p:cNvSpPr txBox="1"/>
          <p:nvPr/>
        </p:nvSpPr>
        <p:spPr>
          <a:xfrm>
            <a:off x="841248" y="1792224"/>
            <a:ext cx="2240280" cy="201168"/>
          </a:xfrm>
          <a:prstGeom prst="rect">
            <a:avLst/>
          </a:prstGeom>
          <a:noFill/>
          <a:ln/>
        </p:spPr>
        <p:txBody>
          <a:bodyPr wrap="square" lIns="0" tIns="0" rIns="0" bIns="0" rtlCol="0" anchor="ctr"/>
          <a:lstStyle/>
          <a:p>
            <a:pPr indent="0" marL="0">
              <a:buNone/>
            </a:pPr>
            <a:r>
              <a:rPr lang="en-US" sz="850" spc="140" kern="0" dirty="0">
                <a:solidFill>
                  <a:srgbClr val="3FC9C0"/>
                </a:solidFill>
                <a:latin typeface="Consolas" pitchFamily="34" charset="0"/>
                <a:ea typeface="Consolas" pitchFamily="34" charset="-122"/>
                <a:cs typeface="Consolas" pitchFamily="34" charset="-120"/>
              </a:rPr>
              <a:t>01 · CACHE</a:t>
            </a:r>
            <a:endParaRPr lang="en-US" sz="850" dirty="0"/>
          </a:p>
        </p:txBody>
      </p:sp>
      <p:sp>
        <p:nvSpPr>
          <p:cNvPr id="9" name="Text 7"/>
          <p:cNvSpPr txBox="1"/>
          <p:nvPr/>
        </p:nvSpPr>
        <p:spPr>
          <a:xfrm>
            <a:off x="841248" y="2029968"/>
            <a:ext cx="2240280" cy="365760"/>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ডাটাবেজ বাঁচানো</a:t>
            </a:r>
            <a:endParaRPr lang="en-US" sz="1300" dirty="0"/>
          </a:p>
        </p:txBody>
      </p:sp>
      <p:sp>
        <p:nvSpPr>
          <p:cNvPr id="10" name="Text 8"/>
          <p:cNvSpPr txBox="1"/>
          <p:nvPr/>
        </p:nvSpPr>
        <p:spPr>
          <a:xfrm>
            <a:off x="841248" y="2395728"/>
            <a:ext cx="2240280" cy="777240"/>
          </a:xfrm>
          <a:prstGeom prst="rect">
            <a:avLst/>
          </a:prstGeom>
          <a:noFill/>
          <a:ln/>
        </p:spPr>
        <p:txBody>
          <a:bodyPr wrap="square" lIns="0" tIns="0" rIns="0" bIns="0" rtlCol="0" anchor="t"/>
          <a:lstStyle/>
          <a:p>
            <a:pPr indent="0" marL="0">
              <a:buNone/>
            </a:pPr>
            <a:r>
              <a:rPr lang="en-US" sz="1000" dirty="0">
                <a:solidFill>
                  <a:srgbClr val="B4BCCE"/>
                </a:solidFill>
                <a:latin typeface="Nirmala UI" pitchFamily="34" charset="0"/>
                <a:ea typeface="Nirmala UI" pitchFamily="34" charset="-122"/>
                <a:cs typeface="Nirmala UI" pitchFamily="34" charset="-120"/>
              </a:rPr>
              <a:t>অথ, পারমিশন, কোর্স ক্যাটালগ, নোটিফিকেশন ফিড — ২৩টা কল সাইট</a:t>
            </a:r>
            <a:endParaRPr lang="en-US" sz="1000" dirty="0"/>
          </a:p>
        </p:txBody>
      </p:sp>
      <p:sp>
        <p:nvSpPr>
          <p:cNvPr id="11" name="Shape 9"/>
          <p:cNvSpPr/>
          <p:nvPr/>
        </p:nvSpPr>
        <p:spPr>
          <a:xfrm>
            <a:off x="3419856" y="1645920"/>
            <a:ext cx="2606040" cy="1664208"/>
          </a:xfrm>
          <a:prstGeom prst="roundRect">
            <a:avLst>
              <a:gd name="adj" fmla="val 3297"/>
            </a:avLst>
          </a:prstGeom>
          <a:solidFill>
            <a:srgbClr val="161B28"/>
          </a:solidFill>
          <a:ln w="12700">
            <a:solidFill>
              <a:srgbClr val="28303F"/>
            </a:solidFill>
            <a:prstDash val="solid"/>
          </a:ln>
        </p:spPr>
      </p:sp>
      <p:sp>
        <p:nvSpPr>
          <p:cNvPr id="12" name="Text 10"/>
          <p:cNvSpPr txBox="1"/>
          <p:nvPr/>
        </p:nvSpPr>
        <p:spPr>
          <a:xfrm>
            <a:off x="3602736" y="1792224"/>
            <a:ext cx="2240280" cy="201168"/>
          </a:xfrm>
          <a:prstGeom prst="rect">
            <a:avLst/>
          </a:prstGeom>
          <a:noFill/>
          <a:ln/>
        </p:spPr>
        <p:txBody>
          <a:bodyPr wrap="square" lIns="0" tIns="0" rIns="0" bIns="0" rtlCol="0" anchor="ctr"/>
          <a:lstStyle/>
          <a:p>
            <a:pPr indent="0" marL="0">
              <a:buNone/>
            </a:pPr>
            <a:r>
              <a:rPr lang="en-US" sz="850" spc="140" kern="0" dirty="0">
                <a:solidFill>
                  <a:srgbClr val="3FC9C0"/>
                </a:solidFill>
                <a:latin typeface="Consolas" pitchFamily="34" charset="0"/>
                <a:ea typeface="Consolas" pitchFamily="34" charset="-122"/>
                <a:cs typeface="Consolas" pitchFamily="34" charset="-120"/>
              </a:rPr>
              <a:t>02 · LOCK</a:t>
            </a:r>
            <a:endParaRPr lang="en-US" sz="850" dirty="0"/>
          </a:p>
        </p:txBody>
      </p:sp>
      <p:sp>
        <p:nvSpPr>
          <p:cNvPr id="13" name="Text 11"/>
          <p:cNvSpPr txBox="1"/>
          <p:nvPr/>
        </p:nvSpPr>
        <p:spPr>
          <a:xfrm>
            <a:off x="3602736" y="2029968"/>
            <a:ext cx="2240280" cy="365760"/>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একবারই যেন চলে</a:t>
            </a:r>
            <a:endParaRPr lang="en-US" sz="1300" dirty="0"/>
          </a:p>
        </p:txBody>
      </p:sp>
      <p:sp>
        <p:nvSpPr>
          <p:cNvPr id="14" name="Text 12"/>
          <p:cNvSpPr txBox="1"/>
          <p:nvPr/>
        </p:nvSpPr>
        <p:spPr>
          <a:xfrm>
            <a:off x="3602736" y="2395728"/>
            <a:ext cx="2240280" cy="777240"/>
          </a:xfrm>
          <a:prstGeom prst="rect">
            <a:avLst/>
          </a:prstGeom>
          <a:noFill/>
          <a:ln/>
        </p:spPr>
        <p:txBody>
          <a:bodyPr wrap="square" lIns="0" tIns="0" rIns="0" bIns="0" rtlCol="0" anchor="t"/>
          <a:lstStyle/>
          <a:p>
            <a:pPr indent="0" marL="0">
              <a:buNone/>
            </a:pPr>
            <a:r>
              <a:rPr lang="en-US" sz="1000" dirty="0">
                <a:solidFill>
                  <a:srgbClr val="B4BCCE"/>
                </a:solidFill>
                <a:latin typeface="Nirmala UI" pitchFamily="34" charset="0"/>
                <a:ea typeface="Nirmala UI" pitchFamily="34" charset="-122"/>
                <a:cs typeface="Nirmala UI" pitchFamily="34" charset="-120"/>
              </a:rPr>
              <a:t>SET NX + Lua রিলিজ। ক্যাশ ফিল, ক্যাম্পেইন, ডেস্কটপ লগইন</a:t>
            </a:r>
            <a:endParaRPr lang="en-US" sz="1000" dirty="0"/>
          </a:p>
        </p:txBody>
      </p:sp>
      <p:sp>
        <p:nvSpPr>
          <p:cNvPr id="15" name="Shape 13"/>
          <p:cNvSpPr/>
          <p:nvPr/>
        </p:nvSpPr>
        <p:spPr>
          <a:xfrm>
            <a:off x="6181344" y="1645920"/>
            <a:ext cx="2606040" cy="1664208"/>
          </a:xfrm>
          <a:prstGeom prst="roundRect">
            <a:avLst>
              <a:gd name="adj" fmla="val 3297"/>
            </a:avLst>
          </a:prstGeom>
          <a:solidFill>
            <a:srgbClr val="161B28"/>
          </a:solidFill>
          <a:ln w="12700">
            <a:solidFill>
              <a:srgbClr val="28303F"/>
            </a:solidFill>
            <a:prstDash val="solid"/>
          </a:ln>
        </p:spPr>
      </p:sp>
      <p:sp>
        <p:nvSpPr>
          <p:cNvPr id="16" name="Text 14"/>
          <p:cNvSpPr txBox="1"/>
          <p:nvPr/>
        </p:nvSpPr>
        <p:spPr>
          <a:xfrm>
            <a:off x="6364224" y="1792224"/>
            <a:ext cx="2240280" cy="201168"/>
          </a:xfrm>
          <a:prstGeom prst="rect">
            <a:avLst/>
          </a:prstGeom>
          <a:noFill/>
          <a:ln/>
        </p:spPr>
        <p:txBody>
          <a:bodyPr wrap="square" lIns="0" tIns="0" rIns="0" bIns="0" rtlCol="0" anchor="ctr"/>
          <a:lstStyle/>
          <a:p>
            <a:pPr indent="0" marL="0">
              <a:buNone/>
            </a:pPr>
            <a:r>
              <a:rPr lang="en-US" sz="850" spc="140" kern="0" dirty="0">
                <a:solidFill>
                  <a:srgbClr val="3FC9C0"/>
                </a:solidFill>
                <a:latin typeface="Consolas" pitchFamily="34" charset="0"/>
                <a:ea typeface="Consolas" pitchFamily="34" charset="-122"/>
                <a:cs typeface="Consolas" pitchFamily="34" charset="-120"/>
              </a:rPr>
              <a:t>03 · JOB QUEUE</a:t>
            </a:r>
            <a:endParaRPr lang="en-US" sz="850" dirty="0"/>
          </a:p>
        </p:txBody>
      </p:sp>
      <p:sp>
        <p:nvSpPr>
          <p:cNvPr id="17" name="Text 15"/>
          <p:cNvSpPr txBox="1"/>
          <p:nvPr/>
        </p:nvSpPr>
        <p:spPr>
          <a:xfrm>
            <a:off x="6364224" y="2029968"/>
            <a:ext cx="2240280" cy="365760"/>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BullMQ</a:t>
            </a:r>
            <a:endParaRPr lang="en-US" sz="1300" dirty="0"/>
          </a:p>
        </p:txBody>
      </p:sp>
      <p:sp>
        <p:nvSpPr>
          <p:cNvPr id="18" name="Text 16"/>
          <p:cNvSpPr txBox="1"/>
          <p:nvPr/>
        </p:nvSpPr>
        <p:spPr>
          <a:xfrm>
            <a:off x="6364224" y="2395728"/>
            <a:ext cx="2240280" cy="777240"/>
          </a:xfrm>
          <a:prstGeom prst="rect">
            <a:avLst/>
          </a:prstGeom>
          <a:noFill/>
          <a:ln/>
        </p:spPr>
        <p:txBody>
          <a:bodyPr wrap="square" lIns="0" tIns="0" rIns="0" bIns="0" rtlCol="0" anchor="t"/>
          <a:lstStyle/>
          <a:p>
            <a:pPr indent="0" marL="0">
              <a:buNone/>
            </a:pPr>
            <a:r>
              <a:rPr lang="en-US" sz="1000" dirty="0">
                <a:solidFill>
                  <a:srgbClr val="B4BCCE"/>
                </a:solidFill>
                <a:latin typeface="Nirmala UI" pitchFamily="34" charset="0"/>
                <a:ea typeface="Nirmala UI" pitchFamily="34" charset="-122"/>
                <a:cs typeface="Nirmala UI" pitchFamily="34" charset="-120"/>
              </a:rPr>
              <a:t>নোটিফিকেশন, ট্রানজেকশন সিঙ্ক — রিট্রাই আর backoff সহ</a:t>
            </a:r>
            <a:endParaRPr lang="en-US" sz="1000" dirty="0"/>
          </a:p>
        </p:txBody>
      </p:sp>
      <p:sp>
        <p:nvSpPr>
          <p:cNvPr id="19" name="Shape 17"/>
          <p:cNvSpPr/>
          <p:nvPr/>
        </p:nvSpPr>
        <p:spPr>
          <a:xfrm>
            <a:off x="8942832" y="1645920"/>
            <a:ext cx="2606040" cy="1664208"/>
          </a:xfrm>
          <a:prstGeom prst="roundRect">
            <a:avLst>
              <a:gd name="adj" fmla="val 3297"/>
            </a:avLst>
          </a:prstGeom>
          <a:solidFill>
            <a:srgbClr val="161B28"/>
          </a:solidFill>
          <a:ln w="12700">
            <a:solidFill>
              <a:srgbClr val="28303F"/>
            </a:solidFill>
            <a:prstDash val="solid"/>
          </a:ln>
        </p:spPr>
      </p:sp>
      <p:sp>
        <p:nvSpPr>
          <p:cNvPr id="20" name="Text 18"/>
          <p:cNvSpPr txBox="1"/>
          <p:nvPr/>
        </p:nvSpPr>
        <p:spPr>
          <a:xfrm>
            <a:off x="9125712" y="1792224"/>
            <a:ext cx="2240280" cy="201168"/>
          </a:xfrm>
          <a:prstGeom prst="rect">
            <a:avLst/>
          </a:prstGeom>
          <a:noFill/>
          <a:ln/>
        </p:spPr>
        <p:txBody>
          <a:bodyPr wrap="square" lIns="0" tIns="0" rIns="0" bIns="0" rtlCol="0" anchor="ctr"/>
          <a:lstStyle/>
          <a:p>
            <a:pPr indent="0" marL="0">
              <a:buNone/>
            </a:pPr>
            <a:r>
              <a:rPr lang="en-US" sz="850" spc="140" kern="0" dirty="0">
                <a:solidFill>
                  <a:srgbClr val="3FC9C0"/>
                </a:solidFill>
                <a:latin typeface="Consolas" pitchFamily="34" charset="0"/>
                <a:ea typeface="Consolas" pitchFamily="34" charset="-122"/>
                <a:cs typeface="Consolas" pitchFamily="34" charset="-120"/>
              </a:rPr>
              <a:t>04 · STREAM</a:t>
            </a:r>
            <a:endParaRPr lang="en-US" sz="850" dirty="0"/>
          </a:p>
        </p:txBody>
      </p:sp>
      <p:sp>
        <p:nvSpPr>
          <p:cNvPr id="21" name="Text 19"/>
          <p:cNvSpPr txBox="1"/>
          <p:nvPr/>
        </p:nvSpPr>
        <p:spPr>
          <a:xfrm>
            <a:off x="9125712" y="2029968"/>
            <a:ext cx="2240280" cy="365760"/>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চ্যাট পারসিস্ট</a:t>
            </a:r>
            <a:endParaRPr lang="en-US" sz="1300" dirty="0"/>
          </a:p>
        </p:txBody>
      </p:sp>
      <p:sp>
        <p:nvSpPr>
          <p:cNvPr id="22" name="Text 20"/>
          <p:cNvSpPr txBox="1"/>
          <p:nvPr/>
        </p:nvSpPr>
        <p:spPr>
          <a:xfrm>
            <a:off x="9125712" y="2395728"/>
            <a:ext cx="2240280" cy="777240"/>
          </a:xfrm>
          <a:prstGeom prst="rect">
            <a:avLst/>
          </a:prstGeom>
          <a:noFill/>
          <a:ln/>
        </p:spPr>
        <p:txBody>
          <a:bodyPr wrap="square" lIns="0" tIns="0" rIns="0" bIns="0" rtlCol="0" anchor="t"/>
          <a:lstStyle/>
          <a:p>
            <a:pPr indent="0" marL="0">
              <a:buNone/>
            </a:pPr>
            <a:r>
              <a:rPr lang="en-US" sz="1000" dirty="0">
                <a:solidFill>
                  <a:srgbClr val="B4BCCE"/>
                </a:solidFill>
                <a:latin typeface="Nirmala UI" pitchFamily="34" charset="0"/>
                <a:ea typeface="Nirmala UI" pitchFamily="34" charset="-122"/>
                <a:cs typeface="Nirmala UI" pitchFamily="34" charset="-120"/>
              </a:rPr>
              <a:t>XADD → consumer group → XACK, সাথে dead-letter</a:t>
            </a:r>
            <a:endParaRPr lang="en-US" sz="1000" dirty="0"/>
          </a:p>
        </p:txBody>
      </p:sp>
      <p:sp>
        <p:nvSpPr>
          <p:cNvPr id="23" name="Shape 21"/>
          <p:cNvSpPr/>
          <p:nvPr/>
        </p:nvSpPr>
        <p:spPr>
          <a:xfrm>
            <a:off x="658368" y="3474720"/>
            <a:ext cx="2606040" cy="1664208"/>
          </a:xfrm>
          <a:prstGeom prst="roundRect">
            <a:avLst>
              <a:gd name="adj" fmla="val 3297"/>
            </a:avLst>
          </a:prstGeom>
          <a:solidFill>
            <a:srgbClr val="161B28"/>
          </a:solidFill>
          <a:ln w="12700">
            <a:solidFill>
              <a:srgbClr val="28303F"/>
            </a:solidFill>
            <a:prstDash val="solid"/>
          </a:ln>
        </p:spPr>
      </p:sp>
      <p:sp>
        <p:nvSpPr>
          <p:cNvPr id="24" name="Text 22"/>
          <p:cNvSpPr txBox="1"/>
          <p:nvPr/>
        </p:nvSpPr>
        <p:spPr>
          <a:xfrm>
            <a:off x="841248" y="3621024"/>
            <a:ext cx="2240280" cy="201168"/>
          </a:xfrm>
          <a:prstGeom prst="rect">
            <a:avLst/>
          </a:prstGeom>
          <a:noFill/>
          <a:ln/>
        </p:spPr>
        <p:txBody>
          <a:bodyPr wrap="square" lIns="0" tIns="0" rIns="0" bIns="0" rtlCol="0" anchor="ctr"/>
          <a:lstStyle/>
          <a:p>
            <a:pPr indent="0" marL="0">
              <a:buNone/>
            </a:pPr>
            <a:r>
              <a:rPr lang="en-US" sz="850" spc="140" kern="0" dirty="0">
                <a:solidFill>
                  <a:srgbClr val="3FC9C0"/>
                </a:solidFill>
                <a:latin typeface="Consolas" pitchFamily="34" charset="0"/>
                <a:ea typeface="Consolas" pitchFamily="34" charset="-122"/>
                <a:cs typeface="Consolas" pitchFamily="34" charset="-120"/>
              </a:rPr>
              <a:t>05 · PUB/SUB</a:t>
            </a:r>
            <a:endParaRPr lang="en-US" sz="850" dirty="0"/>
          </a:p>
        </p:txBody>
      </p:sp>
      <p:sp>
        <p:nvSpPr>
          <p:cNvPr id="25" name="Text 23"/>
          <p:cNvSpPr txBox="1"/>
          <p:nvPr/>
        </p:nvSpPr>
        <p:spPr>
          <a:xfrm>
            <a:off x="841248" y="3858768"/>
            <a:ext cx="2240280" cy="365760"/>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Socket.IO adapter</a:t>
            </a:r>
            <a:endParaRPr lang="en-US" sz="1300" dirty="0"/>
          </a:p>
        </p:txBody>
      </p:sp>
      <p:sp>
        <p:nvSpPr>
          <p:cNvPr id="26" name="Text 24"/>
          <p:cNvSpPr txBox="1"/>
          <p:nvPr/>
        </p:nvSpPr>
        <p:spPr>
          <a:xfrm>
            <a:off x="841248" y="4224528"/>
            <a:ext cx="2240280" cy="777240"/>
          </a:xfrm>
          <a:prstGeom prst="rect">
            <a:avLst/>
          </a:prstGeom>
          <a:noFill/>
          <a:ln/>
        </p:spPr>
        <p:txBody>
          <a:bodyPr wrap="square" lIns="0" tIns="0" rIns="0" bIns="0" rtlCol="0" anchor="t"/>
          <a:lstStyle/>
          <a:p>
            <a:pPr indent="0" marL="0">
              <a:buNone/>
            </a:pPr>
            <a:r>
              <a:rPr lang="en-US" sz="1000" dirty="0">
                <a:solidFill>
                  <a:srgbClr val="B4BCCE"/>
                </a:solidFill>
                <a:latin typeface="Nirmala UI" pitchFamily="34" charset="0"/>
                <a:ea typeface="Nirmala UI" pitchFamily="34" charset="-122"/>
                <a:cs typeface="Nirmala UI" pitchFamily="34" charset="-120"/>
              </a:rPr>
              <a:t>৬টা PM2 ইনস্ট্যান্স একটাই রুম শেয়ার করে</a:t>
            </a:r>
            <a:endParaRPr lang="en-US" sz="1000" dirty="0"/>
          </a:p>
        </p:txBody>
      </p:sp>
      <p:sp>
        <p:nvSpPr>
          <p:cNvPr id="27" name="Shape 25"/>
          <p:cNvSpPr/>
          <p:nvPr/>
        </p:nvSpPr>
        <p:spPr>
          <a:xfrm>
            <a:off x="3419856" y="3474720"/>
            <a:ext cx="2606040" cy="1664208"/>
          </a:xfrm>
          <a:prstGeom prst="roundRect">
            <a:avLst>
              <a:gd name="adj" fmla="val 3297"/>
            </a:avLst>
          </a:prstGeom>
          <a:solidFill>
            <a:srgbClr val="161B28"/>
          </a:solidFill>
          <a:ln w="12700">
            <a:solidFill>
              <a:srgbClr val="28303F"/>
            </a:solidFill>
            <a:prstDash val="solid"/>
          </a:ln>
        </p:spPr>
      </p:sp>
      <p:sp>
        <p:nvSpPr>
          <p:cNvPr id="28" name="Text 26"/>
          <p:cNvSpPr txBox="1"/>
          <p:nvPr/>
        </p:nvSpPr>
        <p:spPr>
          <a:xfrm>
            <a:off x="3602736" y="3621024"/>
            <a:ext cx="2240280" cy="201168"/>
          </a:xfrm>
          <a:prstGeom prst="rect">
            <a:avLst/>
          </a:prstGeom>
          <a:noFill/>
          <a:ln/>
        </p:spPr>
        <p:txBody>
          <a:bodyPr wrap="square" lIns="0" tIns="0" rIns="0" bIns="0" rtlCol="0" anchor="ctr"/>
          <a:lstStyle/>
          <a:p>
            <a:pPr indent="0" marL="0">
              <a:buNone/>
            </a:pPr>
            <a:r>
              <a:rPr lang="en-US" sz="850" spc="140" kern="0" dirty="0">
                <a:solidFill>
                  <a:srgbClr val="3FC9C0"/>
                </a:solidFill>
                <a:latin typeface="Consolas" pitchFamily="34" charset="0"/>
                <a:ea typeface="Consolas" pitchFamily="34" charset="-122"/>
                <a:cs typeface="Consolas" pitchFamily="34" charset="-120"/>
              </a:rPr>
              <a:t>06 · RATE LIMIT</a:t>
            </a:r>
            <a:endParaRPr lang="en-US" sz="850" dirty="0"/>
          </a:p>
        </p:txBody>
      </p:sp>
      <p:sp>
        <p:nvSpPr>
          <p:cNvPr id="29" name="Text 27"/>
          <p:cNvSpPr txBox="1"/>
          <p:nvPr/>
        </p:nvSpPr>
        <p:spPr>
          <a:xfrm>
            <a:off x="3602736" y="3858768"/>
            <a:ext cx="2240280" cy="365760"/>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শেয়ার্ড কাউন্টার</a:t>
            </a:r>
            <a:endParaRPr lang="en-US" sz="1300" dirty="0"/>
          </a:p>
        </p:txBody>
      </p:sp>
      <p:sp>
        <p:nvSpPr>
          <p:cNvPr id="30" name="Text 28"/>
          <p:cNvSpPr txBox="1"/>
          <p:nvPr/>
        </p:nvSpPr>
        <p:spPr>
          <a:xfrm>
            <a:off x="3602736" y="4224528"/>
            <a:ext cx="2240280" cy="777240"/>
          </a:xfrm>
          <a:prstGeom prst="rect">
            <a:avLst/>
          </a:prstGeom>
          <a:noFill/>
          <a:ln/>
        </p:spPr>
        <p:txBody>
          <a:bodyPr wrap="square" lIns="0" tIns="0" rIns="0" bIns="0" rtlCol="0" anchor="t"/>
          <a:lstStyle/>
          <a:p>
            <a:pPr indent="0" marL="0">
              <a:buNone/>
            </a:pPr>
            <a:r>
              <a:rPr lang="en-US" sz="1000" dirty="0">
                <a:solidFill>
                  <a:srgbClr val="B4BCCE"/>
                </a:solidFill>
                <a:latin typeface="Nirmala UI" pitchFamily="34" charset="0"/>
                <a:ea typeface="Nirmala UI" pitchFamily="34" charset="-122"/>
                <a:cs typeface="Nirmala UI" pitchFamily="34" charset="-120"/>
              </a:rPr>
              <a:t>১২টা লিমিটার, IP আর আইডেন্টিটি দুই স্তরে</a:t>
            </a:r>
            <a:endParaRPr lang="en-US" sz="1000" dirty="0"/>
          </a:p>
        </p:txBody>
      </p:sp>
      <p:sp>
        <p:nvSpPr>
          <p:cNvPr id="31" name="Shape 29"/>
          <p:cNvSpPr/>
          <p:nvPr/>
        </p:nvSpPr>
        <p:spPr>
          <a:xfrm>
            <a:off x="6181344" y="3474720"/>
            <a:ext cx="2606040" cy="1664208"/>
          </a:xfrm>
          <a:prstGeom prst="roundRect">
            <a:avLst>
              <a:gd name="adj" fmla="val 3297"/>
            </a:avLst>
          </a:prstGeom>
          <a:solidFill>
            <a:srgbClr val="161B28"/>
          </a:solidFill>
          <a:ln w="12700">
            <a:solidFill>
              <a:srgbClr val="28303F"/>
            </a:solidFill>
            <a:prstDash val="solid"/>
          </a:ln>
        </p:spPr>
      </p:sp>
      <p:sp>
        <p:nvSpPr>
          <p:cNvPr id="32" name="Text 30"/>
          <p:cNvSpPr txBox="1"/>
          <p:nvPr/>
        </p:nvSpPr>
        <p:spPr>
          <a:xfrm>
            <a:off x="6364224" y="3621024"/>
            <a:ext cx="2240280" cy="201168"/>
          </a:xfrm>
          <a:prstGeom prst="rect">
            <a:avLst/>
          </a:prstGeom>
          <a:noFill/>
          <a:ln/>
        </p:spPr>
        <p:txBody>
          <a:bodyPr wrap="square" lIns="0" tIns="0" rIns="0" bIns="0" rtlCol="0" anchor="ctr"/>
          <a:lstStyle/>
          <a:p>
            <a:pPr indent="0" marL="0">
              <a:buNone/>
            </a:pPr>
            <a:r>
              <a:rPr lang="en-US" sz="850" spc="140" kern="0" dirty="0">
                <a:solidFill>
                  <a:srgbClr val="3FC9C0"/>
                </a:solidFill>
                <a:latin typeface="Consolas" pitchFamily="34" charset="0"/>
                <a:ea typeface="Consolas" pitchFamily="34" charset="-122"/>
                <a:cs typeface="Consolas" pitchFamily="34" charset="-120"/>
              </a:rPr>
              <a:t>07 · PRESENCE</a:t>
            </a:r>
            <a:endParaRPr lang="en-US" sz="850" dirty="0"/>
          </a:p>
        </p:txBody>
      </p:sp>
      <p:sp>
        <p:nvSpPr>
          <p:cNvPr id="33" name="Text 31"/>
          <p:cNvSpPr txBox="1"/>
          <p:nvPr/>
        </p:nvSpPr>
        <p:spPr>
          <a:xfrm>
            <a:off x="6364224" y="3858768"/>
            <a:ext cx="2240280" cy="365760"/>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কে অনলাইন</a:t>
            </a:r>
            <a:endParaRPr lang="en-US" sz="1300" dirty="0"/>
          </a:p>
        </p:txBody>
      </p:sp>
      <p:sp>
        <p:nvSpPr>
          <p:cNvPr id="34" name="Text 32"/>
          <p:cNvSpPr txBox="1"/>
          <p:nvPr/>
        </p:nvSpPr>
        <p:spPr>
          <a:xfrm>
            <a:off x="6364224" y="4224528"/>
            <a:ext cx="2240280" cy="777240"/>
          </a:xfrm>
          <a:prstGeom prst="rect">
            <a:avLst/>
          </a:prstGeom>
          <a:noFill/>
          <a:ln/>
        </p:spPr>
        <p:txBody>
          <a:bodyPr wrap="square" lIns="0" tIns="0" rIns="0" bIns="0" rtlCol="0" anchor="t"/>
          <a:lstStyle/>
          <a:p>
            <a:pPr indent="0" marL="0">
              <a:buNone/>
            </a:pPr>
            <a:r>
              <a:rPr lang="en-US" sz="1000" dirty="0">
                <a:solidFill>
                  <a:srgbClr val="B4BCCE"/>
                </a:solidFill>
                <a:latin typeface="Nirmala UI" pitchFamily="34" charset="0"/>
                <a:ea typeface="Nirmala UI" pitchFamily="34" charset="-122"/>
                <a:cs typeface="Nirmala UI" pitchFamily="34" charset="-120"/>
              </a:rPr>
              <a:t>ZSET + HyperLogLog — ছোট রুমে exact, বড় রুমে approximate</a:t>
            </a:r>
            <a:endParaRPr lang="en-US" sz="1000" dirty="0"/>
          </a:p>
        </p:txBody>
      </p:sp>
      <p:sp>
        <p:nvSpPr>
          <p:cNvPr id="35" name="Shape 33"/>
          <p:cNvSpPr/>
          <p:nvPr/>
        </p:nvSpPr>
        <p:spPr>
          <a:xfrm>
            <a:off x="8942832" y="3474720"/>
            <a:ext cx="2606040" cy="1664208"/>
          </a:xfrm>
          <a:prstGeom prst="roundRect">
            <a:avLst>
              <a:gd name="adj" fmla="val 3297"/>
            </a:avLst>
          </a:prstGeom>
          <a:solidFill>
            <a:srgbClr val="161B28"/>
          </a:solidFill>
          <a:ln w="12700">
            <a:solidFill>
              <a:srgbClr val="28303F"/>
            </a:solidFill>
            <a:prstDash val="solid"/>
          </a:ln>
        </p:spPr>
      </p:sp>
      <p:sp>
        <p:nvSpPr>
          <p:cNvPr id="36" name="Text 34"/>
          <p:cNvSpPr txBox="1"/>
          <p:nvPr/>
        </p:nvSpPr>
        <p:spPr>
          <a:xfrm>
            <a:off x="9125712" y="3621024"/>
            <a:ext cx="2240280" cy="201168"/>
          </a:xfrm>
          <a:prstGeom prst="rect">
            <a:avLst/>
          </a:prstGeom>
          <a:noFill/>
          <a:ln/>
        </p:spPr>
        <p:txBody>
          <a:bodyPr wrap="square" lIns="0" tIns="0" rIns="0" bIns="0" rtlCol="0" anchor="ctr"/>
          <a:lstStyle/>
          <a:p>
            <a:pPr indent="0" marL="0">
              <a:buNone/>
            </a:pPr>
            <a:r>
              <a:rPr lang="en-US" sz="850" spc="140" kern="0" dirty="0">
                <a:solidFill>
                  <a:srgbClr val="3FC9C0"/>
                </a:solidFill>
                <a:latin typeface="Consolas" pitchFamily="34" charset="0"/>
                <a:ea typeface="Consolas" pitchFamily="34" charset="-122"/>
                <a:cs typeface="Consolas" pitchFamily="34" charset="-120"/>
              </a:rPr>
              <a:t>08 · TEMP STATE</a:t>
            </a:r>
            <a:endParaRPr lang="en-US" sz="850" dirty="0"/>
          </a:p>
        </p:txBody>
      </p:sp>
      <p:sp>
        <p:nvSpPr>
          <p:cNvPr id="37" name="Text 35"/>
          <p:cNvSpPr txBox="1"/>
          <p:nvPr/>
        </p:nvSpPr>
        <p:spPr>
          <a:xfrm>
            <a:off x="9125712" y="3858768"/>
            <a:ext cx="2240280" cy="365760"/>
          </a:xfrm>
          <a:prstGeom prst="rect">
            <a:avLst/>
          </a:prstGeom>
          <a:noFill/>
          <a:ln/>
        </p:spPr>
        <p:txBody>
          <a:bodyPr wrap="square" lIns="0" tIns="0" rIns="0" bIns="0" rtlCol="0" anchor="t"/>
          <a:lstStyle/>
          <a:p>
            <a:pPr indent="0" marL="0">
              <a:buNone/>
            </a:pPr>
            <a:r>
              <a:rPr lang="en-US" sz="1300" b="1" dirty="0">
                <a:solidFill>
                  <a:srgbClr val="E9EDF6"/>
                </a:solidFill>
                <a:latin typeface="Nirmala UI" pitchFamily="34" charset="0"/>
                <a:ea typeface="Nirmala UI" pitchFamily="34" charset="-122"/>
                <a:cs typeface="Nirmala UI" pitchFamily="34" charset="-120"/>
              </a:rPr>
              <a:t>অস্থায়ী স্টেট</a:t>
            </a:r>
            <a:endParaRPr lang="en-US" sz="1300" dirty="0"/>
          </a:p>
        </p:txBody>
      </p:sp>
      <p:sp>
        <p:nvSpPr>
          <p:cNvPr id="38" name="Text 36"/>
          <p:cNvSpPr txBox="1"/>
          <p:nvPr/>
        </p:nvSpPr>
        <p:spPr>
          <a:xfrm>
            <a:off x="9125712" y="4224528"/>
            <a:ext cx="2240280" cy="777240"/>
          </a:xfrm>
          <a:prstGeom prst="rect">
            <a:avLst/>
          </a:prstGeom>
          <a:noFill/>
          <a:ln/>
        </p:spPr>
        <p:txBody>
          <a:bodyPr wrap="square" lIns="0" tIns="0" rIns="0" bIns="0" rtlCol="0" anchor="t"/>
          <a:lstStyle/>
          <a:p>
            <a:pPr indent="0" marL="0">
              <a:buNone/>
            </a:pPr>
            <a:r>
              <a:rPr lang="en-US" sz="1000" dirty="0">
                <a:solidFill>
                  <a:srgbClr val="B4BCCE"/>
                </a:solidFill>
                <a:latin typeface="Nirmala UI" pitchFamily="34" charset="0"/>
                <a:ea typeface="Nirmala UI" pitchFamily="34" charset="-122"/>
                <a:cs typeface="Nirmala UI" pitchFamily="34" charset="-120"/>
              </a:rPr>
              <a:t>ডেস্কটপ লগইন হ্যান্ডশেক — TTL শেষে নিজেই মুছে যায়</a:t>
            </a:r>
            <a:endParaRPr lang="en-US" sz="1000" dirty="0"/>
          </a:p>
        </p:txBody>
      </p:sp>
      <p:sp>
        <p:nvSpPr>
          <p:cNvPr id="39" name="Text 37"/>
          <p:cNvSpPr txBox="1"/>
          <p:nvPr/>
        </p:nvSpPr>
        <p:spPr>
          <a:xfrm>
            <a:off x="658368" y="5486400"/>
            <a:ext cx="10874959" cy="548640"/>
          </a:xfrm>
          <a:prstGeom prst="rect">
            <a:avLst/>
          </a:prstGeom>
          <a:noFill/>
          <a:ln/>
        </p:spPr>
        <p:txBody>
          <a:bodyPr wrap="square" lIns="0" tIns="0" rIns="0" bIns="0" rtlCol="0" anchor="t"/>
          <a:lstStyle/>
          <a:p>
            <a:pPr indent="0" marL="0">
              <a:buNone/>
            </a:pPr>
            <a:r>
              <a:rPr lang="en-US" sz="1200" dirty="0">
                <a:solidFill>
                  <a:srgbClr val="B4BCCE"/>
                </a:solidFill>
                <a:latin typeface="Nirmala UI" pitchFamily="34" charset="0"/>
                <a:ea typeface="Nirmala UI" pitchFamily="34" charset="-122"/>
                <a:cs typeface="Nirmala UI" pitchFamily="34" charset="-120"/>
              </a:rPr>
              <a:t>এই আটটার মধ্যে শুধু প্রথমটাই "ক্যাশ"। বাকি সাতটা Redis-কে ব্যবহার করছে এমন কাজে যেগুলো PostgreSQL দিয়ে করলে হয় ধীর হতো, নয়তো একেবারেই সম্ভব হতো না।</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03</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ভিত্তি</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একটা নয়, চারটা আলাদা কানেকশন</a:t>
            </a:r>
            <a:endParaRPr lang="en-US" sz="2900" dirty="0"/>
          </a:p>
        </p:txBody>
      </p:sp>
      <p:sp>
        <p:nvSpPr>
          <p:cNvPr id="7" name="Shape 5"/>
          <p:cNvSpPr/>
          <p:nvPr/>
        </p:nvSpPr>
        <p:spPr>
          <a:xfrm>
            <a:off x="658368" y="1737360"/>
            <a:ext cx="6035040" cy="786384"/>
          </a:xfrm>
          <a:prstGeom prst="roundRect">
            <a:avLst>
              <a:gd name="adj" fmla="val 6977"/>
            </a:avLst>
          </a:prstGeom>
          <a:solidFill>
            <a:srgbClr val="161B28"/>
          </a:solidFill>
          <a:ln w="12700">
            <a:solidFill>
              <a:srgbClr val="28303F"/>
            </a:solidFill>
            <a:prstDash val="solid"/>
          </a:ln>
        </p:spPr>
      </p:sp>
      <p:sp>
        <p:nvSpPr>
          <p:cNvPr id="8" name="Text 6"/>
          <p:cNvSpPr txBox="1"/>
          <p:nvPr/>
        </p:nvSpPr>
        <p:spPr>
          <a:xfrm>
            <a:off x="841248" y="1828800"/>
            <a:ext cx="2286000" cy="603504"/>
          </a:xfrm>
          <a:prstGeom prst="rect">
            <a:avLst/>
          </a:prstGeom>
          <a:noFill/>
          <a:ln/>
        </p:spPr>
        <p:txBody>
          <a:bodyPr wrap="square" lIns="0" tIns="0" rIns="0" bIns="0" rtlCol="0" anchor="ctr"/>
          <a:lstStyle/>
          <a:p>
            <a:pPr indent="0" marL="0">
              <a:buNone/>
            </a:pPr>
            <a:r>
              <a:rPr lang="en-US" sz="1050" dirty="0">
                <a:solidFill>
                  <a:srgbClr val="3FC9C0"/>
                </a:solidFill>
                <a:latin typeface="Consolas" pitchFamily="34" charset="0"/>
                <a:ea typeface="Consolas" pitchFamily="34" charset="-122"/>
                <a:cs typeface="Consolas" pitchFamily="34" charset="-120"/>
              </a:rPr>
              <a:t>redisConnection</a:t>
            </a:r>
            <a:endParaRPr lang="en-US" sz="1050" dirty="0"/>
          </a:p>
        </p:txBody>
      </p:sp>
      <p:sp>
        <p:nvSpPr>
          <p:cNvPr id="9" name="Text 7"/>
          <p:cNvSpPr txBox="1"/>
          <p:nvPr/>
        </p:nvSpPr>
        <p:spPr>
          <a:xfrm>
            <a:off x="3355848" y="1810512"/>
            <a:ext cx="3108960" cy="640080"/>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BullMQ, স্ট্রিম, প্রেজেন্স, রেট লিমিট — ব্লকিং কমান্ড চলে</a:t>
            </a:r>
            <a:endParaRPr lang="en-US" sz="1050" dirty="0"/>
          </a:p>
        </p:txBody>
      </p:sp>
      <p:sp>
        <p:nvSpPr>
          <p:cNvPr id="10" name="Shape 8"/>
          <p:cNvSpPr/>
          <p:nvPr/>
        </p:nvSpPr>
        <p:spPr>
          <a:xfrm>
            <a:off x="658368" y="2670048"/>
            <a:ext cx="6035040" cy="786384"/>
          </a:xfrm>
          <a:prstGeom prst="roundRect">
            <a:avLst>
              <a:gd name="adj" fmla="val 6977"/>
            </a:avLst>
          </a:prstGeom>
          <a:solidFill>
            <a:srgbClr val="161B28"/>
          </a:solidFill>
          <a:ln w="12700">
            <a:solidFill>
              <a:srgbClr val="28303F"/>
            </a:solidFill>
            <a:prstDash val="solid"/>
          </a:ln>
        </p:spPr>
      </p:sp>
      <p:sp>
        <p:nvSpPr>
          <p:cNvPr id="11" name="Text 9"/>
          <p:cNvSpPr txBox="1"/>
          <p:nvPr/>
        </p:nvSpPr>
        <p:spPr>
          <a:xfrm>
            <a:off x="841248" y="2761488"/>
            <a:ext cx="2286000" cy="603504"/>
          </a:xfrm>
          <a:prstGeom prst="rect">
            <a:avLst/>
          </a:prstGeom>
          <a:noFill/>
          <a:ln/>
        </p:spPr>
        <p:txBody>
          <a:bodyPr wrap="square" lIns="0" tIns="0" rIns="0" bIns="0" rtlCol="0" anchor="ctr"/>
          <a:lstStyle/>
          <a:p>
            <a:pPr indent="0" marL="0">
              <a:buNone/>
            </a:pPr>
            <a:r>
              <a:rPr lang="en-US" sz="1050" dirty="0">
                <a:solidFill>
                  <a:srgbClr val="3FC9C0"/>
                </a:solidFill>
                <a:latin typeface="Consolas" pitchFamily="34" charset="0"/>
                <a:ea typeface="Consolas" pitchFamily="34" charset="-122"/>
                <a:cs typeface="Consolas" pitchFamily="34" charset="-120"/>
              </a:rPr>
              <a:t>redisPubClient</a:t>
            </a:r>
            <a:endParaRPr lang="en-US" sz="1050" dirty="0"/>
          </a:p>
        </p:txBody>
      </p:sp>
      <p:sp>
        <p:nvSpPr>
          <p:cNvPr id="12" name="Text 10"/>
          <p:cNvSpPr txBox="1"/>
          <p:nvPr/>
        </p:nvSpPr>
        <p:spPr>
          <a:xfrm>
            <a:off x="3355848" y="2743200"/>
            <a:ext cx="3108960" cy="640080"/>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Socket.IO adapter — শুধু publish</a:t>
            </a:r>
            <a:endParaRPr lang="en-US" sz="1050" dirty="0"/>
          </a:p>
        </p:txBody>
      </p:sp>
      <p:sp>
        <p:nvSpPr>
          <p:cNvPr id="13" name="Shape 11"/>
          <p:cNvSpPr/>
          <p:nvPr/>
        </p:nvSpPr>
        <p:spPr>
          <a:xfrm>
            <a:off x="658368" y="3602736"/>
            <a:ext cx="6035040" cy="786384"/>
          </a:xfrm>
          <a:prstGeom prst="roundRect">
            <a:avLst>
              <a:gd name="adj" fmla="val 6977"/>
            </a:avLst>
          </a:prstGeom>
          <a:solidFill>
            <a:srgbClr val="161B28"/>
          </a:solidFill>
          <a:ln w="12700">
            <a:solidFill>
              <a:srgbClr val="28303F"/>
            </a:solidFill>
            <a:prstDash val="solid"/>
          </a:ln>
        </p:spPr>
      </p:sp>
      <p:sp>
        <p:nvSpPr>
          <p:cNvPr id="14" name="Text 12"/>
          <p:cNvSpPr txBox="1"/>
          <p:nvPr/>
        </p:nvSpPr>
        <p:spPr>
          <a:xfrm>
            <a:off x="841248" y="3694176"/>
            <a:ext cx="2286000" cy="603504"/>
          </a:xfrm>
          <a:prstGeom prst="rect">
            <a:avLst/>
          </a:prstGeom>
          <a:noFill/>
          <a:ln/>
        </p:spPr>
        <p:txBody>
          <a:bodyPr wrap="square" lIns="0" tIns="0" rIns="0" bIns="0" rtlCol="0" anchor="ctr"/>
          <a:lstStyle/>
          <a:p>
            <a:pPr indent="0" marL="0">
              <a:buNone/>
            </a:pPr>
            <a:r>
              <a:rPr lang="en-US" sz="1050" dirty="0">
                <a:solidFill>
                  <a:srgbClr val="3FC9C0"/>
                </a:solidFill>
                <a:latin typeface="Consolas" pitchFamily="34" charset="0"/>
                <a:ea typeface="Consolas" pitchFamily="34" charset="-122"/>
                <a:cs typeface="Consolas" pitchFamily="34" charset="-120"/>
              </a:rPr>
              <a:t>redisSubClient</a:t>
            </a:r>
            <a:endParaRPr lang="en-US" sz="1050" dirty="0"/>
          </a:p>
        </p:txBody>
      </p:sp>
      <p:sp>
        <p:nvSpPr>
          <p:cNvPr id="15" name="Text 13"/>
          <p:cNvSpPr txBox="1"/>
          <p:nvPr/>
        </p:nvSpPr>
        <p:spPr>
          <a:xfrm>
            <a:off x="3355848" y="3675888"/>
            <a:ext cx="3108960" cy="640080"/>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Socket.IO adapter — subscribe মোডে আটকে থাকে</a:t>
            </a:r>
            <a:endParaRPr lang="en-US" sz="1050" dirty="0"/>
          </a:p>
        </p:txBody>
      </p:sp>
      <p:sp>
        <p:nvSpPr>
          <p:cNvPr id="16" name="Shape 14"/>
          <p:cNvSpPr/>
          <p:nvPr/>
        </p:nvSpPr>
        <p:spPr>
          <a:xfrm>
            <a:off x="658368" y="4535424"/>
            <a:ext cx="6035040" cy="786384"/>
          </a:xfrm>
          <a:prstGeom prst="roundRect">
            <a:avLst>
              <a:gd name="adj" fmla="val 6977"/>
            </a:avLst>
          </a:prstGeom>
          <a:solidFill>
            <a:srgbClr val="161B28"/>
          </a:solidFill>
          <a:ln w="12700">
            <a:solidFill>
              <a:srgbClr val="2E6B44"/>
            </a:solidFill>
            <a:prstDash val="solid"/>
          </a:ln>
        </p:spPr>
      </p:sp>
      <p:sp>
        <p:nvSpPr>
          <p:cNvPr id="17" name="Text 15"/>
          <p:cNvSpPr txBox="1"/>
          <p:nvPr/>
        </p:nvSpPr>
        <p:spPr>
          <a:xfrm>
            <a:off x="841248" y="4626864"/>
            <a:ext cx="2286000" cy="603504"/>
          </a:xfrm>
          <a:prstGeom prst="rect">
            <a:avLst/>
          </a:prstGeom>
          <a:noFill/>
          <a:ln/>
        </p:spPr>
        <p:txBody>
          <a:bodyPr wrap="square" lIns="0" tIns="0" rIns="0" bIns="0" rtlCol="0" anchor="ctr"/>
          <a:lstStyle/>
          <a:p>
            <a:pPr indent="0" marL="0">
              <a:buNone/>
            </a:pPr>
            <a:r>
              <a:rPr lang="en-US" sz="1050" dirty="0">
                <a:solidFill>
                  <a:srgbClr val="7BD88F"/>
                </a:solidFill>
                <a:latin typeface="Consolas" pitchFamily="34" charset="0"/>
                <a:ea typeface="Consolas" pitchFamily="34" charset="-122"/>
                <a:cs typeface="Consolas" pitchFamily="34" charset="-120"/>
              </a:rPr>
              <a:t>redisCacheConnection</a:t>
            </a:r>
            <a:endParaRPr lang="en-US" sz="1050" dirty="0"/>
          </a:p>
        </p:txBody>
      </p:sp>
      <p:sp>
        <p:nvSpPr>
          <p:cNvPr id="18" name="Text 16"/>
          <p:cNvSpPr txBox="1"/>
          <p:nvPr/>
        </p:nvSpPr>
        <p:spPr>
          <a:xfrm>
            <a:off x="3355848" y="4608576"/>
            <a:ext cx="3108960" cy="640080"/>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শুধু ক্যাশ — commandTimeout ১৫০০ms, maxRetries ১</a:t>
            </a:r>
            <a:endParaRPr lang="en-US" sz="1050" dirty="0"/>
          </a:p>
        </p:txBody>
      </p:sp>
      <p:sp>
        <p:nvSpPr>
          <p:cNvPr id="19" name="Text 17"/>
          <p:cNvSpPr txBox="1"/>
          <p:nvPr/>
        </p:nvSpPr>
        <p:spPr>
          <a:xfrm>
            <a:off x="7040880" y="1783080"/>
            <a:ext cx="4480560" cy="384048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Sub ক্লায়েন্ট আলাদা কেন — subscribe মোডে থাকা কানেকশনে Redis অন্য কোনো কমান্ডই নেয়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ক্যাশ ক্লায়েন্ট আলাদা কেন — এটাই সবচেয়ে গুরুত্বপূর্ণ সিদ্ধান্ত। ক্যাশ রিড ১.৫ সেকেন্ডে উত্তর না দিলে হাল ছেড়ে দেয়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ফল — Redis ধীর হলে রিকোয়েস্ট ঝুলে থাকে না, সরাসরি DB থেকে পড়ে চলে যায়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lazyConnect — বুটের সময় connectRedis() সবগুলো একসাথে ধরায়</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04</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ক্যাশ ইঞ্জিন ১/৩</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ভ্যালু না, একটা খাম জমা রাখি</a:t>
            </a:r>
            <a:endParaRPr lang="en-US" sz="2900" dirty="0"/>
          </a:p>
        </p:txBody>
      </p:sp>
      <p:sp>
        <p:nvSpPr>
          <p:cNvPr id="7" name="Shape 5"/>
          <p:cNvSpPr/>
          <p:nvPr/>
        </p:nvSpPr>
        <p:spPr>
          <a:xfrm>
            <a:off x="658368" y="1737360"/>
            <a:ext cx="5577840" cy="2377440"/>
          </a:xfrm>
          <a:prstGeom prst="roundRect">
            <a:avLst>
              <a:gd name="adj" fmla="val 2308"/>
            </a:avLst>
          </a:prstGeom>
          <a:solidFill>
            <a:srgbClr val="090C13"/>
          </a:solidFill>
          <a:ln w="12700">
            <a:solidFill>
              <a:srgbClr val="28303F"/>
            </a:solidFill>
            <a:prstDash val="solid"/>
          </a:ln>
        </p:spPr>
      </p:sp>
      <p:sp>
        <p:nvSpPr>
          <p:cNvPr id="8" name="Shape 6"/>
          <p:cNvSpPr/>
          <p:nvPr/>
        </p:nvSpPr>
        <p:spPr>
          <a:xfrm>
            <a:off x="658368" y="1792224"/>
            <a:ext cx="32004" cy="2267712"/>
          </a:xfrm>
          <a:prstGeom prst="rect">
            <a:avLst/>
          </a:prstGeom>
          <a:solidFill>
            <a:srgbClr val="3FC9C0"/>
          </a:solidFill>
          <a:ln/>
        </p:spPr>
      </p:sp>
      <p:sp>
        <p:nvSpPr>
          <p:cNvPr id="9" name="Text 7"/>
          <p:cNvSpPr txBox="1"/>
          <p:nvPr/>
        </p:nvSpPr>
        <p:spPr>
          <a:xfrm>
            <a:off x="859536" y="1883664"/>
            <a:ext cx="5212080" cy="2084832"/>
          </a:xfrm>
          <a:prstGeom prst="rect">
            <a:avLst/>
          </a:prstGeom>
          <a:noFill/>
          <a:ln/>
        </p:spPr>
        <p:txBody>
          <a:bodyPr wrap="square" lIns="0" tIns="0" rIns="0" bIns="0" rtlCol="0" anchor="t"/>
          <a:lstStyle/>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"version":    1,</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"freshUntil": 1756800000000,</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"value":      { … আসল ডেটা … }</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a:t>
            </a:r>
            <a:endParaRPr lang="en-US" sz="1050" dirty="0"/>
          </a:p>
          <a:p>
            <a:pPr indent="0" marL="0">
              <a:lnSpc>
                <a:spcPts val="1628"/>
              </a:lnSpc>
              <a:buNone/>
            </a:pP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Redis-এ লেখা হয়</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SET key &lt;envelope&gt; PX &lt;freshTtl + staleTtl&gt;</a:t>
            </a:r>
            <a:endParaRPr lang="en-US" sz="1050" dirty="0"/>
          </a:p>
        </p:txBody>
      </p:sp>
      <p:sp>
        <p:nvSpPr>
          <p:cNvPr id="10" name="Shape 8"/>
          <p:cNvSpPr/>
          <p:nvPr/>
        </p:nvSpPr>
        <p:spPr>
          <a:xfrm>
            <a:off x="658368" y="4343400"/>
            <a:ext cx="5577840" cy="566928"/>
          </a:xfrm>
          <a:prstGeom prst="roundRect">
            <a:avLst>
              <a:gd name="adj" fmla="val 9677"/>
            </a:avLst>
          </a:prstGeom>
          <a:solidFill>
            <a:srgbClr val="161B28"/>
          </a:solidFill>
          <a:ln w="12700">
            <a:solidFill>
              <a:srgbClr val="28303F"/>
            </a:solidFill>
            <a:prstDash val="solid"/>
          </a:ln>
        </p:spPr>
      </p:sp>
      <p:sp>
        <p:nvSpPr>
          <p:cNvPr id="11" name="Text 9"/>
          <p:cNvSpPr txBox="1"/>
          <p:nvPr/>
        </p:nvSpPr>
        <p:spPr>
          <a:xfrm>
            <a:off x="841248" y="4434840"/>
            <a:ext cx="1554480" cy="384048"/>
          </a:xfrm>
          <a:prstGeom prst="rect">
            <a:avLst/>
          </a:prstGeom>
          <a:noFill/>
          <a:ln/>
        </p:spPr>
        <p:txBody>
          <a:bodyPr wrap="square" lIns="0" tIns="0" rIns="0" bIns="0" rtlCol="0" anchor="ctr"/>
          <a:lstStyle/>
          <a:p>
            <a:pPr indent="0" marL="0">
              <a:buNone/>
            </a:pPr>
            <a:r>
              <a:rPr lang="en-US" sz="1000" dirty="0">
                <a:solidFill>
                  <a:srgbClr val="3FC9C0"/>
                </a:solidFill>
                <a:latin typeface="Consolas" pitchFamily="34" charset="0"/>
                <a:ea typeface="Consolas" pitchFamily="34" charset="-122"/>
                <a:cs typeface="Consolas" pitchFamily="34" charset="-120"/>
              </a:rPr>
              <a:t>±১০% jitter</a:t>
            </a:r>
            <a:endParaRPr lang="en-US" sz="1000" dirty="0"/>
          </a:p>
        </p:txBody>
      </p:sp>
      <p:sp>
        <p:nvSpPr>
          <p:cNvPr id="12" name="Text 10"/>
          <p:cNvSpPr txBox="1"/>
          <p:nvPr/>
        </p:nvSpPr>
        <p:spPr>
          <a:xfrm>
            <a:off x="2624328" y="4416552"/>
            <a:ext cx="3383280" cy="420624"/>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সব key যেন একই সেকেন্ডে এক্সপায়ার না করে</a:t>
            </a:r>
            <a:endParaRPr lang="en-US" sz="1000" dirty="0"/>
          </a:p>
        </p:txBody>
      </p:sp>
      <p:sp>
        <p:nvSpPr>
          <p:cNvPr id="13" name="Shape 11"/>
          <p:cNvSpPr/>
          <p:nvPr/>
        </p:nvSpPr>
        <p:spPr>
          <a:xfrm>
            <a:off x="658368" y="5020056"/>
            <a:ext cx="5577840" cy="566928"/>
          </a:xfrm>
          <a:prstGeom prst="roundRect">
            <a:avLst>
              <a:gd name="adj" fmla="val 9677"/>
            </a:avLst>
          </a:prstGeom>
          <a:solidFill>
            <a:srgbClr val="161B28"/>
          </a:solidFill>
          <a:ln w="12700">
            <a:solidFill>
              <a:srgbClr val="28303F"/>
            </a:solidFill>
            <a:prstDash val="solid"/>
          </a:ln>
        </p:spPr>
      </p:sp>
      <p:sp>
        <p:nvSpPr>
          <p:cNvPr id="14" name="Text 12"/>
          <p:cNvSpPr txBox="1"/>
          <p:nvPr/>
        </p:nvSpPr>
        <p:spPr>
          <a:xfrm>
            <a:off x="841248" y="5111496"/>
            <a:ext cx="1554480" cy="384048"/>
          </a:xfrm>
          <a:prstGeom prst="rect">
            <a:avLst/>
          </a:prstGeom>
          <a:noFill/>
          <a:ln/>
        </p:spPr>
        <p:txBody>
          <a:bodyPr wrap="square" lIns="0" tIns="0" rIns="0" bIns="0" rtlCol="0" anchor="ctr"/>
          <a:lstStyle/>
          <a:p>
            <a:pPr indent="0" marL="0">
              <a:buNone/>
            </a:pPr>
            <a:r>
              <a:rPr lang="en-US" sz="1000" dirty="0">
                <a:solidFill>
                  <a:srgbClr val="3FC9C0"/>
                </a:solidFill>
                <a:latin typeface="Consolas" pitchFamily="34" charset="0"/>
                <a:ea typeface="Consolas" pitchFamily="34" charset="-122"/>
                <a:cs typeface="Consolas" pitchFamily="34" charset="-120"/>
              </a:rPr>
              <a:t>version মিসম্যাচ</a:t>
            </a:r>
            <a:endParaRPr lang="en-US" sz="1000" dirty="0"/>
          </a:p>
        </p:txBody>
      </p:sp>
      <p:sp>
        <p:nvSpPr>
          <p:cNvPr id="15" name="Text 13"/>
          <p:cNvSpPr txBox="1"/>
          <p:nvPr/>
        </p:nvSpPr>
        <p:spPr>
          <a:xfrm>
            <a:off x="2624328" y="5093208"/>
            <a:ext cx="3383280" cy="420624"/>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পুরনো এন্ট্রি নিজে থেকেই বাতিল</a:t>
            </a:r>
            <a:endParaRPr lang="en-US" sz="1000" dirty="0"/>
          </a:p>
        </p:txBody>
      </p:sp>
      <p:sp>
        <p:nvSpPr>
          <p:cNvPr id="16" name="Text 14"/>
          <p:cNvSpPr txBox="1"/>
          <p:nvPr/>
        </p:nvSpPr>
        <p:spPr>
          <a:xfrm>
            <a:off x="6675120" y="1783080"/>
            <a:ext cx="484632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version — ক্যাশের ফরম্যাট বদলালে পুরনো এন্ট্রি নিজে থেকেই বাতিল, ম্যানুয়ালি ফ্লাশ করতে হয়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freshUntil — Redis-এর TTL আর "ফ্রেশনেস" আলাদা দুইটা জিনিস। TTL শেষ হওয়ার আগেই ডেটা বাসি হতে পারে</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jitter ±১০% — একসাথে লেখা হাজারটা key একই সেকেন্ডে এক্সপায়ার করলে প্রতি TTL-এ একটা করে ঢেউ আসত</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JSON.parse fail — ভাঙা এন্ট্রি পেলে DEL করে miss রিটার্ন, এরর না</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05</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ক্যাশ ইঞ্জিন ২/৩</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তিনটা অবস্থা, তিন রকম আচরণ</a:t>
            </a:r>
            <a:endParaRPr lang="en-US" sz="2900" dirty="0"/>
          </a:p>
        </p:txBody>
      </p:sp>
      <p:sp>
        <p:nvSpPr>
          <p:cNvPr id="7" name="Shape 5"/>
          <p:cNvSpPr/>
          <p:nvPr/>
        </p:nvSpPr>
        <p:spPr>
          <a:xfrm>
            <a:off x="658368" y="1783080"/>
            <a:ext cx="5760720" cy="841248"/>
          </a:xfrm>
          <a:prstGeom prst="roundRect">
            <a:avLst>
              <a:gd name="adj" fmla="val 6522"/>
            </a:avLst>
          </a:prstGeom>
          <a:solidFill>
            <a:srgbClr val="161B28"/>
          </a:solidFill>
          <a:ln w="12700">
            <a:solidFill>
              <a:srgbClr val="2E6B44"/>
            </a:solidFill>
            <a:prstDash val="solid"/>
          </a:ln>
        </p:spPr>
      </p:sp>
      <p:sp>
        <p:nvSpPr>
          <p:cNvPr id="8" name="Text 6"/>
          <p:cNvSpPr txBox="1"/>
          <p:nvPr/>
        </p:nvSpPr>
        <p:spPr>
          <a:xfrm>
            <a:off x="859536" y="2020824"/>
            <a:ext cx="1280160" cy="365760"/>
          </a:xfrm>
          <a:prstGeom prst="rect">
            <a:avLst/>
          </a:prstGeom>
          <a:noFill/>
          <a:ln/>
        </p:spPr>
        <p:txBody>
          <a:bodyPr wrap="square" lIns="0" tIns="0" rIns="0" bIns="0" rtlCol="0" anchor="ctr"/>
          <a:lstStyle/>
          <a:p>
            <a:pPr indent="0" marL="0">
              <a:buNone/>
            </a:pPr>
            <a:r>
              <a:rPr lang="en-US" sz="1500" b="1" dirty="0">
                <a:solidFill>
                  <a:srgbClr val="7BD88F"/>
                </a:solidFill>
                <a:latin typeface="Consolas" pitchFamily="34" charset="0"/>
                <a:ea typeface="Consolas" pitchFamily="34" charset="-122"/>
                <a:cs typeface="Consolas" pitchFamily="34" charset="-120"/>
              </a:rPr>
              <a:t>FRESH</a:t>
            </a:r>
            <a:endParaRPr lang="en-US" sz="1500" dirty="0"/>
          </a:p>
        </p:txBody>
      </p:sp>
      <p:sp>
        <p:nvSpPr>
          <p:cNvPr id="9" name="Text 7"/>
          <p:cNvSpPr txBox="1"/>
          <p:nvPr/>
        </p:nvSpPr>
        <p:spPr>
          <a:xfrm>
            <a:off x="2258568" y="1911096"/>
            <a:ext cx="4023360" cy="603504"/>
          </a:xfrm>
          <a:prstGeom prst="rect">
            <a:avLst/>
          </a:prstGeom>
          <a:noFill/>
          <a:ln/>
        </p:spPr>
        <p:txBody>
          <a:bodyPr wrap="square" lIns="0" tIns="0" rIns="0" bIns="0" rtlCol="0" anchor="ctr"/>
          <a:lstStyle/>
          <a:p>
            <a:pPr indent="0" marL="0">
              <a:buNone/>
            </a:pPr>
            <a:r>
              <a:rPr lang="en-US" sz="1100" dirty="0">
                <a:solidFill>
                  <a:srgbClr val="B4BCCE"/>
                </a:solidFill>
                <a:latin typeface="Nirmala UI" pitchFamily="34" charset="0"/>
                <a:ea typeface="Nirmala UI" pitchFamily="34" charset="-122"/>
                <a:cs typeface="Nirmala UI" pitchFamily="34" charset="-120"/>
              </a:rPr>
              <a:t>সাথে সাথে ফেরত। ডাটাবেজে যাওয়ার প্রশ্নই নেই — এটাই ৯৫% ক্ষেত্রে ঘটে</a:t>
            </a:r>
            <a:endParaRPr lang="en-US" sz="1100" dirty="0"/>
          </a:p>
        </p:txBody>
      </p:sp>
      <p:sp>
        <p:nvSpPr>
          <p:cNvPr id="10" name="Shape 8"/>
          <p:cNvSpPr/>
          <p:nvPr/>
        </p:nvSpPr>
        <p:spPr>
          <a:xfrm>
            <a:off x="658368" y="2788920"/>
            <a:ext cx="5760720" cy="841248"/>
          </a:xfrm>
          <a:prstGeom prst="roundRect">
            <a:avLst>
              <a:gd name="adj" fmla="val 6522"/>
            </a:avLst>
          </a:prstGeom>
          <a:solidFill>
            <a:srgbClr val="161B28"/>
          </a:solidFill>
          <a:ln w="12700">
            <a:solidFill>
              <a:srgbClr val="8A5F22"/>
            </a:solidFill>
            <a:prstDash val="solid"/>
          </a:ln>
        </p:spPr>
      </p:sp>
      <p:sp>
        <p:nvSpPr>
          <p:cNvPr id="11" name="Text 9"/>
          <p:cNvSpPr txBox="1"/>
          <p:nvPr/>
        </p:nvSpPr>
        <p:spPr>
          <a:xfrm>
            <a:off x="859536" y="3026664"/>
            <a:ext cx="1280160" cy="365760"/>
          </a:xfrm>
          <a:prstGeom prst="rect">
            <a:avLst/>
          </a:prstGeom>
          <a:noFill/>
          <a:ln/>
        </p:spPr>
        <p:txBody>
          <a:bodyPr wrap="square" lIns="0" tIns="0" rIns="0" bIns="0" rtlCol="0" anchor="ctr"/>
          <a:lstStyle/>
          <a:p>
            <a:pPr indent="0" marL="0">
              <a:buNone/>
            </a:pPr>
            <a:r>
              <a:rPr lang="en-US" sz="1500" b="1" dirty="0">
                <a:solidFill>
                  <a:srgbClr val="F5A63C"/>
                </a:solidFill>
                <a:latin typeface="Consolas" pitchFamily="34" charset="0"/>
                <a:ea typeface="Consolas" pitchFamily="34" charset="-122"/>
                <a:cs typeface="Consolas" pitchFamily="34" charset="-120"/>
              </a:rPr>
              <a:t>STALE</a:t>
            </a:r>
            <a:endParaRPr lang="en-US" sz="1500" dirty="0"/>
          </a:p>
        </p:txBody>
      </p:sp>
      <p:sp>
        <p:nvSpPr>
          <p:cNvPr id="12" name="Text 10"/>
          <p:cNvSpPr txBox="1"/>
          <p:nvPr/>
        </p:nvSpPr>
        <p:spPr>
          <a:xfrm>
            <a:off x="2258568" y="2916936"/>
            <a:ext cx="4023360" cy="603504"/>
          </a:xfrm>
          <a:prstGeom prst="rect">
            <a:avLst/>
          </a:prstGeom>
          <a:noFill/>
          <a:ln/>
        </p:spPr>
        <p:txBody>
          <a:bodyPr wrap="square" lIns="0" tIns="0" rIns="0" bIns="0" rtlCol="0" anchor="ctr"/>
          <a:lstStyle/>
          <a:p>
            <a:pPr indent="0" marL="0">
              <a:buNone/>
            </a:pPr>
            <a:r>
              <a:rPr lang="en-US" sz="1100" dirty="0">
                <a:solidFill>
                  <a:srgbClr val="B4BCCE"/>
                </a:solidFill>
                <a:latin typeface="Nirmala UI" pitchFamily="34" charset="0"/>
                <a:ea typeface="Nirmala UI" pitchFamily="34" charset="-122"/>
                <a:cs typeface="Nirmala UI" pitchFamily="34" charset="-120"/>
              </a:rPr>
              <a:t>পুরনো ডেটাই ফেরত দিই সাথে সাথে, আর পেছনে চুপচাপ রিফ্রেশ করি</a:t>
            </a:r>
            <a:endParaRPr lang="en-US" sz="1100" dirty="0"/>
          </a:p>
        </p:txBody>
      </p:sp>
      <p:sp>
        <p:nvSpPr>
          <p:cNvPr id="13" name="Shape 11"/>
          <p:cNvSpPr/>
          <p:nvPr/>
        </p:nvSpPr>
        <p:spPr>
          <a:xfrm>
            <a:off x="658368" y="3794760"/>
            <a:ext cx="5760720" cy="841248"/>
          </a:xfrm>
          <a:prstGeom prst="roundRect">
            <a:avLst>
              <a:gd name="adj" fmla="val 6522"/>
            </a:avLst>
          </a:prstGeom>
          <a:solidFill>
            <a:srgbClr val="161B28"/>
          </a:solidFill>
          <a:ln w="12700">
            <a:solidFill>
              <a:srgbClr val="7A3448"/>
            </a:solidFill>
            <a:prstDash val="solid"/>
          </a:ln>
        </p:spPr>
      </p:sp>
      <p:sp>
        <p:nvSpPr>
          <p:cNvPr id="14" name="Text 12"/>
          <p:cNvSpPr txBox="1"/>
          <p:nvPr/>
        </p:nvSpPr>
        <p:spPr>
          <a:xfrm>
            <a:off x="859536" y="4032504"/>
            <a:ext cx="1280160" cy="365760"/>
          </a:xfrm>
          <a:prstGeom prst="rect">
            <a:avLst/>
          </a:prstGeom>
          <a:noFill/>
          <a:ln/>
        </p:spPr>
        <p:txBody>
          <a:bodyPr wrap="square" lIns="0" tIns="0" rIns="0" bIns="0" rtlCol="0" anchor="ctr"/>
          <a:lstStyle/>
          <a:p>
            <a:pPr indent="0" marL="0">
              <a:buNone/>
            </a:pPr>
            <a:r>
              <a:rPr lang="en-US" sz="1500" b="1" dirty="0">
                <a:solidFill>
                  <a:srgbClr val="E2607A"/>
                </a:solidFill>
                <a:latin typeface="Consolas" pitchFamily="34" charset="0"/>
                <a:ea typeface="Consolas" pitchFamily="34" charset="-122"/>
                <a:cs typeface="Consolas" pitchFamily="34" charset="-120"/>
              </a:rPr>
              <a:t>MISS</a:t>
            </a:r>
            <a:endParaRPr lang="en-US" sz="1500" dirty="0"/>
          </a:p>
        </p:txBody>
      </p:sp>
      <p:sp>
        <p:nvSpPr>
          <p:cNvPr id="15" name="Text 13"/>
          <p:cNvSpPr txBox="1"/>
          <p:nvPr/>
        </p:nvSpPr>
        <p:spPr>
          <a:xfrm>
            <a:off x="2258568" y="3922776"/>
            <a:ext cx="4023360" cy="603504"/>
          </a:xfrm>
          <a:prstGeom prst="rect">
            <a:avLst/>
          </a:prstGeom>
          <a:noFill/>
          <a:ln/>
        </p:spPr>
        <p:txBody>
          <a:bodyPr wrap="square" lIns="0" tIns="0" rIns="0" bIns="0" rtlCol="0" anchor="ctr"/>
          <a:lstStyle/>
          <a:p>
            <a:pPr indent="0" marL="0">
              <a:buNone/>
            </a:pPr>
            <a:r>
              <a:rPr lang="en-US" sz="1100" dirty="0">
                <a:solidFill>
                  <a:srgbClr val="B4BCCE"/>
                </a:solidFill>
                <a:latin typeface="Nirmala UI" pitchFamily="34" charset="0"/>
                <a:ea typeface="Nirmala UI" pitchFamily="34" charset="-122"/>
                <a:cs typeface="Nirmala UI" pitchFamily="34" charset="-120"/>
              </a:rPr>
              <a:t>একজন লক নিয়ে DB-তে যায়, বাকিরা অপেক্ষা করে ফলাফলের</a:t>
            </a:r>
            <a:endParaRPr lang="en-US" sz="1100" dirty="0"/>
          </a:p>
        </p:txBody>
      </p:sp>
      <p:sp>
        <p:nvSpPr>
          <p:cNvPr id="16" name="Text 14"/>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stale মানে — freshUntil পার হয়েছে, কিন্তু Redis key এখনো বেঁচে আছে</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কেন এই আলাদা করাটা দরকার — TTL শেষে ডেটা উধাও হলে কাউকে না কাউকে DB-র জন্য অপেক্ষা করতেই হয়। stale থাকলে কাউকেই করতে হয়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একটা সৎ কথা — আমার ২৩টার মধ্যে ২০টা কল সাইট getOrLoadStrictCache ব্যবহার করে, যেখানে staleTtlMs = 0। মানে এই STALE দরজাটা আসলে কখনো খোলেই না — শেষ স্লাইডে এটা নিয়ে ফিরব</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06</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ক্যাশ ইঞ্জিন ৩/৩</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Cache Stampede — চার স্তরের প্রতিরোধ</a:t>
            </a:r>
            <a:endParaRPr lang="en-US" sz="2900" dirty="0"/>
          </a:p>
        </p:txBody>
      </p:sp>
      <p:sp>
        <p:nvSpPr>
          <p:cNvPr id="7" name="Shape 5"/>
          <p:cNvSpPr/>
          <p:nvPr/>
        </p:nvSpPr>
        <p:spPr>
          <a:xfrm>
            <a:off x="658368" y="1783080"/>
            <a:ext cx="438912" cy="310896"/>
          </a:xfrm>
          <a:prstGeom prst="roundRect">
            <a:avLst>
              <a:gd name="adj" fmla="val 14706"/>
            </a:avLst>
          </a:prstGeom>
          <a:solidFill>
            <a:srgbClr val="0C0F17"/>
          </a:solidFill>
          <a:ln w="12700">
            <a:solidFill>
              <a:srgbClr val="1E6A66"/>
            </a:solidFill>
            <a:prstDash val="solid"/>
          </a:ln>
        </p:spPr>
      </p:sp>
      <p:sp>
        <p:nvSpPr>
          <p:cNvPr id="8" name="Text 6"/>
          <p:cNvSpPr txBox="1"/>
          <p:nvPr/>
        </p:nvSpPr>
        <p:spPr>
          <a:xfrm>
            <a:off x="658368" y="1828800"/>
            <a:ext cx="438912" cy="228600"/>
          </a:xfrm>
          <a:prstGeom prst="rect">
            <a:avLst/>
          </a:prstGeom>
          <a:noFill/>
          <a:ln/>
        </p:spPr>
        <p:txBody>
          <a:bodyPr wrap="square" lIns="0" tIns="0" rIns="0" bIns="0" rtlCol="0" anchor="ctr"/>
          <a:lstStyle/>
          <a:p>
            <a:pPr algn="ctr" indent="0" marL="0">
              <a:buNone/>
            </a:pPr>
            <a:r>
              <a:rPr lang="en-US" sz="950" dirty="0">
                <a:solidFill>
                  <a:srgbClr val="3FC9C0"/>
                </a:solidFill>
                <a:latin typeface="Consolas" pitchFamily="34" charset="0"/>
                <a:ea typeface="Consolas" pitchFamily="34" charset="-122"/>
                <a:cs typeface="Consolas" pitchFamily="34" charset="-120"/>
              </a:rPr>
              <a:t>০১</a:t>
            </a:r>
            <a:endParaRPr lang="en-US" sz="950" dirty="0"/>
          </a:p>
        </p:txBody>
      </p:sp>
      <p:sp>
        <p:nvSpPr>
          <p:cNvPr id="9" name="Text 7"/>
          <p:cNvSpPr txBox="1"/>
          <p:nvPr/>
        </p:nvSpPr>
        <p:spPr>
          <a:xfrm>
            <a:off x="1280160" y="1764792"/>
            <a:ext cx="5120640" cy="658368"/>
          </a:xfrm>
          <a:prstGeom prst="rect">
            <a:avLst/>
          </a:prstGeom>
          <a:noFill/>
          <a:ln/>
        </p:spPr>
        <p:txBody>
          <a:bodyPr wrap="square" lIns="0" tIns="0" rIns="0" bIns="0" rtlCol="0" anchor="t"/>
          <a:lstStyle/>
          <a:p>
            <a:pPr indent="0" marL="0">
              <a:buNone/>
            </a:pPr>
            <a:r>
              <a:rPr lang="en-US" sz="1150" dirty="0">
                <a:solidFill>
                  <a:srgbClr val="B4BCCE"/>
                </a:solidFill>
                <a:latin typeface="Nirmala UI" pitchFamily="34" charset="0"/>
                <a:ea typeface="Nirmala UI" pitchFamily="34" charset="-122"/>
                <a:cs typeface="Nirmala UI" pitchFamily="34" charset="-120"/>
              </a:rPr>
              <a:t>singleFlight — একই প্রসেসের ভেতর একই key চাইলে সবাই একটাই Promise শেয়ার করে</a:t>
            </a:r>
            <a:endParaRPr lang="en-US" sz="1150" dirty="0"/>
          </a:p>
        </p:txBody>
      </p:sp>
      <p:sp>
        <p:nvSpPr>
          <p:cNvPr id="10" name="Shape 8"/>
          <p:cNvSpPr/>
          <p:nvPr/>
        </p:nvSpPr>
        <p:spPr>
          <a:xfrm>
            <a:off x="658368" y="2532888"/>
            <a:ext cx="438912" cy="310896"/>
          </a:xfrm>
          <a:prstGeom prst="roundRect">
            <a:avLst>
              <a:gd name="adj" fmla="val 14706"/>
            </a:avLst>
          </a:prstGeom>
          <a:solidFill>
            <a:srgbClr val="0C0F17"/>
          </a:solidFill>
          <a:ln w="12700">
            <a:solidFill>
              <a:srgbClr val="1E6A66"/>
            </a:solidFill>
            <a:prstDash val="solid"/>
          </a:ln>
        </p:spPr>
      </p:sp>
      <p:sp>
        <p:nvSpPr>
          <p:cNvPr id="11" name="Text 9"/>
          <p:cNvSpPr txBox="1"/>
          <p:nvPr/>
        </p:nvSpPr>
        <p:spPr>
          <a:xfrm>
            <a:off x="658368" y="2578608"/>
            <a:ext cx="438912" cy="228600"/>
          </a:xfrm>
          <a:prstGeom prst="rect">
            <a:avLst/>
          </a:prstGeom>
          <a:noFill/>
          <a:ln/>
        </p:spPr>
        <p:txBody>
          <a:bodyPr wrap="square" lIns="0" tIns="0" rIns="0" bIns="0" rtlCol="0" anchor="ctr"/>
          <a:lstStyle/>
          <a:p>
            <a:pPr algn="ctr" indent="0" marL="0">
              <a:buNone/>
            </a:pPr>
            <a:r>
              <a:rPr lang="en-US" sz="950" dirty="0">
                <a:solidFill>
                  <a:srgbClr val="3FC9C0"/>
                </a:solidFill>
                <a:latin typeface="Consolas" pitchFamily="34" charset="0"/>
                <a:ea typeface="Consolas" pitchFamily="34" charset="-122"/>
                <a:cs typeface="Consolas" pitchFamily="34" charset="-120"/>
              </a:rPr>
              <a:t>০২</a:t>
            </a:r>
            <a:endParaRPr lang="en-US" sz="950" dirty="0"/>
          </a:p>
        </p:txBody>
      </p:sp>
      <p:sp>
        <p:nvSpPr>
          <p:cNvPr id="12" name="Text 10"/>
          <p:cNvSpPr txBox="1"/>
          <p:nvPr/>
        </p:nvSpPr>
        <p:spPr>
          <a:xfrm>
            <a:off x="1280160" y="2514600"/>
            <a:ext cx="5120640" cy="658368"/>
          </a:xfrm>
          <a:prstGeom prst="rect">
            <a:avLst/>
          </a:prstGeom>
          <a:noFill/>
          <a:ln/>
        </p:spPr>
        <p:txBody>
          <a:bodyPr wrap="square" lIns="0" tIns="0" rIns="0" bIns="0" rtlCol="0" anchor="t"/>
          <a:lstStyle/>
          <a:p>
            <a:pPr indent="0" marL="0">
              <a:buNone/>
            </a:pPr>
            <a:r>
              <a:rPr lang="en-US" sz="1150" dirty="0">
                <a:solidFill>
                  <a:srgbClr val="B4BCCE"/>
                </a:solidFill>
                <a:latin typeface="Nirmala UI" pitchFamily="34" charset="0"/>
                <a:ea typeface="Nirmala UI" pitchFamily="34" charset="-122"/>
                <a:cs typeface="Nirmala UI" pitchFamily="34" charset="-120"/>
              </a:rPr>
              <a:t>Redis lock — ছয়টা ইনস্ট্যান্সের মধ্যে একজনই DB-তে যায়</a:t>
            </a:r>
            <a:endParaRPr lang="en-US" sz="1150" dirty="0"/>
          </a:p>
        </p:txBody>
      </p:sp>
      <p:sp>
        <p:nvSpPr>
          <p:cNvPr id="13" name="Shape 11"/>
          <p:cNvSpPr/>
          <p:nvPr/>
        </p:nvSpPr>
        <p:spPr>
          <a:xfrm>
            <a:off x="658368" y="3282696"/>
            <a:ext cx="438912" cy="310896"/>
          </a:xfrm>
          <a:prstGeom prst="roundRect">
            <a:avLst>
              <a:gd name="adj" fmla="val 14706"/>
            </a:avLst>
          </a:prstGeom>
          <a:solidFill>
            <a:srgbClr val="0C0F17"/>
          </a:solidFill>
          <a:ln w="12700">
            <a:solidFill>
              <a:srgbClr val="1E6A66"/>
            </a:solidFill>
            <a:prstDash val="solid"/>
          </a:ln>
        </p:spPr>
      </p:sp>
      <p:sp>
        <p:nvSpPr>
          <p:cNvPr id="14" name="Text 12"/>
          <p:cNvSpPr txBox="1"/>
          <p:nvPr/>
        </p:nvSpPr>
        <p:spPr>
          <a:xfrm>
            <a:off x="658368" y="3328416"/>
            <a:ext cx="438912" cy="228600"/>
          </a:xfrm>
          <a:prstGeom prst="rect">
            <a:avLst/>
          </a:prstGeom>
          <a:noFill/>
          <a:ln/>
        </p:spPr>
        <p:txBody>
          <a:bodyPr wrap="square" lIns="0" tIns="0" rIns="0" bIns="0" rtlCol="0" anchor="ctr"/>
          <a:lstStyle/>
          <a:p>
            <a:pPr algn="ctr" indent="0" marL="0">
              <a:buNone/>
            </a:pPr>
            <a:r>
              <a:rPr lang="en-US" sz="950" dirty="0">
                <a:solidFill>
                  <a:srgbClr val="3FC9C0"/>
                </a:solidFill>
                <a:latin typeface="Consolas" pitchFamily="34" charset="0"/>
                <a:ea typeface="Consolas" pitchFamily="34" charset="-122"/>
                <a:cs typeface="Consolas" pitchFamily="34" charset="-120"/>
              </a:rPr>
              <a:t>০৩</a:t>
            </a:r>
            <a:endParaRPr lang="en-US" sz="950" dirty="0"/>
          </a:p>
        </p:txBody>
      </p:sp>
      <p:sp>
        <p:nvSpPr>
          <p:cNvPr id="15" name="Text 13"/>
          <p:cNvSpPr txBox="1"/>
          <p:nvPr/>
        </p:nvSpPr>
        <p:spPr>
          <a:xfrm>
            <a:off x="1280160" y="3264408"/>
            <a:ext cx="5120640" cy="658368"/>
          </a:xfrm>
          <a:prstGeom prst="rect">
            <a:avLst/>
          </a:prstGeom>
          <a:noFill/>
          <a:ln/>
        </p:spPr>
        <p:txBody>
          <a:bodyPr wrap="square" lIns="0" tIns="0" rIns="0" bIns="0" rtlCol="0" anchor="t"/>
          <a:lstStyle/>
          <a:p>
            <a:pPr indent="0" marL="0">
              <a:buNone/>
            </a:pPr>
            <a:r>
              <a:rPr lang="en-US" sz="1150" dirty="0">
                <a:solidFill>
                  <a:srgbClr val="B4BCCE"/>
                </a:solidFill>
                <a:latin typeface="Nirmala UI" pitchFamily="34" charset="0"/>
                <a:ea typeface="Nirmala UI" pitchFamily="34" charset="-122"/>
                <a:cs typeface="Nirmala UI" pitchFamily="34" charset="-120"/>
              </a:rPr>
              <a:t>Poll &amp; wait — বাকিরা ৪০–১০০ms র‍্যান্ডম গ্যাপে ক্যাশ চেক করে</a:t>
            </a:r>
            <a:endParaRPr lang="en-US" sz="1150" dirty="0"/>
          </a:p>
        </p:txBody>
      </p:sp>
      <p:sp>
        <p:nvSpPr>
          <p:cNvPr id="16" name="Shape 14"/>
          <p:cNvSpPr/>
          <p:nvPr/>
        </p:nvSpPr>
        <p:spPr>
          <a:xfrm>
            <a:off x="658368" y="4032504"/>
            <a:ext cx="438912" cy="310896"/>
          </a:xfrm>
          <a:prstGeom prst="roundRect">
            <a:avLst>
              <a:gd name="adj" fmla="val 14706"/>
            </a:avLst>
          </a:prstGeom>
          <a:solidFill>
            <a:srgbClr val="0C0F17"/>
          </a:solidFill>
          <a:ln w="12700">
            <a:solidFill>
              <a:srgbClr val="1E6A66"/>
            </a:solidFill>
            <a:prstDash val="solid"/>
          </a:ln>
        </p:spPr>
      </p:sp>
      <p:sp>
        <p:nvSpPr>
          <p:cNvPr id="17" name="Text 15"/>
          <p:cNvSpPr txBox="1"/>
          <p:nvPr/>
        </p:nvSpPr>
        <p:spPr>
          <a:xfrm>
            <a:off x="658368" y="4078224"/>
            <a:ext cx="438912" cy="228600"/>
          </a:xfrm>
          <a:prstGeom prst="rect">
            <a:avLst/>
          </a:prstGeom>
          <a:noFill/>
          <a:ln/>
        </p:spPr>
        <p:txBody>
          <a:bodyPr wrap="square" lIns="0" tIns="0" rIns="0" bIns="0" rtlCol="0" anchor="ctr"/>
          <a:lstStyle/>
          <a:p>
            <a:pPr algn="ctr" indent="0" marL="0">
              <a:buNone/>
            </a:pPr>
            <a:r>
              <a:rPr lang="en-US" sz="950" dirty="0">
                <a:solidFill>
                  <a:srgbClr val="3FC9C0"/>
                </a:solidFill>
                <a:latin typeface="Consolas" pitchFamily="34" charset="0"/>
                <a:ea typeface="Consolas" pitchFamily="34" charset="-122"/>
                <a:cs typeface="Consolas" pitchFamily="34" charset="-120"/>
              </a:rPr>
              <a:t>০৪</a:t>
            </a:r>
            <a:endParaRPr lang="en-US" sz="950" dirty="0"/>
          </a:p>
        </p:txBody>
      </p:sp>
      <p:sp>
        <p:nvSpPr>
          <p:cNvPr id="18" name="Text 16"/>
          <p:cNvSpPr txBox="1"/>
          <p:nvPr/>
        </p:nvSpPr>
        <p:spPr>
          <a:xfrm>
            <a:off x="1280160" y="4014216"/>
            <a:ext cx="5120640" cy="658368"/>
          </a:xfrm>
          <a:prstGeom prst="rect">
            <a:avLst/>
          </a:prstGeom>
          <a:noFill/>
          <a:ln/>
        </p:spPr>
        <p:txBody>
          <a:bodyPr wrap="square" lIns="0" tIns="0" rIns="0" bIns="0" rtlCol="0" anchor="t"/>
          <a:lstStyle/>
          <a:p>
            <a:pPr indent="0" marL="0">
              <a:buNone/>
            </a:pPr>
            <a:r>
              <a:rPr lang="en-US" sz="1150" dirty="0">
                <a:solidFill>
                  <a:srgbClr val="B4BCCE"/>
                </a:solidFill>
                <a:latin typeface="Nirmala UI" pitchFamily="34" charset="0"/>
                <a:ea typeface="Nirmala UI" pitchFamily="34" charset="-122"/>
                <a:cs typeface="Nirmala UI" pitchFamily="34" charset="-120"/>
              </a:rPr>
              <a:t>Rescue lock — অপেক্ষার সময় শেষেও ক্যাশ খালি? আরেকবার লক নেওয়ার চেষ্টা</a:t>
            </a:r>
            <a:endParaRPr lang="en-US" sz="1150" dirty="0"/>
          </a:p>
        </p:txBody>
      </p:sp>
      <p:sp>
        <p:nvSpPr>
          <p:cNvPr id="19" name="Shape 17"/>
          <p:cNvSpPr/>
          <p:nvPr/>
        </p:nvSpPr>
        <p:spPr>
          <a:xfrm>
            <a:off x="658368" y="4892040"/>
            <a:ext cx="5760720" cy="868680"/>
          </a:xfrm>
          <a:prstGeom prst="roundRect">
            <a:avLst>
              <a:gd name="adj" fmla="val 6316"/>
            </a:avLst>
          </a:prstGeom>
          <a:solidFill>
            <a:srgbClr val="090C13"/>
          </a:solidFill>
          <a:ln w="12700">
            <a:solidFill>
              <a:srgbClr val="28303F"/>
            </a:solidFill>
            <a:prstDash val="solid"/>
          </a:ln>
        </p:spPr>
      </p:sp>
      <p:sp>
        <p:nvSpPr>
          <p:cNvPr id="20" name="Shape 18"/>
          <p:cNvSpPr/>
          <p:nvPr/>
        </p:nvSpPr>
        <p:spPr>
          <a:xfrm>
            <a:off x="658368" y="4946904"/>
            <a:ext cx="32004" cy="758952"/>
          </a:xfrm>
          <a:prstGeom prst="rect">
            <a:avLst/>
          </a:prstGeom>
          <a:solidFill>
            <a:srgbClr val="3FC9C0"/>
          </a:solidFill>
          <a:ln/>
        </p:spPr>
      </p:sp>
      <p:sp>
        <p:nvSpPr>
          <p:cNvPr id="21" name="Text 19"/>
          <p:cNvSpPr txBox="1"/>
          <p:nvPr/>
        </p:nvSpPr>
        <p:spPr>
          <a:xfrm>
            <a:off x="859536" y="5038344"/>
            <a:ext cx="5394960" cy="57607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লোডার ধীর হলে লক যেন এক্সপায়ার না করে</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const stop = startLockHeartbeat(lock, lockTtlMs);</a:t>
            </a:r>
            <a:endParaRPr lang="en-US" sz="1000" dirty="0"/>
          </a:p>
        </p:txBody>
      </p:sp>
      <p:sp>
        <p:nvSpPr>
          <p:cNvPr id="22" name="Text 20"/>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heartbeat কেন জরুরি — লক ৫ সেকেন্ডের, কিন্তু কোয়েরি ৭ সেকেন্ড নিলে লক ছুটে যেত আর দুইজন একসাথে DB-তে ঢুকে পড়ত</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ডাবল-চেক — লক পাওয়ার পরেও আরেকবার ক্যাশ পড়ি, ততক্ষণে অন্য কেউ ভরে ফেলে থাকতে পারে</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Redis একেবারেই না থাকলে — singleFlight("redis-down:…") দিয়ে সরাসরি DB, কিন্তু তখনও একটাই কোয়েরি</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07</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লক</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লক ছাড়াটাই আসল কঠিন অংশ</a:t>
            </a:r>
            <a:endParaRPr lang="en-US" sz="2900" dirty="0"/>
          </a:p>
        </p:txBody>
      </p:sp>
      <p:sp>
        <p:nvSpPr>
          <p:cNvPr id="7" name="Shape 5"/>
          <p:cNvSpPr/>
          <p:nvPr/>
        </p:nvSpPr>
        <p:spPr>
          <a:xfrm>
            <a:off x="658368" y="1783080"/>
            <a:ext cx="1783080" cy="914400"/>
          </a:xfrm>
          <a:prstGeom prst="roundRect">
            <a:avLst>
              <a:gd name="adj" fmla="val 6000"/>
            </a:avLst>
          </a:prstGeom>
          <a:solidFill>
            <a:srgbClr val="161B28"/>
          </a:solidFill>
          <a:ln w="12700">
            <a:solidFill>
              <a:srgbClr val="2E6B44"/>
            </a:solidFill>
            <a:prstDash val="solid"/>
          </a:ln>
        </p:spPr>
      </p:sp>
      <p:sp>
        <p:nvSpPr>
          <p:cNvPr id="8" name="Text 6"/>
          <p:cNvSpPr txBox="1"/>
          <p:nvPr/>
        </p:nvSpPr>
        <p:spPr>
          <a:xfrm>
            <a:off x="768096" y="1938528"/>
            <a:ext cx="1554480" cy="274320"/>
          </a:xfrm>
          <a:prstGeom prst="rect">
            <a:avLst/>
          </a:prstGeom>
          <a:noFill/>
          <a:ln/>
        </p:spPr>
        <p:txBody>
          <a:bodyPr wrap="square" lIns="0" tIns="0" rIns="0" bIns="0" rtlCol="0" anchor="ctr"/>
          <a:lstStyle/>
          <a:p>
            <a:pPr algn="ctr" indent="0" marL="0">
              <a:buNone/>
            </a:pPr>
            <a:r>
              <a:rPr lang="en-US" sz="1200" b="1" dirty="0">
                <a:solidFill>
                  <a:srgbClr val="E9EDF6"/>
                </a:solidFill>
                <a:latin typeface="Nirmala UI" pitchFamily="34" charset="0"/>
                <a:ea typeface="Nirmala UI" pitchFamily="34" charset="-122"/>
                <a:cs typeface="Nirmala UI" pitchFamily="34" charset="-120"/>
              </a:rPr>
              <a:t>Worker A</a:t>
            </a:r>
            <a:endParaRPr lang="en-US" sz="1200" dirty="0"/>
          </a:p>
        </p:txBody>
      </p:sp>
      <p:sp>
        <p:nvSpPr>
          <p:cNvPr id="9" name="Text 7"/>
          <p:cNvSpPr txBox="1"/>
          <p:nvPr/>
        </p:nvSpPr>
        <p:spPr>
          <a:xfrm>
            <a:off x="768096" y="2267712"/>
            <a:ext cx="1554480" cy="274320"/>
          </a:xfrm>
          <a:prstGeom prst="rect">
            <a:avLst/>
          </a:prstGeom>
          <a:noFill/>
          <a:ln/>
        </p:spPr>
        <p:txBody>
          <a:bodyPr wrap="square" lIns="0" tIns="0" rIns="0" bIns="0" rtlCol="0" anchor="ctr"/>
          <a:lstStyle/>
          <a:p>
            <a:pPr algn="ctr" indent="0" marL="0">
              <a:buNone/>
            </a:pPr>
            <a:r>
              <a:rPr lang="en-US" sz="1050" dirty="0">
                <a:solidFill>
                  <a:srgbClr val="7BD88F"/>
                </a:solidFill>
                <a:latin typeface="Consolas" pitchFamily="34" charset="0"/>
                <a:ea typeface="Consolas" pitchFamily="34" charset="-122"/>
                <a:cs typeface="Consolas" pitchFamily="34" charset="-120"/>
              </a:rPr>
              <a:t>token = a1b2</a:t>
            </a:r>
            <a:endParaRPr lang="en-US" sz="1050" dirty="0"/>
          </a:p>
        </p:txBody>
      </p:sp>
      <p:sp>
        <p:nvSpPr>
          <p:cNvPr id="10" name="Shape 8"/>
          <p:cNvSpPr/>
          <p:nvPr/>
        </p:nvSpPr>
        <p:spPr>
          <a:xfrm>
            <a:off x="2670048" y="1783080"/>
            <a:ext cx="1783080" cy="914400"/>
          </a:xfrm>
          <a:prstGeom prst="roundRect">
            <a:avLst>
              <a:gd name="adj" fmla="val 6000"/>
            </a:avLst>
          </a:prstGeom>
          <a:solidFill>
            <a:srgbClr val="161B28"/>
          </a:solidFill>
          <a:ln w="12700">
            <a:solidFill>
              <a:srgbClr val="1E6A66"/>
            </a:solidFill>
            <a:prstDash val="solid"/>
          </a:ln>
        </p:spPr>
      </p:sp>
      <p:sp>
        <p:nvSpPr>
          <p:cNvPr id="11" name="Text 9"/>
          <p:cNvSpPr txBox="1"/>
          <p:nvPr/>
        </p:nvSpPr>
        <p:spPr>
          <a:xfrm>
            <a:off x="2779776" y="1938528"/>
            <a:ext cx="1554480" cy="274320"/>
          </a:xfrm>
          <a:prstGeom prst="rect">
            <a:avLst/>
          </a:prstGeom>
          <a:noFill/>
          <a:ln/>
        </p:spPr>
        <p:txBody>
          <a:bodyPr wrap="square" lIns="0" tIns="0" rIns="0" bIns="0" rtlCol="0" anchor="ctr"/>
          <a:lstStyle/>
          <a:p>
            <a:pPr algn="ctr" indent="0" marL="0">
              <a:buNone/>
            </a:pPr>
            <a:r>
              <a:rPr lang="en-US" sz="1200" b="1" dirty="0">
                <a:solidFill>
                  <a:srgbClr val="E9EDF6"/>
                </a:solidFill>
                <a:latin typeface="Nirmala UI" pitchFamily="34" charset="0"/>
                <a:ea typeface="Nirmala UI" pitchFamily="34" charset="-122"/>
                <a:cs typeface="Nirmala UI" pitchFamily="34" charset="-120"/>
              </a:rPr>
              <a:t>Redis</a:t>
            </a:r>
            <a:endParaRPr lang="en-US" sz="1200" dirty="0"/>
          </a:p>
        </p:txBody>
      </p:sp>
      <p:sp>
        <p:nvSpPr>
          <p:cNvPr id="12" name="Text 10"/>
          <p:cNvSpPr txBox="1"/>
          <p:nvPr/>
        </p:nvSpPr>
        <p:spPr>
          <a:xfrm>
            <a:off x="2779776" y="2267712"/>
            <a:ext cx="1554480" cy="274320"/>
          </a:xfrm>
          <a:prstGeom prst="rect">
            <a:avLst/>
          </a:prstGeom>
          <a:noFill/>
          <a:ln/>
        </p:spPr>
        <p:txBody>
          <a:bodyPr wrap="square" lIns="0" tIns="0" rIns="0" bIns="0" rtlCol="0" anchor="ctr"/>
          <a:lstStyle/>
          <a:p>
            <a:pPr algn="ctr" indent="0" marL="0">
              <a:buNone/>
            </a:pPr>
            <a:r>
              <a:rPr lang="en-US" sz="1050" dirty="0">
                <a:solidFill>
                  <a:srgbClr val="3FC9C0"/>
                </a:solidFill>
                <a:latin typeface="Consolas" pitchFamily="34" charset="0"/>
                <a:ea typeface="Consolas" pitchFamily="34" charset="-122"/>
                <a:cs typeface="Consolas" pitchFamily="34" charset="-120"/>
              </a:rPr>
              <a:t>lock = a1b2</a:t>
            </a:r>
            <a:endParaRPr lang="en-US" sz="1050" dirty="0"/>
          </a:p>
        </p:txBody>
      </p:sp>
      <p:sp>
        <p:nvSpPr>
          <p:cNvPr id="13" name="Shape 11"/>
          <p:cNvSpPr/>
          <p:nvPr/>
        </p:nvSpPr>
        <p:spPr>
          <a:xfrm>
            <a:off x="4681728" y="1783080"/>
            <a:ext cx="1783080" cy="914400"/>
          </a:xfrm>
          <a:prstGeom prst="roundRect">
            <a:avLst>
              <a:gd name="adj" fmla="val 6000"/>
            </a:avLst>
          </a:prstGeom>
          <a:solidFill>
            <a:srgbClr val="161B28"/>
          </a:solidFill>
          <a:ln w="12700">
            <a:solidFill>
              <a:srgbClr val="7A3448"/>
            </a:solidFill>
            <a:prstDash val="solid"/>
          </a:ln>
        </p:spPr>
      </p:sp>
      <p:sp>
        <p:nvSpPr>
          <p:cNvPr id="14" name="Text 12"/>
          <p:cNvSpPr txBox="1"/>
          <p:nvPr/>
        </p:nvSpPr>
        <p:spPr>
          <a:xfrm>
            <a:off x="4791456" y="1938528"/>
            <a:ext cx="1554480" cy="274320"/>
          </a:xfrm>
          <a:prstGeom prst="rect">
            <a:avLst/>
          </a:prstGeom>
          <a:noFill/>
          <a:ln/>
        </p:spPr>
        <p:txBody>
          <a:bodyPr wrap="square" lIns="0" tIns="0" rIns="0" bIns="0" rtlCol="0" anchor="ctr"/>
          <a:lstStyle/>
          <a:p>
            <a:pPr algn="ctr" indent="0" marL="0">
              <a:buNone/>
            </a:pPr>
            <a:r>
              <a:rPr lang="en-US" sz="1200" b="1" dirty="0">
                <a:solidFill>
                  <a:srgbClr val="E9EDF6"/>
                </a:solidFill>
                <a:latin typeface="Nirmala UI" pitchFamily="34" charset="0"/>
                <a:ea typeface="Nirmala UI" pitchFamily="34" charset="-122"/>
                <a:cs typeface="Nirmala UI" pitchFamily="34" charset="-120"/>
              </a:rPr>
              <a:t>Worker B</a:t>
            </a:r>
            <a:endParaRPr lang="en-US" sz="1200" dirty="0"/>
          </a:p>
        </p:txBody>
      </p:sp>
      <p:sp>
        <p:nvSpPr>
          <p:cNvPr id="15" name="Text 13"/>
          <p:cNvSpPr txBox="1"/>
          <p:nvPr/>
        </p:nvSpPr>
        <p:spPr>
          <a:xfrm>
            <a:off x="4791456" y="2267712"/>
            <a:ext cx="1554480" cy="274320"/>
          </a:xfrm>
          <a:prstGeom prst="rect">
            <a:avLst/>
          </a:prstGeom>
          <a:noFill/>
          <a:ln/>
        </p:spPr>
        <p:txBody>
          <a:bodyPr wrap="square" lIns="0" tIns="0" rIns="0" bIns="0" rtlCol="0" anchor="ctr"/>
          <a:lstStyle/>
          <a:p>
            <a:pPr algn="ctr" indent="0" marL="0">
              <a:buNone/>
            </a:pPr>
            <a:r>
              <a:rPr lang="en-US" sz="1050" dirty="0">
                <a:solidFill>
                  <a:srgbClr val="E2607A"/>
                </a:solidFill>
                <a:latin typeface="Consolas" pitchFamily="34" charset="0"/>
                <a:ea typeface="Consolas" pitchFamily="34" charset="-122"/>
                <a:cs typeface="Consolas" pitchFamily="34" charset="-120"/>
              </a:rPr>
              <a:t>token = c3d4  ✗</a:t>
            </a:r>
            <a:endParaRPr lang="en-US" sz="1050" dirty="0"/>
          </a:p>
        </p:txBody>
      </p:sp>
      <p:sp>
        <p:nvSpPr>
          <p:cNvPr id="16" name="Shape 14"/>
          <p:cNvSpPr/>
          <p:nvPr/>
        </p:nvSpPr>
        <p:spPr>
          <a:xfrm>
            <a:off x="658368" y="2971800"/>
            <a:ext cx="5760720" cy="1691640"/>
          </a:xfrm>
          <a:prstGeom prst="roundRect">
            <a:avLst>
              <a:gd name="adj" fmla="val 3243"/>
            </a:avLst>
          </a:prstGeom>
          <a:solidFill>
            <a:srgbClr val="090C13"/>
          </a:solidFill>
          <a:ln w="12700">
            <a:solidFill>
              <a:srgbClr val="28303F"/>
            </a:solidFill>
            <a:prstDash val="solid"/>
          </a:ln>
        </p:spPr>
      </p:sp>
      <p:sp>
        <p:nvSpPr>
          <p:cNvPr id="17" name="Shape 15"/>
          <p:cNvSpPr/>
          <p:nvPr/>
        </p:nvSpPr>
        <p:spPr>
          <a:xfrm>
            <a:off x="658368" y="3026664"/>
            <a:ext cx="32004" cy="1581912"/>
          </a:xfrm>
          <a:prstGeom prst="rect">
            <a:avLst/>
          </a:prstGeom>
          <a:solidFill>
            <a:srgbClr val="3FC9C0"/>
          </a:solidFill>
          <a:ln/>
        </p:spPr>
      </p:sp>
      <p:sp>
        <p:nvSpPr>
          <p:cNvPr id="18" name="Text 16"/>
          <p:cNvSpPr txBox="1"/>
          <p:nvPr/>
        </p:nvSpPr>
        <p:spPr>
          <a:xfrm>
            <a:off x="859536" y="3118104"/>
            <a:ext cx="5394960" cy="1399032"/>
          </a:xfrm>
          <a:prstGeom prst="rect">
            <a:avLst/>
          </a:prstGeom>
          <a:noFill/>
          <a:ln/>
        </p:spPr>
        <p:txBody>
          <a:bodyPr wrap="square" lIns="0" tIns="0" rIns="0" bIns="0" rtlCol="0" anchor="t"/>
          <a:lstStyle/>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শুধু নিজের লকই ছাড়তে পারবে</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if redis.call("GET", KEYS[1]) == ARGV[1] then</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return redis.call("DEL", KEYS[1])</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else</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  return 0</a:t>
            </a:r>
            <a:endParaRPr lang="en-US" sz="1050" dirty="0"/>
          </a:p>
          <a:p>
            <a:pPr indent="0" marL="0">
              <a:lnSpc>
                <a:spcPts val="1628"/>
              </a:lnSpc>
              <a:buNone/>
            </a:pPr>
            <a:r>
              <a:rPr lang="en-US" sz="1050" dirty="0">
                <a:solidFill>
                  <a:srgbClr val="C6CEDE"/>
                </a:solidFill>
                <a:latin typeface="Consolas" pitchFamily="34" charset="0"/>
                <a:ea typeface="Consolas" pitchFamily="34" charset="-122"/>
                <a:cs typeface="Consolas" pitchFamily="34" charset="-120"/>
              </a:rPr>
              <a:t>end</a:t>
            </a:r>
            <a:endParaRPr lang="en-US" sz="1050" dirty="0"/>
          </a:p>
        </p:txBody>
      </p:sp>
      <p:sp>
        <p:nvSpPr>
          <p:cNvPr id="19" name="Text 17"/>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সাধারণ DEL কেন বিপজ্জনক — A-র লক এক্সপায়ার হলো, B নতুন লক নিলো, এখন A কাজ শেষ করে DEL করলে সে B-র লক মুছে দিলো</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তাই র‍্যান্ডম টোকেন — crypto.randomUUID(), আর ছাড়ার আগে মিলিয়ে দেখা</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Lua কেন — GET আর DEL আলাদা করলে মাঝখানে রেস থেকে যেত। Lua স্ক্রিপ্ট Redis-এ একটাই অবিভাজ্য অপারেশন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একই প্যাটার্ন তিন জায়গায় — ক্যাশ ফিল, নোটিফিকেশন ক্যাম্পেইন, ডেস্কটপ লগইন</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08</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ইনভ্যালিডেশন · কৌশল ১</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key-টা জানা থাকলে — সরাসরি DELETE</a:t>
            </a:r>
            <a:endParaRPr lang="en-US" sz="2900" dirty="0"/>
          </a:p>
        </p:txBody>
      </p:sp>
      <p:sp>
        <p:nvSpPr>
          <p:cNvPr id="7" name="Shape 5"/>
          <p:cNvSpPr/>
          <p:nvPr/>
        </p:nvSpPr>
        <p:spPr>
          <a:xfrm>
            <a:off x="658368" y="1783080"/>
            <a:ext cx="5852160" cy="603504"/>
          </a:xfrm>
          <a:prstGeom prst="roundRect">
            <a:avLst>
              <a:gd name="adj" fmla="val 9091"/>
            </a:avLst>
          </a:prstGeom>
          <a:solidFill>
            <a:srgbClr val="161B28"/>
          </a:solidFill>
          <a:ln w="12700">
            <a:solidFill>
              <a:srgbClr val="28303F"/>
            </a:solidFill>
            <a:prstDash val="solid"/>
          </a:ln>
        </p:spPr>
      </p:sp>
      <p:sp>
        <p:nvSpPr>
          <p:cNvPr id="8" name="Text 6"/>
          <p:cNvSpPr txBox="1"/>
          <p:nvPr/>
        </p:nvSpPr>
        <p:spPr>
          <a:xfrm>
            <a:off x="841248" y="1874520"/>
            <a:ext cx="5212080" cy="420624"/>
          </a:xfrm>
          <a:prstGeom prst="rect">
            <a:avLst/>
          </a:prstGeom>
          <a:noFill/>
          <a:ln/>
        </p:spPr>
        <p:txBody>
          <a:bodyPr wrap="square" lIns="0" tIns="0" rIns="0" bIns="0" rtlCol="0" anchor="ctr"/>
          <a:lstStyle/>
          <a:p>
            <a:pPr indent="0" marL="0">
              <a:buNone/>
            </a:pPr>
            <a:r>
              <a:rPr lang="en-US" sz="950" dirty="0">
                <a:solidFill>
                  <a:srgbClr val="3FC9C0"/>
                </a:solidFill>
                <a:latin typeface="Consolas" pitchFamily="34" charset="0"/>
                <a:ea typeface="Consolas" pitchFamily="34" charset="-122"/>
                <a:cs typeface="Consolas" pitchFamily="34" charset="-120"/>
              </a:rPr>
              <a:t>cache:auth:user:v1:student:a91f…</a:t>
            </a:r>
            <a:endParaRPr lang="en-US" sz="950" dirty="0"/>
          </a:p>
        </p:txBody>
      </p:sp>
      <p:sp>
        <p:nvSpPr>
          <p:cNvPr id="9" name="Text 7"/>
          <p:cNvSpPr txBox="1"/>
          <p:nvPr/>
        </p:nvSpPr>
        <p:spPr>
          <a:xfrm>
            <a:off x="6281928" y="1856232"/>
            <a:ext cx="0" cy="457200"/>
          </a:xfrm>
          <a:prstGeom prst="rect">
            <a:avLst/>
          </a:prstGeom>
          <a:noFill/>
          <a:ln/>
        </p:spPr>
        <p:txBody>
          <a:bodyPr wrap="square" lIns="0" tIns="0" rIns="0" bIns="0" rtlCol="0" anchor="ctr"/>
          <a:lstStyle/>
          <a:p>
            <a:pPr indent="0" marL="0">
              <a:buNone/>
            </a:pPr>
            <a:endParaRPr lang="en-US" sz="1050" dirty="0"/>
          </a:p>
        </p:txBody>
      </p:sp>
      <p:sp>
        <p:nvSpPr>
          <p:cNvPr id="10" name="Shape 8"/>
          <p:cNvSpPr/>
          <p:nvPr/>
        </p:nvSpPr>
        <p:spPr>
          <a:xfrm>
            <a:off x="658368" y="2514600"/>
            <a:ext cx="5852160" cy="603504"/>
          </a:xfrm>
          <a:prstGeom prst="roundRect">
            <a:avLst>
              <a:gd name="adj" fmla="val 9091"/>
            </a:avLst>
          </a:prstGeom>
          <a:solidFill>
            <a:srgbClr val="161B28"/>
          </a:solidFill>
          <a:ln w="12700">
            <a:solidFill>
              <a:srgbClr val="28303F"/>
            </a:solidFill>
            <a:prstDash val="solid"/>
          </a:ln>
        </p:spPr>
      </p:sp>
      <p:sp>
        <p:nvSpPr>
          <p:cNvPr id="11" name="Text 9"/>
          <p:cNvSpPr txBox="1"/>
          <p:nvPr/>
        </p:nvSpPr>
        <p:spPr>
          <a:xfrm>
            <a:off x="841248" y="2606040"/>
            <a:ext cx="5212080" cy="420624"/>
          </a:xfrm>
          <a:prstGeom prst="rect">
            <a:avLst/>
          </a:prstGeom>
          <a:noFill/>
          <a:ln/>
        </p:spPr>
        <p:txBody>
          <a:bodyPr wrap="square" lIns="0" tIns="0" rIns="0" bIns="0" rtlCol="0" anchor="ctr"/>
          <a:lstStyle/>
          <a:p>
            <a:pPr indent="0" marL="0">
              <a:buNone/>
            </a:pPr>
            <a:r>
              <a:rPr lang="en-US" sz="950" dirty="0">
                <a:solidFill>
                  <a:srgbClr val="3FC9C0"/>
                </a:solidFill>
                <a:latin typeface="Consolas" pitchFamily="34" charset="0"/>
                <a:ea typeface="Consolas" pitchFamily="34" charset="-122"/>
                <a:cs typeface="Consolas" pitchFamily="34" charset="-120"/>
              </a:rPr>
              <a:t>cache:authz:v1:course-student:a91f…:c47b…</a:t>
            </a:r>
            <a:endParaRPr lang="en-US" sz="950" dirty="0"/>
          </a:p>
        </p:txBody>
      </p:sp>
      <p:sp>
        <p:nvSpPr>
          <p:cNvPr id="12" name="Text 10"/>
          <p:cNvSpPr txBox="1"/>
          <p:nvPr/>
        </p:nvSpPr>
        <p:spPr>
          <a:xfrm>
            <a:off x="6281928" y="2587752"/>
            <a:ext cx="0" cy="457200"/>
          </a:xfrm>
          <a:prstGeom prst="rect">
            <a:avLst/>
          </a:prstGeom>
          <a:noFill/>
          <a:ln/>
        </p:spPr>
        <p:txBody>
          <a:bodyPr wrap="square" lIns="0" tIns="0" rIns="0" bIns="0" rtlCol="0" anchor="ctr"/>
          <a:lstStyle/>
          <a:p>
            <a:pPr indent="0" marL="0">
              <a:buNone/>
            </a:pPr>
            <a:endParaRPr lang="en-US" sz="1050" dirty="0"/>
          </a:p>
        </p:txBody>
      </p:sp>
      <p:sp>
        <p:nvSpPr>
          <p:cNvPr id="13" name="Shape 11"/>
          <p:cNvSpPr/>
          <p:nvPr/>
        </p:nvSpPr>
        <p:spPr>
          <a:xfrm>
            <a:off x="658368" y="3246120"/>
            <a:ext cx="5852160" cy="603504"/>
          </a:xfrm>
          <a:prstGeom prst="roundRect">
            <a:avLst>
              <a:gd name="adj" fmla="val 9091"/>
            </a:avLst>
          </a:prstGeom>
          <a:solidFill>
            <a:srgbClr val="161B28"/>
          </a:solidFill>
          <a:ln w="12700">
            <a:solidFill>
              <a:srgbClr val="28303F"/>
            </a:solidFill>
            <a:prstDash val="solid"/>
          </a:ln>
        </p:spPr>
      </p:sp>
      <p:sp>
        <p:nvSpPr>
          <p:cNvPr id="14" name="Text 12"/>
          <p:cNvSpPr txBox="1"/>
          <p:nvPr/>
        </p:nvSpPr>
        <p:spPr>
          <a:xfrm>
            <a:off x="841248" y="3337560"/>
            <a:ext cx="5212080" cy="420624"/>
          </a:xfrm>
          <a:prstGeom prst="rect">
            <a:avLst/>
          </a:prstGeom>
          <a:noFill/>
          <a:ln/>
        </p:spPr>
        <p:txBody>
          <a:bodyPr wrap="square" lIns="0" tIns="0" rIns="0" bIns="0" rtlCol="0" anchor="ctr"/>
          <a:lstStyle/>
          <a:p>
            <a:pPr indent="0" marL="0">
              <a:buNone/>
            </a:pPr>
            <a:r>
              <a:rPr lang="en-US" sz="950" dirty="0">
                <a:solidFill>
                  <a:srgbClr val="3FC9C0"/>
                </a:solidFill>
                <a:latin typeface="Consolas" pitchFamily="34" charset="0"/>
                <a:ea typeface="Consolas" pitchFamily="34" charset="-122"/>
                <a:cs typeface="Consolas" pitchFamily="34" charset="-120"/>
              </a:rPr>
              <a:t>cache:authz:v1:course-context:e22d…</a:t>
            </a:r>
            <a:endParaRPr lang="en-US" sz="950" dirty="0"/>
          </a:p>
        </p:txBody>
      </p:sp>
      <p:sp>
        <p:nvSpPr>
          <p:cNvPr id="15" name="Text 13"/>
          <p:cNvSpPr txBox="1"/>
          <p:nvPr/>
        </p:nvSpPr>
        <p:spPr>
          <a:xfrm>
            <a:off x="6281928" y="3319272"/>
            <a:ext cx="0" cy="457200"/>
          </a:xfrm>
          <a:prstGeom prst="rect">
            <a:avLst/>
          </a:prstGeom>
          <a:noFill/>
          <a:ln/>
        </p:spPr>
        <p:txBody>
          <a:bodyPr wrap="square" lIns="0" tIns="0" rIns="0" bIns="0" rtlCol="0" anchor="ctr"/>
          <a:lstStyle/>
          <a:p>
            <a:pPr indent="0" marL="0">
              <a:buNone/>
            </a:pPr>
            <a:endParaRPr lang="en-US" sz="1050" dirty="0"/>
          </a:p>
        </p:txBody>
      </p:sp>
      <p:sp>
        <p:nvSpPr>
          <p:cNvPr id="16" name="Shape 14"/>
          <p:cNvSpPr/>
          <p:nvPr/>
        </p:nvSpPr>
        <p:spPr>
          <a:xfrm>
            <a:off x="658368" y="3977640"/>
            <a:ext cx="5852160" cy="603504"/>
          </a:xfrm>
          <a:prstGeom prst="roundRect">
            <a:avLst>
              <a:gd name="adj" fmla="val 9091"/>
            </a:avLst>
          </a:prstGeom>
          <a:solidFill>
            <a:srgbClr val="161B28"/>
          </a:solidFill>
          <a:ln w="12700">
            <a:solidFill>
              <a:srgbClr val="28303F"/>
            </a:solidFill>
            <a:prstDash val="solid"/>
          </a:ln>
        </p:spPr>
      </p:sp>
      <p:sp>
        <p:nvSpPr>
          <p:cNvPr id="17" name="Text 15"/>
          <p:cNvSpPr txBox="1"/>
          <p:nvPr/>
        </p:nvSpPr>
        <p:spPr>
          <a:xfrm>
            <a:off x="841248" y="4069080"/>
            <a:ext cx="5212080" cy="420624"/>
          </a:xfrm>
          <a:prstGeom prst="rect">
            <a:avLst/>
          </a:prstGeom>
          <a:noFill/>
          <a:ln/>
        </p:spPr>
        <p:txBody>
          <a:bodyPr wrap="square" lIns="0" tIns="0" rIns="0" bIns="0" rtlCol="0" anchor="ctr"/>
          <a:lstStyle/>
          <a:p>
            <a:pPr indent="0" marL="0">
              <a:buNone/>
            </a:pPr>
            <a:r>
              <a:rPr lang="en-US" sz="950" dirty="0">
                <a:solidFill>
                  <a:srgbClr val="3FC9C0"/>
                </a:solidFill>
                <a:latin typeface="Consolas" pitchFamily="34" charset="0"/>
                <a:ea typeface="Consolas" pitchFamily="34" charset="-122"/>
                <a:cs typeface="Consolas" pitchFamily="34" charset="-120"/>
              </a:rPr>
              <a:t>cache:socket:restriction:v1:a91f…:CHAT</a:t>
            </a:r>
            <a:endParaRPr lang="en-US" sz="950" dirty="0"/>
          </a:p>
        </p:txBody>
      </p:sp>
      <p:sp>
        <p:nvSpPr>
          <p:cNvPr id="18" name="Text 16"/>
          <p:cNvSpPr txBox="1"/>
          <p:nvPr/>
        </p:nvSpPr>
        <p:spPr>
          <a:xfrm>
            <a:off x="6281928" y="4050792"/>
            <a:ext cx="0" cy="457200"/>
          </a:xfrm>
          <a:prstGeom prst="rect">
            <a:avLst/>
          </a:prstGeom>
          <a:noFill/>
          <a:ln/>
        </p:spPr>
        <p:txBody>
          <a:bodyPr wrap="square" lIns="0" tIns="0" rIns="0" bIns="0" rtlCol="0" anchor="ctr"/>
          <a:lstStyle/>
          <a:p>
            <a:pPr indent="0" marL="0">
              <a:buNone/>
            </a:pPr>
            <a:endParaRPr lang="en-US" sz="1050" dirty="0"/>
          </a:p>
        </p:txBody>
      </p:sp>
      <p:sp>
        <p:nvSpPr>
          <p:cNvPr id="19" name="Text 17"/>
          <p:cNvSpPr txBox="1"/>
          <p:nvPr/>
        </p:nvSpPr>
        <p:spPr>
          <a:xfrm>
            <a:off x="6858000" y="1783080"/>
            <a:ext cx="466344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কখন এটা ঠিক — যখন key-এর নামটা ঠিক জানা আছে। প্রোফাইল আপডেট হলো? ওই একটা key মুছে দাও</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এনরোলমেন্ট বাতিল হলে — ওই স্টুডেন্ট-কোর্স জোড়ার key মুছে যায়, পরের রিকোয়েস্টেই সে আর ঢুকতে পারবে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বাল্ক ভার্সনও আছে — Promise.allSettled দিয়ে অনেকগুলো একসাথে, একটা ফেল করলেও বাকিগুলো হয়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সীমাবদ্ধতা — একটা কোর্স এডিট হলে কোন কোন লিস্ট বদলাবে সেটা তো জানা নেই। ওখানেই এই কৌশল ভেঙে পড়ে</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09</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ইনভ্যালিডেশন · কৌশল ২</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key অসংখ্য হলে — মুছি না, ভার্সন বাড়াই</a:t>
            </a:r>
            <a:endParaRPr lang="en-US" sz="2900" dirty="0"/>
          </a:p>
        </p:txBody>
      </p:sp>
      <p:sp>
        <p:nvSpPr>
          <p:cNvPr id="7" name="Shape 5"/>
          <p:cNvSpPr/>
          <p:nvPr/>
        </p:nvSpPr>
        <p:spPr>
          <a:xfrm>
            <a:off x="658368" y="1783080"/>
            <a:ext cx="5852160" cy="493776"/>
          </a:xfrm>
          <a:prstGeom prst="roundRect">
            <a:avLst>
              <a:gd name="adj" fmla="val 11111"/>
            </a:avLst>
          </a:prstGeom>
          <a:solidFill>
            <a:srgbClr val="161B28"/>
          </a:solidFill>
          <a:ln w="12700">
            <a:solidFill>
              <a:srgbClr val="28303F"/>
            </a:solidFill>
            <a:prstDash val="solid"/>
          </a:ln>
        </p:spPr>
      </p:sp>
      <p:sp>
        <p:nvSpPr>
          <p:cNvPr id="8" name="Text 6"/>
          <p:cNvSpPr txBox="1"/>
          <p:nvPr/>
        </p:nvSpPr>
        <p:spPr>
          <a:xfrm>
            <a:off x="841248" y="1901952"/>
            <a:ext cx="5486400" cy="274320"/>
          </a:xfrm>
          <a:prstGeom prst="rect">
            <a:avLst/>
          </a:prstGeom>
          <a:noFill/>
          <a:ln/>
        </p:spPr>
        <p:txBody>
          <a:bodyPr wrap="square" lIns="0" tIns="0" rIns="0" bIns="0" rtlCol="0" anchor="ctr"/>
          <a:lstStyle/>
          <a:p>
            <a:pPr indent="0" marL="0">
              <a:buNone/>
            </a:pPr>
            <a:r>
              <a:rPr lang="en-US" sz="950" strike="sngStrike" dirty="0">
                <a:solidFill>
                  <a:srgbClr val="7E8798"/>
                </a:solidFill>
                <a:latin typeface="Consolas" pitchFamily="34" charset="0"/>
                <a:ea typeface="Consolas" pitchFamily="34" charset="-122"/>
                <a:cs typeface="Consolas" pitchFamily="34" charset="-120"/>
              </a:rPr>
              <a:t>cache:course-catalog:v1:list:frb:web:7c2f:v41</a:t>
            </a:r>
            <a:endParaRPr lang="en-US" sz="950" dirty="0"/>
          </a:p>
        </p:txBody>
      </p:sp>
      <p:sp>
        <p:nvSpPr>
          <p:cNvPr id="9" name="Shape 7"/>
          <p:cNvSpPr/>
          <p:nvPr/>
        </p:nvSpPr>
        <p:spPr>
          <a:xfrm>
            <a:off x="658368" y="2386584"/>
            <a:ext cx="5852160" cy="493776"/>
          </a:xfrm>
          <a:prstGeom prst="roundRect">
            <a:avLst>
              <a:gd name="adj" fmla="val 11111"/>
            </a:avLst>
          </a:prstGeom>
          <a:solidFill>
            <a:srgbClr val="161B28"/>
          </a:solidFill>
          <a:ln w="12700">
            <a:solidFill>
              <a:srgbClr val="28303F"/>
            </a:solidFill>
            <a:prstDash val="solid"/>
          </a:ln>
        </p:spPr>
      </p:sp>
      <p:sp>
        <p:nvSpPr>
          <p:cNvPr id="10" name="Text 8"/>
          <p:cNvSpPr txBox="1"/>
          <p:nvPr/>
        </p:nvSpPr>
        <p:spPr>
          <a:xfrm>
            <a:off x="841248" y="2505456"/>
            <a:ext cx="5486400" cy="274320"/>
          </a:xfrm>
          <a:prstGeom prst="rect">
            <a:avLst/>
          </a:prstGeom>
          <a:noFill/>
          <a:ln/>
        </p:spPr>
        <p:txBody>
          <a:bodyPr wrap="square" lIns="0" tIns="0" rIns="0" bIns="0" rtlCol="0" anchor="ctr"/>
          <a:lstStyle/>
          <a:p>
            <a:pPr indent="0" marL="0">
              <a:buNone/>
            </a:pPr>
            <a:r>
              <a:rPr lang="en-US" sz="950" strike="sngStrike" dirty="0">
                <a:solidFill>
                  <a:srgbClr val="7E8798"/>
                </a:solidFill>
                <a:latin typeface="Consolas" pitchFamily="34" charset="0"/>
                <a:ea typeface="Consolas" pitchFamily="34" charset="-122"/>
                <a:cs typeface="Consolas" pitchFamily="34" charset="-120"/>
              </a:rPr>
              <a:t>cache:course-catalog:v1:list:frb:app:9ab1:v41</a:t>
            </a:r>
            <a:endParaRPr lang="en-US" sz="950" dirty="0"/>
          </a:p>
        </p:txBody>
      </p:sp>
      <p:sp>
        <p:nvSpPr>
          <p:cNvPr id="11" name="Shape 9"/>
          <p:cNvSpPr/>
          <p:nvPr/>
        </p:nvSpPr>
        <p:spPr>
          <a:xfrm>
            <a:off x="658368" y="2990088"/>
            <a:ext cx="5852160" cy="493776"/>
          </a:xfrm>
          <a:prstGeom prst="roundRect">
            <a:avLst>
              <a:gd name="adj" fmla="val 11111"/>
            </a:avLst>
          </a:prstGeom>
          <a:solidFill>
            <a:srgbClr val="161B28"/>
          </a:solidFill>
          <a:ln w="12700">
            <a:solidFill>
              <a:srgbClr val="28303F"/>
            </a:solidFill>
            <a:prstDash val="solid"/>
          </a:ln>
        </p:spPr>
      </p:sp>
      <p:sp>
        <p:nvSpPr>
          <p:cNvPr id="12" name="Text 10"/>
          <p:cNvSpPr txBox="1"/>
          <p:nvPr/>
        </p:nvSpPr>
        <p:spPr>
          <a:xfrm>
            <a:off x="841248" y="3108960"/>
            <a:ext cx="5486400" cy="274320"/>
          </a:xfrm>
          <a:prstGeom prst="rect">
            <a:avLst/>
          </a:prstGeom>
          <a:noFill/>
          <a:ln/>
        </p:spPr>
        <p:txBody>
          <a:bodyPr wrap="square" lIns="0" tIns="0" rIns="0" bIns="0" rtlCol="0" anchor="ctr"/>
          <a:lstStyle/>
          <a:p>
            <a:pPr indent="0" marL="0">
              <a:buNone/>
            </a:pPr>
            <a:r>
              <a:rPr lang="en-US" sz="950" strike="sngStrike" dirty="0">
                <a:solidFill>
                  <a:srgbClr val="7E8798"/>
                </a:solidFill>
                <a:latin typeface="Consolas" pitchFamily="34" charset="0"/>
                <a:ea typeface="Consolas" pitchFamily="34" charset="-122"/>
                <a:cs typeface="Consolas" pitchFamily="34" charset="-120"/>
              </a:rPr>
              <a:t>cache:course-catalog:v1:list:acad:web:3e88:v41</a:t>
            </a:r>
            <a:endParaRPr lang="en-US" sz="950" dirty="0"/>
          </a:p>
        </p:txBody>
      </p:sp>
      <p:sp>
        <p:nvSpPr>
          <p:cNvPr id="13" name="Shape 11"/>
          <p:cNvSpPr/>
          <p:nvPr/>
        </p:nvSpPr>
        <p:spPr>
          <a:xfrm>
            <a:off x="658368" y="3593592"/>
            <a:ext cx="5852160" cy="493776"/>
          </a:xfrm>
          <a:prstGeom prst="roundRect">
            <a:avLst>
              <a:gd name="adj" fmla="val 11111"/>
            </a:avLst>
          </a:prstGeom>
          <a:solidFill>
            <a:srgbClr val="161B28"/>
          </a:solidFill>
          <a:ln w="12700">
            <a:solidFill>
              <a:srgbClr val="1E6A66"/>
            </a:solidFill>
            <a:prstDash val="solid"/>
          </a:ln>
        </p:spPr>
      </p:sp>
      <p:sp>
        <p:nvSpPr>
          <p:cNvPr id="14" name="Text 12"/>
          <p:cNvSpPr txBox="1"/>
          <p:nvPr/>
        </p:nvSpPr>
        <p:spPr>
          <a:xfrm>
            <a:off x="841248" y="3712464"/>
            <a:ext cx="5486400" cy="274320"/>
          </a:xfrm>
          <a:prstGeom prst="rect">
            <a:avLst/>
          </a:prstGeom>
          <a:noFill/>
          <a:ln/>
        </p:spPr>
        <p:txBody>
          <a:bodyPr wrap="square" lIns="0" tIns="0" rIns="0" bIns="0" rtlCol="0" anchor="ctr"/>
          <a:lstStyle/>
          <a:p>
            <a:pPr indent="0" marL="0">
              <a:buNone/>
            </a:pPr>
            <a:r>
              <a:rPr lang="en-US" sz="950" strike="none" dirty="0">
                <a:solidFill>
                  <a:srgbClr val="E9EDF6"/>
                </a:solidFill>
                <a:latin typeface="Consolas" pitchFamily="34" charset="0"/>
                <a:ea typeface="Consolas" pitchFamily="34" charset="-122"/>
                <a:cs typeface="Consolas" pitchFamily="34" charset="-120"/>
              </a:rPr>
              <a:t>cache:course-catalog:v1:list:frb:web:7c2f:v42</a:t>
            </a:r>
            <a:endParaRPr lang="en-US" sz="950" dirty="0"/>
          </a:p>
        </p:txBody>
      </p:sp>
      <p:sp>
        <p:nvSpPr>
          <p:cNvPr id="15" name="Shape 13"/>
          <p:cNvSpPr/>
          <p:nvPr/>
        </p:nvSpPr>
        <p:spPr>
          <a:xfrm>
            <a:off x="658368" y="4343400"/>
            <a:ext cx="5852160" cy="1051560"/>
          </a:xfrm>
          <a:prstGeom prst="roundRect">
            <a:avLst>
              <a:gd name="adj" fmla="val 5217"/>
            </a:avLst>
          </a:prstGeom>
          <a:solidFill>
            <a:srgbClr val="090C13"/>
          </a:solidFill>
          <a:ln w="12700">
            <a:solidFill>
              <a:srgbClr val="28303F"/>
            </a:solidFill>
            <a:prstDash val="solid"/>
          </a:ln>
        </p:spPr>
      </p:sp>
      <p:sp>
        <p:nvSpPr>
          <p:cNvPr id="16" name="Shape 14"/>
          <p:cNvSpPr/>
          <p:nvPr/>
        </p:nvSpPr>
        <p:spPr>
          <a:xfrm>
            <a:off x="658368" y="4398264"/>
            <a:ext cx="32004" cy="941832"/>
          </a:xfrm>
          <a:prstGeom prst="rect">
            <a:avLst/>
          </a:prstGeom>
          <a:solidFill>
            <a:srgbClr val="3FC9C0"/>
          </a:solidFill>
          <a:ln/>
        </p:spPr>
      </p:sp>
      <p:sp>
        <p:nvSpPr>
          <p:cNvPr id="17" name="Text 15"/>
          <p:cNvSpPr txBox="1"/>
          <p:nvPr/>
        </p:nvSpPr>
        <p:spPr>
          <a:xfrm>
            <a:off x="859536" y="4489704"/>
            <a:ext cx="5486400" cy="75895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await redis.incr("cache:course-catalog:v1:version");</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ব্যস। একটা কমান্ড, লাখ লাখ key অচল।</a:t>
            </a:r>
            <a:endParaRPr lang="en-US" sz="1000" dirty="0"/>
          </a:p>
        </p:txBody>
      </p:sp>
      <p:sp>
        <p:nvSpPr>
          <p:cNvPr id="18" name="Text 16"/>
          <p:cNvSpPr txBox="1"/>
          <p:nvPr/>
        </p:nvSpPr>
        <p:spPr>
          <a:xfrm>
            <a:off x="6858000" y="1783080"/>
            <a:ext cx="466344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কেন DELETE চলবে না — কোয়েরি প্যারামিটার, হোস্ট, পেজ মিলিয়ে হাজার হাজার key। খুঁজতে SCAN চালালে Redis ব্যস্ত হয়ে যাবে</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ট্রিক — ভার্সন নম্বরটা key-এর নামের ভেতরেই। INCR করলেই নতুন নাম, পুরনোগুলো কেউ আর চায়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পুরনো key-এর কী হয় — কেউ পড়ে না, TTL শেষে Redis নিজেই মুছে ফেলে। আমাদের কিছু করতে হয়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চার জায়গায় ব্যবহার — কোর্স ক্যাটালগ, my-courses, লাইভ ক্লাস লিস্ট, নোটিফিকেশন ফিড</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10</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ইনভ্যালিডেশন · কৌশল ৩</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দুইটা ভার্সন একসাথে</a:t>
            </a:r>
            <a:endParaRPr lang="en-US" sz="2900" dirty="0"/>
          </a:p>
        </p:txBody>
      </p:sp>
      <p:sp>
        <p:nvSpPr>
          <p:cNvPr id="7" name="Shape 5"/>
          <p:cNvSpPr/>
          <p:nvPr/>
        </p:nvSpPr>
        <p:spPr>
          <a:xfrm>
            <a:off x="658368" y="1783080"/>
            <a:ext cx="5852160" cy="548640"/>
          </a:xfrm>
          <a:prstGeom prst="roundRect">
            <a:avLst>
              <a:gd name="adj" fmla="val 10000"/>
            </a:avLst>
          </a:prstGeom>
          <a:solidFill>
            <a:srgbClr val="161B28"/>
          </a:solidFill>
          <a:ln w="12700">
            <a:solidFill>
              <a:srgbClr val="1E6A66"/>
            </a:solidFill>
            <a:prstDash val="solid"/>
          </a:ln>
        </p:spPr>
      </p:sp>
      <p:sp>
        <p:nvSpPr>
          <p:cNvPr id="8" name="Text 6"/>
          <p:cNvSpPr txBox="1"/>
          <p:nvPr/>
        </p:nvSpPr>
        <p:spPr>
          <a:xfrm>
            <a:off x="841248" y="1938528"/>
            <a:ext cx="5486400" cy="274320"/>
          </a:xfrm>
          <a:prstGeom prst="rect">
            <a:avLst/>
          </a:prstGeom>
          <a:noFill/>
          <a:ln/>
        </p:spPr>
        <p:txBody>
          <a:bodyPr wrap="square" lIns="0" tIns="0" rIns="0" bIns="0" rtlCol="0" anchor="ctr"/>
          <a:lstStyle/>
          <a:p>
            <a:pPr indent="0" marL="0">
              <a:buNone/>
            </a:pPr>
            <a:r>
              <a:rPr lang="en-US" sz="950" dirty="0">
                <a:solidFill>
                  <a:srgbClr val="E9EDF6"/>
                </a:solidFill>
                <a:latin typeface="Consolas" pitchFamily="34" charset="0"/>
                <a:ea typeface="Consolas" pitchFamily="34" charset="-122"/>
                <a:cs typeface="Consolas" pitchFamily="34" charset="-120"/>
              </a:rPr>
              <a:t>cache:student-my-courses:v1:list:a91f…:enrolled:7c2f:sv3:cv41</a:t>
            </a:r>
            <a:endParaRPr lang="en-US" sz="950" dirty="0"/>
          </a:p>
        </p:txBody>
      </p:sp>
      <p:sp>
        <p:nvSpPr>
          <p:cNvPr id="9" name="Shape 7"/>
          <p:cNvSpPr/>
          <p:nvPr/>
        </p:nvSpPr>
        <p:spPr>
          <a:xfrm>
            <a:off x="658368" y="2514600"/>
            <a:ext cx="5852160" cy="1600200"/>
          </a:xfrm>
          <a:prstGeom prst="roundRect">
            <a:avLst>
              <a:gd name="adj" fmla="val 3429"/>
            </a:avLst>
          </a:prstGeom>
          <a:solidFill>
            <a:srgbClr val="090C13"/>
          </a:solidFill>
          <a:ln w="12700">
            <a:solidFill>
              <a:srgbClr val="28303F"/>
            </a:solidFill>
            <a:prstDash val="solid"/>
          </a:ln>
        </p:spPr>
      </p:sp>
      <p:sp>
        <p:nvSpPr>
          <p:cNvPr id="10" name="Shape 8"/>
          <p:cNvSpPr/>
          <p:nvPr/>
        </p:nvSpPr>
        <p:spPr>
          <a:xfrm>
            <a:off x="658368" y="2569464"/>
            <a:ext cx="32004" cy="1490472"/>
          </a:xfrm>
          <a:prstGeom prst="rect">
            <a:avLst/>
          </a:prstGeom>
          <a:solidFill>
            <a:srgbClr val="3FC9C0"/>
          </a:solidFill>
          <a:ln/>
        </p:spPr>
      </p:sp>
      <p:sp>
        <p:nvSpPr>
          <p:cNvPr id="11" name="Text 9"/>
          <p:cNvSpPr txBox="1"/>
          <p:nvPr/>
        </p:nvSpPr>
        <p:spPr>
          <a:xfrm>
            <a:off x="859536" y="2660904"/>
            <a:ext cx="5486400" cy="130759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const [studentVersion, courseVersion]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await redis.mget(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`…my-courses:v1:version:${studentId}`,  // sv</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"cache:course-catalog:v1:version"       // cv</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p:txBody>
      </p:sp>
      <p:sp>
        <p:nvSpPr>
          <p:cNvPr id="12" name="Shape 10"/>
          <p:cNvSpPr/>
          <p:nvPr/>
        </p:nvSpPr>
        <p:spPr>
          <a:xfrm>
            <a:off x="658368" y="4297680"/>
            <a:ext cx="5852160" cy="566928"/>
          </a:xfrm>
          <a:prstGeom prst="roundRect">
            <a:avLst>
              <a:gd name="adj" fmla="val 9677"/>
            </a:avLst>
          </a:prstGeom>
          <a:solidFill>
            <a:srgbClr val="161B28"/>
          </a:solidFill>
          <a:ln w="12700">
            <a:solidFill>
              <a:srgbClr val="28303F"/>
            </a:solidFill>
            <a:prstDash val="solid"/>
          </a:ln>
        </p:spPr>
      </p:sp>
      <p:sp>
        <p:nvSpPr>
          <p:cNvPr id="13" name="Text 11"/>
          <p:cNvSpPr txBox="1"/>
          <p:nvPr/>
        </p:nvSpPr>
        <p:spPr>
          <a:xfrm>
            <a:off x="841248" y="4389120"/>
            <a:ext cx="1097280" cy="384048"/>
          </a:xfrm>
          <a:prstGeom prst="rect">
            <a:avLst/>
          </a:prstGeom>
          <a:noFill/>
          <a:ln/>
        </p:spPr>
        <p:txBody>
          <a:bodyPr wrap="square" lIns="0" tIns="0" rIns="0" bIns="0" rtlCol="0" anchor="ctr"/>
          <a:lstStyle/>
          <a:p>
            <a:pPr indent="0" marL="0">
              <a:buNone/>
            </a:pPr>
            <a:r>
              <a:rPr lang="en-US" sz="1100" dirty="0">
                <a:solidFill>
                  <a:srgbClr val="3FC9C0"/>
                </a:solidFill>
                <a:latin typeface="Consolas" pitchFamily="34" charset="0"/>
                <a:ea typeface="Consolas" pitchFamily="34" charset="-122"/>
                <a:cs typeface="Consolas" pitchFamily="34" charset="-120"/>
              </a:rPr>
              <a:t>sv</a:t>
            </a:r>
            <a:endParaRPr lang="en-US" sz="1100" dirty="0"/>
          </a:p>
        </p:txBody>
      </p:sp>
      <p:sp>
        <p:nvSpPr>
          <p:cNvPr id="14" name="Text 12"/>
          <p:cNvSpPr txBox="1"/>
          <p:nvPr/>
        </p:nvSpPr>
        <p:spPr>
          <a:xfrm>
            <a:off x="2167128" y="4370832"/>
            <a:ext cx="4114800" cy="420624"/>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শুধু এই স্টুডেন্টের — সে নতুন কোর্স কিনলে বাড়ে</a:t>
            </a:r>
            <a:endParaRPr lang="en-US" sz="1050" dirty="0"/>
          </a:p>
        </p:txBody>
      </p:sp>
      <p:sp>
        <p:nvSpPr>
          <p:cNvPr id="15" name="Shape 13"/>
          <p:cNvSpPr/>
          <p:nvPr/>
        </p:nvSpPr>
        <p:spPr>
          <a:xfrm>
            <a:off x="658368" y="4992624"/>
            <a:ext cx="5852160" cy="566928"/>
          </a:xfrm>
          <a:prstGeom prst="roundRect">
            <a:avLst>
              <a:gd name="adj" fmla="val 9677"/>
            </a:avLst>
          </a:prstGeom>
          <a:solidFill>
            <a:srgbClr val="161B28"/>
          </a:solidFill>
          <a:ln w="12700">
            <a:solidFill>
              <a:srgbClr val="28303F"/>
            </a:solidFill>
            <a:prstDash val="solid"/>
          </a:ln>
        </p:spPr>
      </p:sp>
      <p:sp>
        <p:nvSpPr>
          <p:cNvPr id="16" name="Text 14"/>
          <p:cNvSpPr txBox="1"/>
          <p:nvPr/>
        </p:nvSpPr>
        <p:spPr>
          <a:xfrm>
            <a:off x="841248" y="5084064"/>
            <a:ext cx="1097280" cy="384048"/>
          </a:xfrm>
          <a:prstGeom prst="rect">
            <a:avLst/>
          </a:prstGeom>
          <a:noFill/>
          <a:ln/>
        </p:spPr>
        <p:txBody>
          <a:bodyPr wrap="square" lIns="0" tIns="0" rIns="0" bIns="0" rtlCol="0" anchor="ctr"/>
          <a:lstStyle/>
          <a:p>
            <a:pPr indent="0" marL="0">
              <a:buNone/>
            </a:pPr>
            <a:r>
              <a:rPr lang="en-US" sz="1100" dirty="0">
                <a:solidFill>
                  <a:srgbClr val="3FC9C0"/>
                </a:solidFill>
                <a:latin typeface="Consolas" pitchFamily="34" charset="0"/>
                <a:ea typeface="Consolas" pitchFamily="34" charset="-122"/>
                <a:cs typeface="Consolas" pitchFamily="34" charset="-120"/>
              </a:rPr>
              <a:t>cv</a:t>
            </a:r>
            <a:endParaRPr lang="en-US" sz="1100" dirty="0"/>
          </a:p>
        </p:txBody>
      </p:sp>
      <p:sp>
        <p:nvSpPr>
          <p:cNvPr id="17" name="Text 15"/>
          <p:cNvSpPr txBox="1"/>
          <p:nvPr/>
        </p:nvSpPr>
        <p:spPr>
          <a:xfrm>
            <a:off x="2167128" y="5065776"/>
            <a:ext cx="4114800" cy="420624"/>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সবার জন্য এক — অ্যাডমিন কোর্স এডিট করলে বাড়ে</a:t>
            </a:r>
            <a:endParaRPr lang="en-US" sz="1050" dirty="0"/>
          </a:p>
        </p:txBody>
      </p:sp>
      <p:sp>
        <p:nvSpPr>
          <p:cNvPr id="18" name="Text 16"/>
          <p:cNvSpPr txBox="1"/>
          <p:nvPr/>
        </p:nvSpPr>
        <p:spPr>
          <a:xfrm>
            <a:off x="6858000" y="1783080"/>
            <a:ext cx="466344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সমস্যাটা — "আমার কোর্স" লিস্ট দুইভাবে বদলাতে পারে: স্টুডেন্ট নতুন কোর্স কিনলো, অথবা অ্যাডমিন কোর্সের নাম বদলালো</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একটা ভার্সন হলে — কোর্স এডিট করলে ৫ লাখ স্টুডেন্টের key একসাথে অচল, সবাই একসাথে DB-তে</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স্টুডেন্ট-ভিত্তিক হলে — কোর্স এডিট কারো কাছেই পৌঁছাত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দুইটা রাখায় — যেটা যতটুকু বদলেছে, ঠিক ততটুকুই অচল হয়। আর দুইটা ভার্সন একটাই MGET-এ</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11</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সবচেয়ে বড় লাভ</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প্রতিটা রিকোয়েস্টের অথ চেক</a:t>
            </a:r>
            <a:endParaRPr lang="en-US" sz="2900" dirty="0"/>
          </a:p>
        </p:txBody>
      </p:sp>
      <p:sp>
        <p:nvSpPr>
          <p:cNvPr id="7" name="Text 5"/>
          <p:cNvSpPr txBox="1"/>
          <p:nvPr/>
        </p:nvSpPr>
        <p:spPr>
          <a:xfrm>
            <a:off x="658368" y="1783080"/>
            <a:ext cx="3657600" cy="274320"/>
          </a:xfrm>
          <a:prstGeom prst="rect">
            <a:avLst/>
          </a:prstGeom>
          <a:noFill/>
          <a:ln/>
        </p:spPr>
        <p:txBody>
          <a:bodyPr wrap="square" lIns="0" tIns="0" rIns="0" bIns="0" rtlCol="0" anchor="ctr"/>
          <a:lstStyle/>
          <a:p>
            <a:pPr indent="0" marL="0">
              <a:buNone/>
            </a:pPr>
            <a:r>
              <a:rPr lang="en-US" sz="1250" b="1" dirty="0">
                <a:solidFill>
                  <a:srgbClr val="E9EDF6"/>
                </a:solidFill>
                <a:latin typeface="Nirmala UI" pitchFamily="34" charset="0"/>
                <a:ea typeface="Nirmala UI" pitchFamily="34" charset="-122"/>
                <a:cs typeface="Nirmala UI" pitchFamily="34" charset="-120"/>
              </a:rPr>
              <a:t>ক্যাশের আগে — প্রতি রিকোয়েস্টে</a:t>
            </a:r>
            <a:endParaRPr lang="en-US" sz="1250" dirty="0"/>
          </a:p>
        </p:txBody>
      </p:sp>
      <p:sp>
        <p:nvSpPr>
          <p:cNvPr id="8" name="Text 6"/>
          <p:cNvSpPr txBox="1"/>
          <p:nvPr/>
        </p:nvSpPr>
        <p:spPr>
          <a:xfrm>
            <a:off x="4315968" y="1737360"/>
            <a:ext cx="2194560" cy="365760"/>
          </a:xfrm>
          <a:prstGeom prst="rect">
            <a:avLst/>
          </a:prstGeom>
          <a:noFill/>
          <a:ln/>
        </p:spPr>
        <p:txBody>
          <a:bodyPr wrap="square" lIns="0" tIns="0" rIns="0" bIns="0" rtlCol="0" anchor="ctr"/>
          <a:lstStyle/>
          <a:p>
            <a:pPr algn="r" indent="0" marL="0">
              <a:buNone/>
            </a:pPr>
            <a:r>
              <a:rPr lang="en-US" sz="1800" b="1" dirty="0">
                <a:solidFill>
                  <a:srgbClr val="E2607A"/>
                </a:solidFill>
                <a:latin typeface="Consolas" pitchFamily="34" charset="0"/>
                <a:ea typeface="Consolas" pitchFamily="34" charset="-122"/>
                <a:cs typeface="Consolas" pitchFamily="34" charset="-120"/>
              </a:rPr>
              <a:t>৪টি DB কোয়েরি</a:t>
            </a:r>
            <a:endParaRPr lang="en-US" sz="1800" dirty="0"/>
          </a:p>
        </p:txBody>
      </p:sp>
      <p:sp>
        <p:nvSpPr>
          <p:cNvPr id="9" name="Shape 7"/>
          <p:cNvSpPr/>
          <p:nvPr/>
        </p:nvSpPr>
        <p:spPr>
          <a:xfrm>
            <a:off x="658368" y="2194560"/>
            <a:ext cx="411480" cy="411480"/>
          </a:xfrm>
          <a:prstGeom prst="roundRect">
            <a:avLst>
              <a:gd name="adj" fmla="val 11111"/>
            </a:avLst>
          </a:prstGeom>
          <a:solidFill>
            <a:srgbClr val="9A8CF0"/>
          </a:solidFill>
          <a:ln w="12700">
            <a:solidFill>
              <a:srgbClr val="333333"/>
            </a:solidFill>
            <a:prstDash val="solid"/>
          </a:ln>
        </p:spPr>
      </p:sp>
      <p:sp>
        <p:nvSpPr>
          <p:cNvPr id="10" name="Shape 8"/>
          <p:cNvSpPr/>
          <p:nvPr/>
        </p:nvSpPr>
        <p:spPr>
          <a:xfrm>
            <a:off x="1207008" y="2194560"/>
            <a:ext cx="411480" cy="411480"/>
          </a:xfrm>
          <a:prstGeom prst="roundRect">
            <a:avLst>
              <a:gd name="adj" fmla="val 11111"/>
            </a:avLst>
          </a:prstGeom>
          <a:solidFill>
            <a:srgbClr val="9A8CF0"/>
          </a:solidFill>
          <a:ln w="12700">
            <a:solidFill>
              <a:srgbClr val="333333"/>
            </a:solidFill>
            <a:prstDash val="solid"/>
          </a:ln>
        </p:spPr>
      </p:sp>
      <p:sp>
        <p:nvSpPr>
          <p:cNvPr id="11" name="Shape 9"/>
          <p:cNvSpPr/>
          <p:nvPr/>
        </p:nvSpPr>
        <p:spPr>
          <a:xfrm>
            <a:off x="1755648" y="2194560"/>
            <a:ext cx="411480" cy="411480"/>
          </a:xfrm>
          <a:prstGeom prst="roundRect">
            <a:avLst>
              <a:gd name="adj" fmla="val 11111"/>
            </a:avLst>
          </a:prstGeom>
          <a:solidFill>
            <a:srgbClr val="9A8CF0"/>
          </a:solidFill>
          <a:ln w="12700">
            <a:solidFill>
              <a:srgbClr val="333333"/>
            </a:solidFill>
            <a:prstDash val="solid"/>
          </a:ln>
        </p:spPr>
      </p:sp>
      <p:sp>
        <p:nvSpPr>
          <p:cNvPr id="12" name="Shape 10"/>
          <p:cNvSpPr/>
          <p:nvPr/>
        </p:nvSpPr>
        <p:spPr>
          <a:xfrm>
            <a:off x="2304288" y="2194560"/>
            <a:ext cx="411480" cy="411480"/>
          </a:xfrm>
          <a:prstGeom prst="roundRect">
            <a:avLst>
              <a:gd name="adj" fmla="val 11111"/>
            </a:avLst>
          </a:prstGeom>
          <a:solidFill>
            <a:srgbClr val="9A8CF0"/>
          </a:solidFill>
          <a:ln w="12700">
            <a:solidFill>
              <a:srgbClr val="333333"/>
            </a:solidFill>
            <a:prstDash val="solid"/>
          </a:ln>
        </p:spPr>
      </p:sp>
      <p:sp>
        <p:nvSpPr>
          <p:cNvPr id="13" name="Text 11"/>
          <p:cNvSpPr txBox="1"/>
          <p:nvPr/>
        </p:nvSpPr>
        <p:spPr>
          <a:xfrm>
            <a:off x="658368" y="3017520"/>
            <a:ext cx="3657600" cy="274320"/>
          </a:xfrm>
          <a:prstGeom prst="rect">
            <a:avLst/>
          </a:prstGeom>
          <a:noFill/>
          <a:ln/>
        </p:spPr>
        <p:txBody>
          <a:bodyPr wrap="square" lIns="0" tIns="0" rIns="0" bIns="0" rtlCol="0" anchor="ctr"/>
          <a:lstStyle/>
          <a:p>
            <a:pPr indent="0" marL="0">
              <a:buNone/>
            </a:pPr>
            <a:r>
              <a:rPr lang="en-US" sz="1250" b="1" dirty="0">
                <a:solidFill>
                  <a:srgbClr val="E9EDF6"/>
                </a:solidFill>
                <a:latin typeface="Nirmala UI" pitchFamily="34" charset="0"/>
                <a:ea typeface="Nirmala UI" pitchFamily="34" charset="-122"/>
                <a:cs typeface="Nirmala UI" pitchFamily="34" charset="-120"/>
              </a:rPr>
              <a:t>ক্যাশের পরে — প্রতি রিকোয়েস্টে</a:t>
            </a:r>
            <a:endParaRPr lang="en-US" sz="1250" dirty="0"/>
          </a:p>
        </p:txBody>
      </p:sp>
      <p:sp>
        <p:nvSpPr>
          <p:cNvPr id="14" name="Text 12"/>
          <p:cNvSpPr txBox="1"/>
          <p:nvPr/>
        </p:nvSpPr>
        <p:spPr>
          <a:xfrm>
            <a:off x="4315968" y="2971800"/>
            <a:ext cx="2194560" cy="365760"/>
          </a:xfrm>
          <a:prstGeom prst="rect">
            <a:avLst/>
          </a:prstGeom>
          <a:noFill/>
          <a:ln/>
        </p:spPr>
        <p:txBody>
          <a:bodyPr wrap="square" lIns="0" tIns="0" rIns="0" bIns="0" rtlCol="0" anchor="ctr"/>
          <a:lstStyle/>
          <a:p>
            <a:pPr algn="r" indent="0" marL="0">
              <a:buNone/>
            </a:pPr>
            <a:r>
              <a:rPr lang="en-US" sz="1800" b="1" dirty="0">
                <a:solidFill>
                  <a:srgbClr val="7BD88F"/>
                </a:solidFill>
                <a:latin typeface="Consolas" pitchFamily="34" charset="0"/>
                <a:ea typeface="Consolas" pitchFamily="34" charset="-122"/>
                <a:cs typeface="Consolas" pitchFamily="34" charset="-120"/>
              </a:rPr>
              <a:t>০টি DB কোয়েরি</a:t>
            </a:r>
            <a:endParaRPr lang="en-US" sz="1800" dirty="0"/>
          </a:p>
        </p:txBody>
      </p:sp>
      <p:sp>
        <p:nvSpPr>
          <p:cNvPr id="15" name="Shape 13"/>
          <p:cNvSpPr/>
          <p:nvPr/>
        </p:nvSpPr>
        <p:spPr>
          <a:xfrm>
            <a:off x="658368" y="3429000"/>
            <a:ext cx="411480" cy="411480"/>
          </a:xfrm>
          <a:prstGeom prst="roundRect">
            <a:avLst>
              <a:gd name="adj" fmla="val 11111"/>
            </a:avLst>
          </a:prstGeom>
          <a:solidFill>
            <a:srgbClr val="3FC9C0"/>
          </a:solidFill>
          <a:ln w="12700">
            <a:solidFill>
              <a:srgbClr val="333333"/>
            </a:solidFill>
            <a:prstDash val="solid"/>
          </a:ln>
        </p:spPr>
      </p:sp>
      <p:sp>
        <p:nvSpPr>
          <p:cNvPr id="16" name="Shape 14"/>
          <p:cNvSpPr/>
          <p:nvPr/>
        </p:nvSpPr>
        <p:spPr>
          <a:xfrm>
            <a:off x="1207008" y="3429000"/>
            <a:ext cx="411480" cy="411480"/>
          </a:xfrm>
          <a:prstGeom prst="roundRect">
            <a:avLst>
              <a:gd name="adj" fmla="val 11111"/>
            </a:avLst>
          </a:prstGeom>
          <a:solidFill>
            <a:srgbClr val="3FC9C0"/>
          </a:solidFill>
          <a:ln w="12700">
            <a:solidFill>
              <a:srgbClr val="333333"/>
            </a:solidFill>
            <a:prstDash val="solid"/>
          </a:ln>
        </p:spPr>
      </p:sp>
      <p:sp>
        <p:nvSpPr>
          <p:cNvPr id="17" name="Shape 15"/>
          <p:cNvSpPr/>
          <p:nvPr/>
        </p:nvSpPr>
        <p:spPr>
          <a:xfrm>
            <a:off x="1755648" y="3429000"/>
            <a:ext cx="411480" cy="411480"/>
          </a:xfrm>
          <a:prstGeom prst="roundRect">
            <a:avLst>
              <a:gd name="adj" fmla="val 11111"/>
            </a:avLst>
          </a:prstGeom>
          <a:solidFill>
            <a:srgbClr val="3FC9C0"/>
          </a:solidFill>
          <a:ln w="12700">
            <a:solidFill>
              <a:srgbClr val="333333"/>
            </a:solidFill>
            <a:prstDash val="solid"/>
          </a:ln>
        </p:spPr>
      </p:sp>
      <p:sp>
        <p:nvSpPr>
          <p:cNvPr id="18" name="Shape 16"/>
          <p:cNvSpPr/>
          <p:nvPr/>
        </p:nvSpPr>
        <p:spPr>
          <a:xfrm>
            <a:off x="2304288" y="3429000"/>
            <a:ext cx="411480" cy="411480"/>
          </a:xfrm>
          <a:prstGeom prst="roundRect">
            <a:avLst>
              <a:gd name="adj" fmla="val 11111"/>
            </a:avLst>
          </a:prstGeom>
          <a:solidFill>
            <a:srgbClr val="0C0F17"/>
          </a:solidFill>
          <a:ln w="12700">
            <a:solidFill>
              <a:srgbClr val="28303F"/>
            </a:solidFill>
            <a:prstDash val="dash"/>
          </a:ln>
        </p:spPr>
      </p:sp>
      <p:sp>
        <p:nvSpPr>
          <p:cNvPr id="19" name="Text 17"/>
          <p:cNvSpPr txBox="1"/>
          <p:nvPr/>
        </p:nvSpPr>
        <p:spPr>
          <a:xfrm>
            <a:off x="658368" y="4114800"/>
            <a:ext cx="5760720" cy="731520"/>
          </a:xfrm>
          <a:prstGeom prst="rect">
            <a:avLst/>
          </a:prstGeom>
          <a:noFill/>
          <a:ln/>
        </p:spPr>
        <p:txBody>
          <a:bodyPr wrap="square" lIns="0" tIns="0" rIns="0" bIns="0" rtlCol="0" anchor="t"/>
          <a:lstStyle/>
          <a:p>
            <a:pPr indent="0" marL="0">
              <a:buNone/>
            </a:pPr>
            <a:r>
              <a:rPr lang="en-US" sz="1150" dirty="0">
                <a:solidFill>
                  <a:srgbClr val="B4BCCE"/>
                </a:solidFill>
                <a:latin typeface="Nirmala UI" pitchFamily="34" charset="0"/>
                <a:ea typeface="Nirmala UI" pitchFamily="34" charset="-122"/>
                <a:cs typeface="Nirmala UI" pitchFamily="34" charset="-120"/>
              </a:rPr>
              <a:t>টিল রঙ = Redis থেকে এলো। এটা একটা এন্ডপয়েন্টের হিসাব না — এটা সব প্রোটেক্টেড এন্ডপয়েন্টের হিসাব, তাই লাভটা গুণিতক।</a:t>
            </a:r>
            <a:endParaRPr lang="en-US" sz="1150" dirty="0"/>
          </a:p>
        </p:txBody>
      </p:sp>
      <p:sp>
        <p:nvSpPr>
          <p:cNvPr id="20" name="Text 18"/>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১. ইউজার কে — getCachedAuthUser, TTL ৬০s। সাথে অ্যাক্টিভ ব্যান/রেস্ট্রিকশনও</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২. এই আইডিটা কোন কোর্সের — getCachedCourseContext, TTL ২ মিনিট</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৩. তার কি এই কোর্সে অ্যাক্সেস আছে — hasCourseStudentAccess, TTL ২ মিনিট</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ব্যান চেকের ট্রিক — মেয়াদোত্তীর্ণ রেস্ট্রিকশন ক্যাশ থেকে পড়ার পর ফিল্টার করা হয়, তাই ব্যান শেষ হতে TTL-এর অপেক্ষা লাগে না</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12</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TTL</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কোন ডেটা কতক্ষণ — আর কেন</a:t>
            </a:r>
            <a:endParaRPr lang="en-US" sz="2900" dirty="0"/>
          </a:p>
        </p:txBody>
      </p:sp>
      <p:sp>
        <p:nvSpPr>
          <p:cNvPr id="7" name="Text 5"/>
          <p:cNvSpPr txBox="1"/>
          <p:nvPr/>
        </p:nvSpPr>
        <p:spPr>
          <a:xfrm>
            <a:off x="658368" y="1837944"/>
            <a:ext cx="2468880" cy="365760"/>
          </a:xfrm>
          <a:prstGeom prst="rect">
            <a:avLst/>
          </a:prstGeom>
          <a:noFill/>
          <a:ln/>
        </p:spPr>
        <p:txBody>
          <a:bodyPr wrap="square" lIns="0" tIns="0" rIns="0" bIns="0" rtlCol="0" anchor="ctr"/>
          <a:lstStyle/>
          <a:p>
            <a:pPr indent="0" marL="0">
              <a:buNone/>
            </a:pPr>
            <a:r>
              <a:rPr lang="en-US" sz="1000" dirty="0">
                <a:solidFill>
                  <a:srgbClr val="B4BCCE"/>
                </a:solidFill>
                <a:latin typeface="Consolas" pitchFamily="34" charset="0"/>
                <a:ea typeface="Consolas" pitchFamily="34" charset="-122"/>
                <a:cs typeface="Consolas" pitchFamily="34" charset="-120"/>
              </a:rPr>
              <a:t>notification feed</a:t>
            </a:r>
            <a:endParaRPr lang="en-US" sz="1000" dirty="0"/>
          </a:p>
        </p:txBody>
      </p:sp>
      <p:sp>
        <p:nvSpPr>
          <p:cNvPr id="8" name="Text 6"/>
          <p:cNvSpPr txBox="1"/>
          <p:nvPr/>
        </p:nvSpPr>
        <p:spPr>
          <a:xfrm>
            <a:off x="3172968" y="1837944"/>
            <a:ext cx="914400" cy="365760"/>
          </a:xfrm>
          <a:prstGeom prst="rect">
            <a:avLst/>
          </a:prstGeom>
          <a:noFill/>
          <a:ln/>
        </p:spPr>
        <p:txBody>
          <a:bodyPr wrap="square" lIns="0" tIns="0" rIns="0" bIns="0" rtlCol="0" anchor="ctr"/>
          <a:lstStyle/>
          <a:p>
            <a:pPr algn="r" indent="0" marL="0">
              <a:buNone/>
            </a:pPr>
            <a:r>
              <a:rPr lang="en-US" sz="1150" b="1" dirty="0">
                <a:solidFill>
                  <a:srgbClr val="3FC9C0"/>
                </a:solidFill>
                <a:latin typeface="Consolas" pitchFamily="34" charset="0"/>
                <a:ea typeface="Consolas" pitchFamily="34" charset="-122"/>
                <a:cs typeface="Consolas" pitchFamily="34" charset="-120"/>
              </a:rPr>
              <a:t>২০s</a:t>
            </a:r>
            <a:endParaRPr lang="en-US" sz="1150" dirty="0"/>
          </a:p>
        </p:txBody>
      </p:sp>
      <p:sp>
        <p:nvSpPr>
          <p:cNvPr id="9" name="Text 7"/>
          <p:cNvSpPr txBox="1"/>
          <p:nvPr/>
        </p:nvSpPr>
        <p:spPr>
          <a:xfrm>
            <a:off x="4270248" y="1801368"/>
            <a:ext cx="2377440" cy="457200"/>
          </a:xfrm>
          <a:prstGeom prst="rect">
            <a:avLst/>
          </a:prstGeom>
          <a:noFill/>
          <a:ln/>
        </p:spPr>
        <p:txBody>
          <a:bodyPr wrap="square" lIns="0" tIns="0" rIns="0" bIns="0" rtlCol="0" anchor="ctr"/>
          <a:lstStyle/>
          <a:p>
            <a:pPr indent="0" marL="0">
              <a:buNone/>
            </a:pPr>
            <a:r>
              <a:rPr lang="en-US" sz="950" dirty="0">
                <a:solidFill>
                  <a:srgbClr val="7E8798"/>
                </a:solidFill>
                <a:latin typeface="Nirmala UI" pitchFamily="34" charset="0"/>
                <a:ea typeface="Nirmala UI" pitchFamily="34" charset="-122"/>
                <a:cs typeface="Nirmala UI" pitchFamily="34" charset="-120"/>
              </a:rPr>
              <a:t>ইউজার বারবার রিফ্রেশ করে, বাসি দেখালে চোখে পড়ে</a:t>
            </a:r>
            <a:endParaRPr lang="en-US" sz="950" dirty="0"/>
          </a:p>
        </p:txBody>
      </p:sp>
      <p:sp>
        <p:nvSpPr>
          <p:cNvPr id="10" name="Shape 8"/>
          <p:cNvSpPr/>
          <p:nvPr/>
        </p:nvSpPr>
        <p:spPr>
          <a:xfrm>
            <a:off x="658368" y="2258568"/>
            <a:ext cx="5989320" cy="7315"/>
          </a:xfrm>
          <a:prstGeom prst="rect">
            <a:avLst/>
          </a:prstGeom>
          <a:solidFill>
            <a:srgbClr val="28303F"/>
          </a:solidFill>
          <a:ln w="12700">
            <a:solidFill>
              <a:srgbClr val="333333"/>
            </a:solidFill>
            <a:prstDash val="solid"/>
          </a:ln>
        </p:spPr>
      </p:sp>
      <p:sp>
        <p:nvSpPr>
          <p:cNvPr id="11" name="Text 9"/>
          <p:cNvSpPr txBox="1"/>
          <p:nvPr/>
        </p:nvSpPr>
        <p:spPr>
          <a:xfrm>
            <a:off x="658368" y="2386584"/>
            <a:ext cx="2468880" cy="365760"/>
          </a:xfrm>
          <a:prstGeom prst="rect">
            <a:avLst/>
          </a:prstGeom>
          <a:noFill/>
          <a:ln/>
        </p:spPr>
        <p:txBody>
          <a:bodyPr wrap="square" lIns="0" tIns="0" rIns="0" bIns="0" rtlCol="0" anchor="ctr"/>
          <a:lstStyle/>
          <a:p>
            <a:pPr indent="0" marL="0">
              <a:buNone/>
            </a:pPr>
            <a:r>
              <a:rPr lang="en-US" sz="1000" dirty="0">
                <a:solidFill>
                  <a:srgbClr val="B4BCCE"/>
                </a:solidFill>
                <a:latin typeface="Consolas" pitchFamily="34" charset="0"/>
                <a:ea typeface="Consolas" pitchFamily="34" charset="-122"/>
                <a:cs typeface="Consolas" pitchFamily="34" charset="-120"/>
              </a:rPr>
              <a:t>course catalog · my-courses</a:t>
            </a:r>
            <a:endParaRPr lang="en-US" sz="1000" dirty="0"/>
          </a:p>
        </p:txBody>
      </p:sp>
      <p:sp>
        <p:nvSpPr>
          <p:cNvPr id="12" name="Text 10"/>
          <p:cNvSpPr txBox="1"/>
          <p:nvPr/>
        </p:nvSpPr>
        <p:spPr>
          <a:xfrm>
            <a:off x="3172968" y="2386584"/>
            <a:ext cx="914400" cy="365760"/>
          </a:xfrm>
          <a:prstGeom prst="rect">
            <a:avLst/>
          </a:prstGeom>
          <a:noFill/>
          <a:ln/>
        </p:spPr>
        <p:txBody>
          <a:bodyPr wrap="square" lIns="0" tIns="0" rIns="0" bIns="0" rtlCol="0" anchor="ctr"/>
          <a:lstStyle/>
          <a:p>
            <a:pPr algn="r" indent="0" marL="0">
              <a:buNone/>
            </a:pPr>
            <a:r>
              <a:rPr lang="en-US" sz="1150" b="1" dirty="0">
                <a:solidFill>
                  <a:srgbClr val="3FC9C0"/>
                </a:solidFill>
                <a:latin typeface="Consolas" pitchFamily="34" charset="0"/>
                <a:ea typeface="Consolas" pitchFamily="34" charset="-122"/>
                <a:cs typeface="Consolas" pitchFamily="34" charset="-120"/>
              </a:rPr>
              <a:t>৩০s</a:t>
            </a:r>
            <a:endParaRPr lang="en-US" sz="1150" dirty="0"/>
          </a:p>
        </p:txBody>
      </p:sp>
      <p:sp>
        <p:nvSpPr>
          <p:cNvPr id="13" name="Text 11"/>
          <p:cNvSpPr txBox="1"/>
          <p:nvPr/>
        </p:nvSpPr>
        <p:spPr>
          <a:xfrm>
            <a:off x="4270248" y="2350008"/>
            <a:ext cx="2377440" cy="457200"/>
          </a:xfrm>
          <a:prstGeom prst="rect">
            <a:avLst/>
          </a:prstGeom>
          <a:noFill/>
          <a:ln/>
        </p:spPr>
        <p:txBody>
          <a:bodyPr wrap="square" lIns="0" tIns="0" rIns="0" bIns="0" rtlCol="0" anchor="ctr"/>
          <a:lstStyle/>
          <a:p>
            <a:pPr indent="0" marL="0">
              <a:buNone/>
            </a:pPr>
            <a:r>
              <a:rPr lang="en-US" sz="950" dirty="0">
                <a:solidFill>
                  <a:srgbClr val="7E8798"/>
                </a:solidFill>
                <a:latin typeface="Nirmala UI" pitchFamily="34" charset="0"/>
                <a:ea typeface="Nirmala UI" pitchFamily="34" charset="-122"/>
                <a:cs typeface="Nirmala UI" pitchFamily="34" charset="-120"/>
              </a:rPr>
              <a:t>ভার্সন বাম্প আছে, তাই TTL শুধু শেষ ভরসা</a:t>
            </a:r>
            <a:endParaRPr lang="en-US" sz="950" dirty="0"/>
          </a:p>
        </p:txBody>
      </p:sp>
      <p:sp>
        <p:nvSpPr>
          <p:cNvPr id="14" name="Shape 12"/>
          <p:cNvSpPr/>
          <p:nvPr/>
        </p:nvSpPr>
        <p:spPr>
          <a:xfrm>
            <a:off x="658368" y="2807208"/>
            <a:ext cx="5989320" cy="7315"/>
          </a:xfrm>
          <a:prstGeom prst="rect">
            <a:avLst/>
          </a:prstGeom>
          <a:solidFill>
            <a:srgbClr val="28303F"/>
          </a:solidFill>
          <a:ln w="12700">
            <a:solidFill>
              <a:srgbClr val="333333"/>
            </a:solidFill>
            <a:prstDash val="solid"/>
          </a:ln>
        </p:spPr>
      </p:sp>
      <p:sp>
        <p:nvSpPr>
          <p:cNvPr id="15" name="Text 13"/>
          <p:cNvSpPr txBox="1"/>
          <p:nvPr/>
        </p:nvSpPr>
        <p:spPr>
          <a:xfrm>
            <a:off x="658368" y="2935224"/>
            <a:ext cx="2468880" cy="365760"/>
          </a:xfrm>
          <a:prstGeom prst="rect">
            <a:avLst/>
          </a:prstGeom>
          <a:noFill/>
          <a:ln/>
        </p:spPr>
        <p:txBody>
          <a:bodyPr wrap="square" lIns="0" tIns="0" rIns="0" bIns="0" rtlCol="0" anchor="ctr"/>
          <a:lstStyle/>
          <a:p>
            <a:pPr indent="0" marL="0">
              <a:buNone/>
            </a:pPr>
            <a:r>
              <a:rPr lang="en-US" sz="1000" dirty="0">
                <a:solidFill>
                  <a:srgbClr val="B4BCCE"/>
                </a:solidFill>
                <a:latin typeface="Consolas" pitchFamily="34" charset="0"/>
                <a:ea typeface="Consolas" pitchFamily="34" charset="-122"/>
                <a:cs typeface="Consolas" pitchFamily="34" charset="-120"/>
              </a:rPr>
              <a:t>auth user · session</a:t>
            </a:r>
            <a:endParaRPr lang="en-US" sz="1000" dirty="0"/>
          </a:p>
        </p:txBody>
      </p:sp>
      <p:sp>
        <p:nvSpPr>
          <p:cNvPr id="16" name="Text 14"/>
          <p:cNvSpPr txBox="1"/>
          <p:nvPr/>
        </p:nvSpPr>
        <p:spPr>
          <a:xfrm>
            <a:off x="3172968" y="2935224"/>
            <a:ext cx="914400" cy="365760"/>
          </a:xfrm>
          <a:prstGeom prst="rect">
            <a:avLst/>
          </a:prstGeom>
          <a:noFill/>
          <a:ln/>
        </p:spPr>
        <p:txBody>
          <a:bodyPr wrap="square" lIns="0" tIns="0" rIns="0" bIns="0" rtlCol="0" anchor="ctr"/>
          <a:lstStyle/>
          <a:p>
            <a:pPr algn="r" indent="0" marL="0">
              <a:buNone/>
            </a:pPr>
            <a:r>
              <a:rPr lang="en-US" sz="1150" b="1" dirty="0">
                <a:solidFill>
                  <a:srgbClr val="3FC9C0"/>
                </a:solidFill>
                <a:latin typeface="Consolas" pitchFamily="34" charset="0"/>
                <a:ea typeface="Consolas" pitchFamily="34" charset="-122"/>
                <a:cs typeface="Consolas" pitchFamily="34" charset="-120"/>
              </a:rPr>
              <a:t>৬০s</a:t>
            </a:r>
            <a:endParaRPr lang="en-US" sz="1150" dirty="0"/>
          </a:p>
        </p:txBody>
      </p:sp>
      <p:sp>
        <p:nvSpPr>
          <p:cNvPr id="17" name="Text 15"/>
          <p:cNvSpPr txBox="1"/>
          <p:nvPr/>
        </p:nvSpPr>
        <p:spPr>
          <a:xfrm>
            <a:off x="4270248" y="2898648"/>
            <a:ext cx="2377440" cy="457200"/>
          </a:xfrm>
          <a:prstGeom prst="rect">
            <a:avLst/>
          </a:prstGeom>
          <a:noFill/>
          <a:ln/>
        </p:spPr>
        <p:txBody>
          <a:bodyPr wrap="square" lIns="0" tIns="0" rIns="0" bIns="0" rtlCol="0" anchor="ctr"/>
          <a:lstStyle/>
          <a:p>
            <a:pPr indent="0" marL="0">
              <a:buNone/>
            </a:pPr>
            <a:r>
              <a:rPr lang="en-US" sz="950" dirty="0">
                <a:solidFill>
                  <a:srgbClr val="7E8798"/>
                </a:solidFill>
                <a:latin typeface="Nirmala UI" pitchFamily="34" charset="0"/>
                <a:ea typeface="Nirmala UI" pitchFamily="34" charset="-122"/>
                <a:cs typeface="Nirmala UI" pitchFamily="34" charset="-120"/>
              </a:rPr>
              <a:t>ব্যান বা ডিঅ্যাক্টিভেট ১ মিনিটের মধ্যে কার্যকর হতেই হবে</a:t>
            </a:r>
            <a:endParaRPr lang="en-US" sz="950" dirty="0"/>
          </a:p>
        </p:txBody>
      </p:sp>
      <p:sp>
        <p:nvSpPr>
          <p:cNvPr id="18" name="Shape 16"/>
          <p:cNvSpPr/>
          <p:nvPr/>
        </p:nvSpPr>
        <p:spPr>
          <a:xfrm>
            <a:off x="658368" y="3355848"/>
            <a:ext cx="5989320" cy="7315"/>
          </a:xfrm>
          <a:prstGeom prst="rect">
            <a:avLst/>
          </a:prstGeom>
          <a:solidFill>
            <a:srgbClr val="28303F"/>
          </a:solidFill>
          <a:ln w="12700">
            <a:solidFill>
              <a:srgbClr val="333333"/>
            </a:solidFill>
            <a:prstDash val="solid"/>
          </a:ln>
        </p:spPr>
      </p:sp>
      <p:sp>
        <p:nvSpPr>
          <p:cNvPr id="19" name="Text 17"/>
          <p:cNvSpPr txBox="1"/>
          <p:nvPr/>
        </p:nvSpPr>
        <p:spPr>
          <a:xfrm>
            <a:off x="658368" y="3483864"/>
            <a:ext cx="2468880" cy="365760"/>
          </a:xfrm>
          <a:prstGeom prst="rect">
            <a:avLst/>
          </a:prstGeom>
          <a:noFill/>
          <a:ln/>
        </p:spPr>
        <p:txBody>
          <a:bodyPr wrap="square" lIns="0" tIns="0" rIns="0" bIns="0" rtlCol="0" anchor="ctr"/>
          <a:lstStyle/>
          <a:p>
            <a:pPr indent="0" marL="0">
              <a:buNone/>
            </a:pPr>
            <a:r>
              <a:rPr lang="en-US" sz="1000" dirty="0">
                <a:solidFill>
                  <a:srgbClr val="B4BCCE"/>
                </a:solidFill>
                <a:latin typeface="Consolas" pitchFamily="34" charset="0"/>
                <a:ea typeface="Consolas" pitchFamily="34" charset="-122"/>
                <a:cs typeface="Consolas" pitchFamily="34" charset="-120"/>
              </a:rPr>
              <a:t>authz · membership</a:t>
            </a:r>
            <a:endParaRPr lang="en-US" sz="1000" dirty="0"/>
          </a:p>
        </p:txBody>
      </p:sp>
      <p:sp>
        <p:nvSpPr>
          <p:cNvPr id="20" name="Text 18"/>
          <p:cNvSpPr txBox="1"/>
          <p:nvPr/>
        </p:nvSpPr>
        <p:spPr>
          <a:xfrm>
            <a:off x="3172968" y="3483864"/>
            <a:ext cx="914400" cy="365760"/>
          </a:xfrm>
          <a:prstGeom prst="rect">
            <a:avLst/>
          </a:prstGeom>
          <a:noFill/>
          <a:ln/>
        </p:spPr>
        <p:txBody>
          <a:bodyPr wrap="square" lIns="0" tIns="0" rIns="0" bIns="0" rtlCol="0" anchor="ctr"/>
          <a:lstStyle/>
          <a:p>
            <a:pPr algn="r" indent="0" marL="0">
              <a:buNone/>
            </a:pPr>
            <a:r>
              <a:rPr lang="en-US" sz="1150" b="1" dirty="0">
                <a:solidFill>
                  <a:srgbClr val="3FC9C0"/>
                </a:solidFill>
                <a:latin typeface="Consolas" pitchFamily="34" charset="0"/>
                <a:ea typeface="Consolas" pitchFamily="34" charset="-122"/>
                <a:cs typeface="Consolas" pitchFamily="34" charset="-120"/>
              </a:rPr>
              <a:t>২ মিনিট</a:t>
            </a:r>
            <a:endParaRPr lang="en-US" sz="1150" dirty="0"/>
          </a:p>
        </p:txBody>
      </p:sp>
      <p:sp>
        <p:nvSpPr>
          <p:cNvPr id="21" name="Text 19"/>
          <p:cNvSpPr txBox="1"/>
          <p:nvPr/>
        </p:nvSpPr>
        <p:spPr>
          <a:xfrm>
            <a:off x="4270248" y="3447288"/>
            <a:ext cx="2377440" cy="457200"/>
          </a:xfrm>
          <a:prstGeom prst="rect">
            <a:avLst/>
          </a:prstGeom>
          <a:noFill/>
          <a:ln/>
        </p:spPr>
        <p:txBody>
          <a:bodyPr wrap="square" lIns="0" tIns="0" rIns="0" bIns="0" rtlCol="0" anchor="ctr"/>
          <a:lstStyle/>
          <a:p>
            <a:pPr indent="0" marL="0">
              <a:buNone/>
            </a:pPr>
            <a:r>
              <a:rPr lang="en-US" sz="950" dirty="0">
                <a:solidFill>
                  <a:srgbClr val="7E8798"/>
                </a:solidFill>
                <a:latin typeface="Nirmala UI" pitchFamily="34" charset="0"/>
                <a:ea typeface="Nirmala UI" pitchFamily="34" charset="-122"/>
                <a:cs typeface="Nirmala UI" pitchFamily="34" charset="-120"/>
              </a:rPr>
              <a:t>এনরোলমেন্ট বদলালে সরাসরি DELETE হয়, তাই লম্বা TTL নিরাপদ</a:t>
            </a:r>
            <a:endParaRPr lang="en-US" sz="950" dirty="0"/>
          </a:p>
        </p:txBody>
      </p:sp>
      <p:sp>
        <p:nvSpPr>
          <p:cNvPr id="22" name="Shape 20"/>
          <p:cNvSpPr/>
          <p:nvPr/>
        </p:nvSpPr>
        <p:spPr>
          <a:xfrm>
            <a:off x="658368" y="3904488"/>
            <a:ext cx="5989320" cy="7315"/>
          </a:xfrm>
          <a:prstGeom prst="rect">
            <a:avLst/>
          </a:prstGeom>
          <a:solidFill>
            <a:srgbClr val="28303F"/>
          </a:solidFill>
          <a:ln w="12700">
            <a:solidFill>
              <a:srgbClr val="333333"/>
            </a:solidFill>
            <a:prstDash val="solid"/>
          </a:ln>
        </p:spPr>
      </p:sp>
      <p:sp>
        <p:nvSpPr>
          <p:cNvPr id="23" name="Text 21"/>
          <p:cNvSpPr txBox="1"/>
          <p:nvPr/>
        </p:nvSpPr>
        <p:spPr>
          <a:xfrm>
            <a:off x="658368" y="4032504"/>
            <a:ext cx="2468880" cy="365760"/>
          </a:xfrm>
          <a:prstGeom prst="rect">
            <a:avLst/>
          </a:prstGeom>
          <a:noFill/>
          <a:ln/>
        </p:spPr>
        <p:txBody>
          <a:bodyPr wrap="square" lIns="0" tIns="0" rIns="0" bIns="0" rtlCol="0" anchor="ctr"/>
          <a:lstStyle/>
          <a:p>
            <a:pPr indent="0" marL="0">
              <a:buNone/>
            </a:pPr>
            <a:r>
              <a:rPr lang="en-US" sz="1000" dirty="0">
                <a:solidFill>
                  <a:srgbClr val="B4BCCE"/>
                </a:solidFill>
                <a:latin typeface="Consolas" pitchFamily="34" charset="0"/>
                <a:ea typeface="Consolas" pitchFamily="34" charset="-122"/>
                <a:cs typeface="Consolas" pitchFamily="34" charset="-120"/>
              </a:rPr>
              <a:t>live class list</a:t>
            </a:r>
            <a:endParaRPr lang="en-US" sz="1000" dirty="0"/>
          </a:p>
        </p:txBody>
      </p:sp>
      <p:sp>
        <p:nvSpPr>
          <p:cNvPr id="24" name="Text 22"/>
          <p:cNvSpPr txBox="1"/>
          <p:nvPr/>
        </p:nvSpPr>
        <p:spPr>
          <a:xfrm>
            <a:off x="3172968" y="4032504"/>
            <a:ext cx="914400" cy="365760"/>
          </a:xfrm>
          <a:prstGeom prst="rect">
            <a:avLst/>
          </a:prstGeom>
          <a:noFill/>
          <a:ln/>
        </p:spPr>
        <p:txBody>
          <a:bodyPr wrap="square" lIns="0" tIns="0" rIns="0" bIns="0" rtlCol="0" anchor="ctr"/>
          <a:lstStyle/>
          <a:p>
            <a:pPr algn="r" indent="0" marL="0">
              <a:buNone/>
            </a:pPr>
            <a:r>
              <a:rPr lang="en-US" sz="1150" b="1" dirty="0">
                <a:solidFill>
                  <a:srgbClr val="3FC9C0"/>
                </a:solidFill>
                <a:latin typeface="Consolas" pitchFamily="34" charset="0"/>
                <a:ea typeface="Consolas" pitchFamily="34" charset="-122"/>
                <a:cs typeface="Consolas" pitchFamily="34" charset="-120"/>
              </a:rPr>
              <a:t>২ মিনিট</a:t>
            </a:r>
            <a:endParaRPr lang="en-US" sz="1150" dirty="0"/>
          </a:p>
        </p:txBody>
      </p:sp>
      <p:sp>
        <p:nvSpPr>
          <p:cNvPr id="25" name="Text 23"/>
          <p:cNvSpPr txBox="1"/>
          <p:nvPr/>
        </p:nvSpPr>
        <p:spPr>
          <a:xfrm>
            <a:off x="4270248" y="3995928"/>
            <a:ext cx="2377440" cy="457200"/>
          </a:xfrm>
          <a:prstGeom prst="rect">
            <a:avLst/>
          </a:prstGeom>
          <a:noFill/>
          <a:ln/>
        </p:spPr>
        <p:txBody>
          <a:bodyPr wrap="square" lIns="0" tIns="0" rIns="0" bIns="0" rtlCol="0" anchor="ctr"/>
          <a:lstStyle/>
          <a:p>
            <a:pPr indent="0" marL="0">
              <a:buNone/>
            </a:pPr>
            <a:r>
              <a:rPr lang="en-US" sz="950" dirty="0">
                <a:solidFill>
                  <a:srgbClr val="7E8798"/>
                </a:solidFill>
                <a:latin typeface="Nirmala UI" pitchFamily="34" charset="0"/>
                <a:ea typeface="Nirmala UI" pitchFamily="34" charset="-122"/>
                <a:cs typeface="Nirmala UI" pitchFamily="34" charset="-120"/>
              </a:rPr>
              <a:t>রুটিন ঘন ঘন বদলায় না</a:t>
            </a:r>
            <a:endParaRPr lang="en-US" sz="950" dirty="0"/>
          </a:p>
        </p:txBody>
      </p:sp>
      <p:sp>
        <p:nvSpPr>
          <p:cNvPr id="26" name="Shape 24"/>
          <p:cNvSpPr/>
          <p:nvPr/>
        </p:nvSpPr>
        <p:spPr>
          <a:xfrm>
            <a:off x="658368" y="4453128"/>
            <a:ext cx="5989320" cy="7315"/>
          </a:xfrm>
          <a:prstGeom prst="rect">
            <a:avLst/>
          </a:prstGeom>
          <a:solidFill>
            <a:srgbClr val="28303F"/>
          </a:solidFill>
          <a:ln w="12700">
            <a:solidFill>
              <a:srgbClr val="333333"/>
            </a:solidFill>
            <a:prstDash val="solid"/>
          </a:ln>
        </p:spPr>
      </p:sp>
      <p:sp>
        <p:nvSpPr>
          <p:cNvPr id="27" name="Text 25"/>
          <p:cNvSpPr txBox="1"/>
          <p:nvPr/>
        </p:nvSpPr>
        <p:spPr>
          <a:xfrm>
            <a:off x="658368" y="4581144"/>
            <a:ext cx="2468880" cy="365760"/>
          </a:xfrm>
          <a:prstGeom prst="rect">
            <a:avLst/>
          </a:prstGeom>
          <a:noFill/>
          <a:ln/>
        </p:spPr>
        <p:txBody>
          <a:bodyPr wrap="square" lIns="0" tIns="0" rIns="0" bIns="0" rtlCol="0" anchor="ctr"/>
          <a:lstStyle/>
          <a:p>
            <a:pPr indent="0" marL="0">
              <a:buNone/>
            </a:pPr>
            <a:r>
              <a:rPr lang="en-US" sz="1000" dirty="0">
                <a:solidFill>
                  <a:srgbClr val="B4BCCE"/>
                </a:solidFill>
                <a:latin typeface="Consolas" pitchFamily="34" charset="0"/>
                <a:ea typeface="Consolas" pitchFamily="34" charset="-122"/>
                <a:cs typeface="Consolas" pitchFamily="34" charset="-120"/>
              </a:rPr>
              <a:t>push token list</a:t>
            </a:r>
            <a:endParaRPr lang="en-US" sz="1000" dirty="0"/>
          </a:p>
        </p:txBody>
      </p:sp>
      <p:sp>
        <p:nvSpPr>
          <p:cNvPr id="28" name="Text 26"/>
          <p:cNvSpPr txBox="1"/>
          <p:nvPr/>
        </p:nvSpPr>
        <p:spPr>
          <a:xfrm>
            <a:off x="3172968" y="4581144"/>
            <a:ext cx="914400" cy="365760"/>
          </a:xfrm>
          <a:prstGeom prst="rect">
            <a:avLst/>
          </a:prstGeom>
          <a:noFill/>
          <a:ln/>
        </p:spPr>
        <p:txBody>
          <a:bodyPr wrap="square" lIns="0" tIns="0" rIns="0" bIns="0" rtlCol="0" anchor="ctr"/>
          <a:lstStyle/>
          <a:p>
            <a:pPr algn="r" indent="0" marL="0">
              <a:buNone/>
            </a:pPr>
            <a:r>
              <a:rPr lang="en-US" sz="1150" b="1" dirty="0">
                <a:solidFill>
                  <a:srgbClr val="3FC9C0"/>
                </a:solidFill>
                <a:latin typeface="Consolas" pitchFamily="34" charset="0"/>
                <a:ea typeface="Consolas" pitchFamily="34" charset="-122"/>
                <a:cs typeface="Consolas" pitchFamily="34" charset="-120"/>
              </a:rPr>
              <a:t>১০ মিনিট</a:t>
            </a:r>
            <a:endParaRPr lang="en-US" sz="1150" dirty="0"/>
          </a:p>
        </p:txBody>
      </p:sp>
      <p:sp>
        <p:nvSpPr>
          <p:cNvPr id="29" name="Text 27"/>
          <p:cNvSpPr txBox="1"/>
          <p:nvPr/>
        </p:nvSpPr>
        <p:spPr>
          <a:xfrm>
            <a:off x="4270248" y="4544568"/>
            <a:ext cx="2377440" cy="457200"/>
          </a:xfrm>
          <a:prstGeom prst="rect">
            <a:avLst/>
          </a:prstGeom>
          <a:noFill/>
          <a:ln/>
        </p:spPr>
        <p:txBody>
          <a:bodyPr wrap="square" lIns="0" tIns="0" rIns="0" bIns="0" rtlCol="0" anchor="ctr"/>
          <a:lstStyle/>
          <a:p>
            <a:pPr indent="0" marL="0">
              <a:buNone/>
            </a:pPr>
            <a:r>
              <a:rPr lang="en-US" sz="950" dirty="0">
                <a:solidFill>
                  <a:srgbClr val="7E8798"/>
                </a:solidFill>
                <a:latin typeface="Nirmala UI" pitchFamily="34" charset="0"/>
                <a:ea typeface="Nirmala UI" pitchFamily="34" charset="-122"/>
                <a:cs typeface="Nirmala UI" pitchFamily="34" charset="-120"/>
              </a:rPr>
              <a:t>টোকেন প্রায় বদলায়ই না</a:t>
            </a:r>
            <a:endParaRPr lang="en-US" sz="950" dirty="0"/>
          </a:p>
        </p:txBody>
      </p:sp>
      <p:sp>
        <p:nvSpPr>
          <p:cNvPr id="30" name="Shape 28"/>
          <p:cNvSpPr/>
          <p:nvPr/>
        </p:nvSpPr>
        <p:spPr>
          <a:xfrm>
            <a:off x="658368" y="5001768"/>
            <a:ext cx="5989320" cy="7315"/>
          </a:xfrm>
          <a:prstGeom prst="rect">
            <a:avLst/>
          </a:prstGeom>
          <a:solidFill>
            <a:srgbClr val="28303F"/>
          </a:solidFill>
          <a:ln w="12700">
            <a:solidFill>
              <a:srgbClr val="333333"/>
            </a:solidFill>
            <a:prstDash val="solid"/>
          </a:ln>
        </p:spPr>
      </p:sp>
      <p:sp>
        <p:nvSpPr>
          <p:cNvPr id="31" name="Text 29"/>
          <p:cNvSpPr txBox="1"/>
          <p:nvPr/>
        </p:nvSpPr>
        <p:spPr>
          <a:xfrm>
            <a:off x="658368" y="5129784"/>
            <a:ext cx="2468880" cy="365760"/>
          </a:xfrm>
          <a:prstGeom prst="rect">
            <a:avLst/>
          </a:prstGeom>
          <a:noFill/>
          <a:ln/>
        </p:spPr>
        <p:txBody>
          <a:bodyPr wrap="square" lIns="0" tIns="0" rIns="0" bIns="0" rtlCol="0" anchor="ctr"/>
          <a:lstStyle/>
          <a:p>
            <a:pPr indent="0" marL="0">
              <a:buNone/>
            </a:pPr>
            <a:r>
              <a:rPr lang="en-US" sz="1000" dirty="0">
                <a:solidFill>
                  <a:srgbClr val="B4BCCE"/>
                </a:solidFill>
                <a:latin typeface="Consolas" pitchFamily="34" charset="0"/>
                <a:ea typeface="Consolas" pitchFamily="34" charset="-122"/>
                <a:cs typeface="Consolas" pitchFamily="34" charset="-120"/>
              </a:rPr>
              <a:t>socket user (chat)</a:t>
            </a:r>
            <a:endParaRPr lang="en-US" sz="1000" dirty="0"/>
          </a:p>
        </p:txBody>
      </p:sp>
      <p:sp>
        <p:nvSpPr>
          <p:cNvPr id="32" name="Text 30"/>
          <p:cNvSpPr txBox="1"/>
          <p:nvPr/>
        </p:nvSpPr>
        <p:spPr>
          <a:xfrm>
            <a:off x="3172968" y="5129784"/>
            <a:ext cx="914400" cy="365760"/>
          </a:xfrm>
          <a:prstGeom prst="rect">
            <a:avLst/>
          </a:prstGeom>
          <a:noFill/>
          <a:ln/>
        </p:spPr>
        <p:txBody>
          <a:bodyPr wrap="square" lIns="0" tIns="0" rIns="0" bIns="0" rtlCol="0" anchor="ctr"/>
          <a:lstStyle/>
          <a:p>
            <a:pPr algn="r" indent="0" marL="0">
              <a:buNone/>
            </a:pPr>
            <a:r>
              <a:rPr lang="en-US" sz="1150" b="1" dirty="0">
                <a:solidFill>
                  <a:srgbClr val="3FC9C0"/>
                </a:solidFill>
                <a:latin typeface="Consolas" pitchFamily="34" charset="0"/>
                <a:ea typeface="Consolas" pitchFamily="34" charset="-122"/>
                <a:cs typeface="Consolas" pitchFamily="34" charset="-120"/>
              </a:rPr>
              <a:t>১২০s</a:t>
            </a:r>
            <a:endParaRPr lang="en-US" sz="1150" dirty="0"/>
          </a:p>
        </p:txBody>
      </p:sp>
      <p:sp>
        <p:nvSpPr>
          <p:cNvPr id="33" name="Text 31"/>
          <p:cNvSpPr txBox="1"/>
          <p:nvPr/>
        </p:nvSpPr>
        <p:spPr>
          <a:xfrm>
            <a:off x="4270248" y="5093208"/>
            <a:ext cx="2377440" cy="457200"/>
          </a:xfrm>
          <a:prstGeom prst="rect">
            <a:avLst/>
          </a:prstGeom>
          <a:noFill/>
          <a:ln/>
        </p:spPr>
        <p:txBody>
          <a:bodyPr wrap="square" lIns="0" tIns="0" rIns="0" bIns="0" rtlCol="0" anchor="ctr"/>
          <a:lstStyle/>
          <a:p>
            <a:pPr indent="0" marL="0">
              <a:buNone/>
            </a:pPr>
            <a:r>
              <a:rPr lang="en-US" sz="950" dirty="0">
                <a:solidFill>
                  <a:srgbClr val="7E8798"/>
                </a:solidFill>
                <a:latin typeface="Nirmala UI" pitchFamily="34" charset="0"/>
                <a:ea typeface="Nirmala UI" pitchFamily="34" charset="-122"/>
                <a:cs typeface="Nirmala UI" pitchFamily="34" charset="-120"/>
              </a:rPr>
              <a:t>নাম আর অ্যাভাটার — একটু বাসি হলেও ক্ষতি নেই</a:t>
            </a:r>
            <a:endParaRPr lang="en-US" sz="950" dirty="0"/>
          </a:p>
        </p:txBody>
      </p:sp>
      <p:sp>
        <p:nvSpPr>
          <p:cNvPr id="34" name="Shape 32"/>
          <p:cNvSpPr/>
          <p:nvPr/>
        </p:nvSpPr>
        <p:spPr>
          <a:xfrm>
            <a:off x="658368" y="5550408"/>
            <a:ext cx="5989320" cy="7315"/>
          </a:xfrm>
          <a:prstGeom prst="rect">
            <a:avLst/>
          </a:prstGeom>
          <a:solidFill>
            <a:srgbClr val="28303F"/>
          </a:solidFill>
          <a:ln w="12700">
            <a:solidFill>
              <a:srgbClr val="333333"/>
            </a:solidFill>
            <a:prstDash val="solid"/>
          </a:ln>
        </p:spPr>
      </p:sp>
      <p:sp>
        <p:nvSpPr>
          <p:cNvPr id="35" name="Text 33"/>
          <p:cNvSpPr txBox="1"/>
          <p:nvPr/>
        </p:nvSpPr>
        <p:spPr>
          <a:xfrm>
            <a:off x="6949440" y="1783080"/>
            <a:ext cx="457200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নিয়মটা সহজ — TTL ঠিক করে ডেটার গুরুত্ব, আকার নয়। ভুল ডেটা দেখালে কতটা ক্ষতি, সেটাই প্রশ্ন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অথ কেন মাত্র ৬০s — কাউকে ব্যান করার পর সে যদি ৫ মিনিট ঢুকতে পারে, সেটা নিরাপত্তার সমস্যা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পারমিশন কেন ২ মিনিট — কারণ এখানে সরাসরি DELETE-ও আছে। TTL শুধু সেফটি নেট</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যেখানে ইনভ্যালিডেশন নেই, সেখানে TTL ছোট — এটাই মূল ট্রেড-অফ</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13</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রিয়েলটাইম ১/৫</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Pub/Sub — ছয়টা প্রসেস, একটাই রুম</a:t>
            </a:r>
            <a:endParaRPr lang="en-US" sz="2900" dirty="0"/>
          </a:p>
        </p:txBody>
      </p:sp>
      <p:sp>
        <p:nvSpPr>
          <p:cNvPr id="7" name="Shape 5"/>
          <p:cNvSpPr/>
          <p:nvPr/>
        </p:nvSpPr>
        <p:spPr>
          <a:xfrm>
            <a:off x="658368" y="2377440"/>
            <a:ext cx="2286000" cy="1188720"/>
          </a:xfrm>
          <a:prstGeom prst="roundRect">
            <a:avLst>
              <a:gd name="adj" fmla="val 4615"/>
            </a:avLst>
          </a:prstGeom>
          <a:solidFill>
            <a:srgbClr val="161B28"/>
          </a:solidFill>
          <a:ln w="12700">
            <a:solidFill>
              <a:srgbClr val="1E6A66"/>
            </a:solidFill>
            <a:prstDash val="solid"/>
          </a:ln>
        </p:spPr>
      </p:sp>
      <p:sp>
        <p:nvSpPr>
          <p:cNvPr id="8" name="Text 6"/>
          <p:cNvSpPr txBox="1"/>
          <p:nvPr/>
        </p:nvSpPr>
        <p:spPr>
          <a:xfrm>
            <a:off x="841248" y="2523744"/>
            <a:ext cx="1920240" cy="201168"/>
          </a:xfrm>
          <a:prstGeom prst="rect">
            <a:avLst/>
          </a:prstGeom>
          <a:noFill/>
          <a:ln/>
        </p:spPr>
        <p:txBody>
          <a:bodyPr wrap="square" lIns="0" tIns="0" rIns="0" bIns="0" rtlCol="0" anchor="ctr"/>
          <a:lstStyle/>
          <a:p>
            <a:pPr indent="0" marL="0">
              <a:buNone/>
            </a:pPr>
            <a:r>
              <a:rPr lang="en-US" sz="850" spc="140" kern="0" dirty="0">
                <a:solidFill>
                  <a:srgbClr val="3FC9C0"/>
                </a:solidFill>
                <a:latin typeface="Consolas" pitchFamily="34" charset="0"/>
                <a:ea typeface="Consolas" pitchFamily="34" charset="-122"/>
                <a:cs typeface="Consolas" pitchFamily="34" charset="-120"/>
              </a:rPr>
              <a:t>REDIS</a:t>
            </a:r>
            <a:endParaRPr lang="en-US" sz="850" dirty="0"/>
          </a:p>
        </p:txBody>
      </p:sp>
      <p:sp>
        <p:nvSpPr>
          <p:cNvPr id="9" name="Text 7"/>
          <p:cNvSpPr txBox="1"/>
          <p:nvPr/>
        </p:nvSpPr>
        <p:spPr>
          <a:xfrm>
            <a:off x="841248" y="2761488"/>
            <a:ext cx="1920240" cy="411480"/>
          </a:xfrm>
          <a:prstGeom prst="rect">
            <a:avLst/>
          </a:prstGeom>
          <a:noFill/>
          <a:ln/>
        </p:spPr>
        <p:txBody>
          <a:bodyPr wrap="square" lIns="0" tIns="0" rIns="0" bIns="0" rtlCol="0" anchor="t"/>
          <a:lstStyle/>
          <a:p>
            <a:pPr indent="0" marL="0">
              <a:buNone/>
            </a:pPr>
            <a:r>
              <a:rPr lang="en-US" sz="1500" b="1" dirty="0">
                <a:solidFill>
                  <a:srgbClr val="E9EDF6"/>
                </a:solidFill>
                <a:latin typeface="Nirmala UI" pitchFamily="34" charset="0"/>
                <a:ea typeface="Nirmala UI" pitchFamily="34" charset="-122"/>
                <a:cs typeface="Nirmala UI" pitchFamily="34" charset="-120"/>
              </a:rPr>
              <a:t>Pub/Sub</a:t>
            </a:r>
            <a:endParaRPr lang="en-US" sz="1500" dirty="0"/>
          </a:p>
        </p:txBody>
      </p:sp>
      <p:sp>
        <p:nvSpPr>
          <p:cNvPr id="10" name="Text 8"/>
          <p:cNvSpPr txBox="1"/>
          <p:nvPr/>
        </p:nvSpPr>
        <p:spPr>
          <a:xfrm>
            <a:off x="841248" y="3172968"/>
            <a:ext cx="1920240" cy="320040"/>
          </a:xfrm>
          <a:prstGeom prst="rect">
            <a:avLst/>
          </a:prstGeom>
          <a:noFill/>
          <a:ln/>
        </p:spPr>
        <p:txBody>
          <a:bodyPr wrap="square" lIns="0" tIns="0" rIns="0" bIns="0" rtlCol="0" anchor="t"/>
          <a:lstStyle/>
          <a:p>
            <a:pPr indent="0" marL="0">
              <a:buNone/>
            </a:pPr>
            <a:r>
              <a:rPr lang="en-US" sz="1050" dirty="0">
                <a:solidFill>
                  <a:srgbClr val="B4BCCE"/>
                </a:solidFill>
                <a:latin typeface="Nirmala UI" pitchFamily="34" charset="0"/>
                <a:ea typeface="Nirmala UI" pitchFamily="34" charset="-122"/>
                <a:cs typeface="Nirmala UI" pitchFamily="34" charset="-120"/>
              </a:rPr>
              <a:t>sharded adapter</a:t>
            </a:r>
            <a:endParaRPr lang="en-US" sz="1050" dirty="0"/>
          </a:p>
        </p:txBody>
      </p:sp>
      <p:sp>
        <p:nvSpPr>
          <p:cNvPr id="11" name="Shape 9"/>
          <p:cNvSpPr/>
          <p:nvPr/>
        </p:nvSpPr>
        <p:spPr>
          <a:xfrm>
            <a:off x="3127248" y="2898648"/>
            <a:ext cx="274320" cy="146304"/>
          </a:xfrm>
          <a:prstGeom prst="rightArrow">
            <a:avLst/>
          </a:prstGeom>
          <a:solidFill>
            <a:srgbClr val="F5A63C"/>
          </a:solidFill>
          <a:ln w="12700">
            <a:solidFill>
              <a:srgbClr val="333333"/>
            </a:solidFill>
            <a:prstDash val="solid"/>
          </a:ln>
        </p:spPr>
      </p:sp>
      <p:sp>
        <p:nvSpPr>
          <p:cNvPr id="12" name="Shape 10"/>
          <p:cNvSpPr/>
          <p:nvPr/>
        </p:nvSpPr>
        <p:spPr>
          <a:xfrm>
            <a:off x="3675888" y="1783080"/>
            <a:ext cx="2194560" cy="384048"/>
          </a:xfrm>
          <a:prstGeom prst="roundRect">
            <a:avLst>
              <a:gd name="adj" fmla="val 11905"/>
            </a:avLst>
          </a:prstGeom>
          <a:solidFill>
            <a:srgbClr val="161B28"/>
          </a:solidFill>
          <a:ln w="12700">
            <a:solidFill>
              <a:srgbClr val="1E6A66"/>
            </a:solidFill>
            <a:prstDash val="solid"/>
          </a:ln>
        </p:spPr>
      </p:sp>
      <p:sp>
        <p:nvSpPr>
          <p:cNvPr id="13" name="Text 11"/>
          <p:cNvSpPr txBox="1"/>
          <p:nvPr/>
        </p:nvSpPr>
        <p:spPr>
          <a:xfrm>
            <a:off x="3813048" y="1847088"/>
            <a:ext cx="1920240" cy="256032"/>
          </a:xfrm>
          <a:prstGeom prst="rect">
            <a:avLst/>
          </a:prstGeom>
          <a:noFill/>
          <a:ln/>
        </p:spPr>
        <p:txBody>
          <a:bodyPr wrap="square" lIns="0" tIns="0" rIns="0" bIns="0" rtlCol="0" anchor="ctr"/>
          <a:lstStyle/>
          <a:p>
            <a:pPr indent="0" marL="0">
              <a:buNone/>
            </a:pPr>
            <a:r>
              <a:rPr lang="en-US" sz="950" dirty="0">
                <a:solidFill>
                  <a:srgbClr val="B4BCCE"/>
                </a:solidFill>
                <a:latin typeface="Consolas" pitchFamily="34" charset="0"/>
                <a:ea typeface="Consolas" pitchFamily="34" charset="-122"/>
                <a:cs typeface="Consolas" pitchFamily="34" charset="-120"/>
              </a:rPr>
              <a:t>instance 1</a:t>
            </a:r>
            <a:endParaRPr lang="en-US" sz="950" dirty="0"/>
          </a:p>
        </p:txBody>
      </p:sp>
      <p:sp>
        <p:nvSpPr>
          <p:cNvPr id="14" name="Shape 12"/>
          <p:cNvSpPr/>
          <p:nvPr/>
        </p:nvSpPr>
        <p:spPr>
          <a:xfrm>
            <a:off x="3675888" y="2286000"/>
            <a:ext cx="2194560" cy="384048"/>
          </a:xfrm>
          <a:prstGeom prst="roundRect">
            <a:avLst>
              <a:gd name="adj" fmla="val 11905"/>
            </a:avLst>
          </a:prstGeom>
          <a:solidFill>
            <a:srgbClr val="161B28"/>
          </a:solidFill>
          <a:ln w="12700">
            <a:solidFill>
              <a:srgbClr val="1E6A66"/>
            </a:solidFill>
            <a:prstDash val="solid"/>
          </a:ln>
        </p:spPr>
      </p:sp>
      <p:sp>
        <p:nvSpPr>
          <p:cNvPr id="15" name="Text 13"/>
          <p:cNvSpPr txBox="1"/>
          <p:nvPr/>
        </p:nvSpPr>
        <p:spPr>
          <a:xfrm>
            <a:off x="3813048" y="2350008"/>
            <a:ext cx="1920240" cy="256032"/>
          </a:xfrm>
          <a:prstGeom prst="rect">
            <a:avLst/>
          </a:prstGeom>
          <a:noFill/>
          <a:ln/>
        </p:spPr>
        <p:txBody>
          <a:bodyPr wrap="square" lIns="0" tIns="0" rIns="0" bIns="0" rtlCol="0" anchor="ctr"/>
          <a:lstStyle/>
          <a:p>
            <a:pPr indent="0" marL="0">
              <a:buNone/>
            </a:pPr>
            <a:r>
              <a:rPr lang="en-US" sz="950" dirty="0">
                <a:solidFill>
                  <a:srgbClr val="B4BCCE"/>
                </a:solidFill>
                <a:latin typeface="Consolas" pitchFamily="34" charset="0"/>
                <a:ea typeface="Consolas" pitchFamily="34" charset="-122"/>
                <a:cs typeface="Consolas" pitchFamily="34" charset="-120"/>
              </a:rPr>
              <a:t>instance 2</a:t>
            </a:r>
            <a:endParaRPr lang="en-US" sz="950" dirty="0"/>
          </a:p>
        </p:txBody>
      </p:sp>
      <p:sp>
        <p:nvSpPr>
          <p:cNvPr id="16" name="Shape 14"/>
          <p:cNvSpPr/>
          <p:nvPr/>
        </p:nvSpPr>
        <p:spPr>
          <a:xfrm>
            <a:off x="3675888" y="2788920"/>
            <a:ext cx="2194560" cy="384048"/>
          </a:xfrm>
          <a:prstGeom prst="roundRect">
            <a:avLst>
              <a:gd name="adj" fmla="val 11905"/>
            </a:avLst>
          </a:prstGeom>
          <a:solidFill>
            <a:srgbClr val="161B28"/>
          </a:solidFill>
          <a:ln w="12700">
            <a:solidFill>
              <a:srgbClr val="1E6A66"/>
            </a:solidFill>
            <a:prstDash val="solid"/>
          </a:ln>
        </p:spPr>
      </p:sp>
      <p:sp>
        <p:nvSpPr>
          <p:cNvPr id="17" name="Text 15"/>
          <p:cNvSpPr txBox="1"/>
          <p:nvPr/>
        </p:nvSpPr>
        <p:spPr>
          <a:xfrm>
            <a:off x="3813048" y="2852928"/>
            <a:ext cx="1920240" cy="256032"/>
          </a:xfrm>
          <a:prstGeom prst="rect">
            <a:avLst/>
          </a:prstGeom>
          <a:noFill/>
          <a:ln/>
        </p:spPr>
        <p:txBody>
          <a:bodyPr wrap="square" lIns="0" tIns="0" rIns="0" bIns="0" rtlCol="0" anchor="ctr"/>
          <a:lstStyle/>
          <a:p>
            <a:pPr indent="0" marL="0">
              <a:buNone/>
            </a:pPr>
            <a:r>
              <a:rPr lang="en-US" sz="950" dirty="0">
                <a:solidFill>
                  <a:srgbClr val="B4BCCE"/>
                </a:solidFill>
                <a:latin typeface="Consolas" pitchFamily="34" charset="0"/>
                <a:ea typeface="Consolas" pitchFamily="34" charset="-122"/>
                <a:cs typeface="Consolas" pitchFamily="34" charset="-120"/>
              </a:rPr>
              <a:t>instance 3</a:t>
            </a:r>
            <a:endParaRPr lang="en-US" sz="950" dirty="0"/>
          </a:p>
        </p:txBody>
      </p:sp>
      <p:sp>
        <p:nvSpPr>
          <p:cNvPr id="18" name="Shape 16"/>
          <p:cNvSpPr/>
          <p:nvPr/>
        </p:nvSpPr>
        <p:spPr>
          <a:xfrm>
            <a:off x="3675888" y="3291840"/>
            <a:ext cx="2194560" cy="384048"/>
          </a:xfrm>
          <a:prstGeom prst="roundRect">
            <a:avLst>
              <a:gd name="adj" fmla="val 11905"/>
            </a:avLst>
          </a:prstGeom>
          <a:solidFill>
            <a:srgbClr val="161B28"/>
          </a:solidFill>
          <a:ln w="12700">
            <a:solidFill>
              <a:srgbClr val="1E6A66"/>
            </a:solidFill>
            <a:prstDash val="solid"/>
          </a:ln>
        </p:spPr>
      </p:sp>
      <p:sp>
        <p:nvSpPr>
          <p:cNvPr id="19" name="Text 17"/>
          <p:cNvSpPr txBox="1"/>
          <p:nvPr/>
        </p:nvSpPr>
        <p:spPr>
          <a:xfrm>
            <a:off x="3813048" y="3355848"/>
            <a:ext cx="1920240" cy="256032"/>
          </a:xfrm>
          <a:prstGeom prst="rect">
            <a:avLst/>
          </a:prstGeom>
          <a:noFill/>
          <a:ln/>
        </p:spPr>
        <p:txBody>
          <a:bodyPr wrap="square" lIns="0" tIns="0" rIns="0" bIns="0" rtlCol="0" anchor="ctr"/>
          <a:lstStyle/>
          <a:p>
            <a:pPr indent="0" marL="0">
              <a:buNone/>
            </a:pPr>
            <a:r>
              <a:rPr lang="en-US" sz="950" dirty="0">
                <a:solidFill>
                  <a:srgbClr val="B4BCCE"/>
                </a:solidFill>
                <a:latin typeface="Consolas" pitchFamily="34" charset="0"/>
                <a:ea typeface="Consolas" pitchFamily="34" charset="-122"/>
                <a:cs typeface="Consolas" pitchFamily="34" charset="-120"/>
              </a:rPr>
              <a:t>instance 4</a:t>
            </a:r>
            <a:endParaRPr lang="en-US" sz="950" dirty="0"/>
          </a:p>
        </p:txBody>
      </p:sp>
      <p:sp>
        <p:nvSpPr>
          <p:cNvPr id="20" name="Shape 18"/>
          <p:cNvSpPr/>
          <p:nvPr/>
        </p:nvSpPr>
        <p:spPr>
          <a:xfrm>
            <a:off x="3675888" y="3794760"/>
            <a:ext cx="2194560" cy="384048"/>
          </a:xfrm>
          <a:prstGeom prst="roundRect">
            <a:avLst>
              <a:gd name="adj" fmla="val 11905"/>
            </a:avLst>
          </a:prstGeom>
          <a:solidFill>
            <a:srgbClr val="161B28"/>
          </a:solidFill>
          <a:ln w="12700">
            <a:solidFill>
              <a:srgbClr val="1E6A66"/>
            </a:solidFill>
            <a:prstDash val="solid"/>
          </a:ln>
        </p:spPr>
      </p:sp>
      <p:sp>
        <p:nvSpPr>
          <p:cNvPr id="21" name="Text 19"/>
          <p:cNvSpPr txBox="1"/>
          <p:nvPr/>
        </p:nvSpPr>
        <p:spPr>
          <a:xfrm>
            <a:off x="3813048" y="3858768"/>
            <a:ext cx="1920240" cy="256032"/>
          </a:xfrm>
          <a:prstGeom prst="rect">
            <a:avLst/>
          </a:prstGeom>
          <a:noFill/>
          <a:ln/>
        </p:spPr>
        <p:txBody>
          <a:bodyPr wrap="square" lIns="0" tIns="0" rIns="0" bIns="0" rtlCol="0" anchor="ctr"/>
          <a:lstStyle/>
          <a:p>
            <a:pPr indent="0" marL="0">
              <a:buNone/>
            </a:pPr>
            <a:r>
              <a:rPr lang="en-US" sz="950" dirty="0">
                <a:solidFill>
                  <a:srgbClr val="B4BCCE"/>
                </a:solidFill>
                <a:latin typeface="Consolas" pitchFamily="34" charset="0"/>
                <a:ea typeface="Consolas" pitchFamily="34" charset="-122"/>
                <a:cs typeface="Consolas" pitchFamily="34" charset="-120"/>
              </a:rPr>
              <a:t>instance 5</a:t>
            </a:r>
            <a:endParaRPr lang="en-US" sz="950" dirty="0"/>
          </a:p>
        </p:txBody>
      </p:sp>
      <p:sp>
        <p:nvSpPr>
          <p:cNvPr id="22" name="Shape 20"/>
          <p:cNvSpPr/>
          <p:nvPr/>
        </p:nvSpPr>
        <p:spPr>
          <a:xfrm>
            <a:off x="3675888" y="4297680"/>
            <a:ext cx="2194560" cy="384048"/>
          </a:xfrm>
          <a:prstGeom prst="roundRect">
            <a:avLst>
              <a:gd name="adj" fmla="val 11905"/>
            </a:avLst>
          </a:prstGeom>
          <a:solidFill>
            <a:srgbClr val="161B28"/>
          </a:solidFill>
          <a:ln w="12700">
            <a:solidFill>
              <a:srgbClr val="1E6A66"/>
            </a:solidFill>
            <a:prstDash val="solid"/>
          </a:ln>
        </p:spPr>
      </p:sp>
      <p:sp>
        <p:nvSpPr>
          <p:cNvPr id="23" name="Text 21"/>
          <p:cNvSpPr txBox="1"/>
          <p:nvPr/>
        </p:nvSpPr>
        <p:spPr>
          <a:xfrm>
            <a:off x="3813048" y="4361688"/>
            <a:ext cx="1920240" cy="256032"/>
          </a:xfrm>
          <a:prstGeom prst="rect">
            <a:avLst/>
          </a:prstGeom>
          <a:noFill/>
          <a:ln/>
        </p:spPr>
        <p:txBody>
          <a:bodyPr wrap="square" lIns="0" tIns="0" rIns="0" bIns="0" rtlCol="0" anchor="ctr"/>
          <a:lstStyle/>
          <a:p>
            <a:pPr indent="0" marL="0">
              <a:buNone/>
            </a:pPr>
            <a:r>
              <a:rPr lang="en-US" sz="950" dirty="0">
                <a:solidFill>
                  <a:srgbClr val="B4BCCE"/>
                </a:solidFill>
                <a:latin typeface="Consolas" pitchFamily="34" charset="0"/>
                <a:ea typeface="Consolas" pitchFamily="34" charset="-122"/>
                <a:cs typeface="Consolas" pitchFamily="34" charset="-120"/>
              </a:rPr>
              <a:t>instance 6</a:t>
            </a:r>
            <a:endParaRPr lang="en-US" sz="950" dirty="0"/>
          </a:p>
        </p:txBody>
      </p:sp>
      <p:sp>
        <p:nvSpPr>
          <p:cNvPr id="24" name="Text 22"/>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সমস্যাটা — PM2 cluster মানে ছয়টা আলাদা Node প্রসেস। স্টুডেন্ট A ইনস্ট্যান্স ১-এ, B ইনস্ট্যান্স ৪-এ। A চ্যাট করলে B পাবে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সমাধান — @socket.io/redis-adapter। যেকোনো ইনস্ট্যান্স emit করলে Redis-এ publish, বাকি পাঁচটা subscribe করে পাঠায়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sharded কেন — সাধারণ adapter একটাই চ্যানেল ব্যবহার করে, তাই সবাই সব মেসেজ পায়। sharded-এ অপ্রয়োজনীয় ট্রাফিক অনেক কমে</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ট্রান্সপোর্ট শুধু websocket — polling বন্ধ, তাই বাড়তি HTTP round-trip নেই</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14</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রিয়েলটাইম ২/৫</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কতজন দেখছে — ZSET আর HyperLogLog</a:t>
            </a:r>
            <a:endParaRPr lang="en-US" sz="2900" dirty="0"/>
          </a:p>
        </p:txBody>
      </p:sp>
      <p:sp>
        <p:nvSpPr>
          <p:cNvPr id="7" name="Text 5"/>
          <p:cNvSpPr txBox="1"/>
          <p:nvPr/>
        </p:nvSpPr>
        <p:spPr>
          <a:xfrm>
            <a:off x="658368" y="1783080"/>
            <a:ext cx="3840480" cy="274320"/>
          </a:xfrm>
          <a:prstGeom prst="rect">
            <a:avLst/>
          </a:prstGeom>
          <a:noFill/>
          <a:ln/>
        </p:spPr>
        <p:txBody>
          <a:bodyPr wrap="square" lIns="0" tIns="0" rIns="0" bIns="0" rtlCol="0" anchor="ctr"/>
          <a:lstStyle/>
          <a:p>
            <a:pPr indent="0" marL="0">
              <a:buNone/>
            </a:pPr>
            <a:r>
              <a:rPr lang="en-US" sz="1200" b="1" dirty="0">
                <a:solidFill>
                  <a:srgbClr val="E9EDF6"/>
                </a:solidFill>
                <a:latin typeface="Nirmala UI" pitchFamily="34" charset="0"/>
                <a:ea typeface="Nirmala UI" pitchFamily="34" charset="-122"/>
                <a:cs typeface="Nirmala UI" pitchFamily="34" charset="-120"/>
              </a:rPr>
              <a:t>ZSET — প্রতিটা ইউজার আলাদা করে</a:t>
            </a:r>
            <a:endParaRPr lang="en-US" sz="1200" dirty="0"/>
          </a:p>
        </p:txBody>
      </p:sp>
      <p:sp>
        <p:nvSpPr>
          <p:cNvPr id="8" name="Text 6"/>
          <p:cNvSpPr txBox="1"/>
          <p:nvPr/>
        </p:nvSpPr>
        <p:spPr>
          <a:xfrm>
            <a:off x="4498848" y="1783080"/>
            <a:ext cx="2011680" cy="274320"/>
          </a:xfrm>
          <a:prstGeom prst="rect">
            <a:avLst/>
          </a:prstGeom>
          <a:noFill/>
          <a:ln/>
        </p:spPr>
        <p:txBody>
          <a:bodyPr wrap="square" lIns="0" tIns="0" rIns="0" bIns="0" rtlCol="0" anchor="ctr"/>
          <a:lstStyle/>
          <a:p>
            <a:pPr algn="r" indent="0" marL="0">
              <a:buNone/>
            </a:pPr>
            <a:r>
              <a:rPr lang="en-US" sz="1100" b="1" dirty="0">
                <a:solidFill>
                  <a:srgbClr val="E2607A"/>
                </a:solidFill>
                <a:latin typeface="Consolas" pitchFamily="34" charset="0"/>
                <a:ea typeface="Consolas" pitchFamily="34" charset="-122"/>
                <a:cs typeface="Consolas" pitchFamily="34" charset="-120"/>
              </a:rPr>
              <a:t>প্রতি ইউজারে ~৭০ বাইট</a:t>
            </a:r>
            <a:endParaRPr lang="en-US" sz="1100" dirty="0"/>
          </a:p>
        </p:txBody>
      </p:sp>
      <p:sp>
        <p:nvSpPr>
          <p:cNvPr id="9" name="Shape 7"/>
          <p:cNvSpPr/>
          <p:nvPr/>
        </p:nvSpPr>
        <p:spPr>
          <a:xfrm>
            <a:off x="658368" y="2148840"/>
            <a:ext cx="5852160" cy="219456"/>
          </a:xfrm>
          <a:prstGeom prst="roundRect">
            <a:avLst>
              <a:gd name="adj" fmla="val 50000"/>
            </a:avLst>
          </a:prstGeom>
          <a:solidFill>
            <a:srgbClr val="E2607A"/>
          </a:solidFill>
          <a:ln w="12700">
            <a:solidFill>
              <a:srgbClr val="333333"/>
            </a:solidFill>
            <a:prstDash val="solid"/>
          </a:ln>
        </p:spPr>
      </p:sp>
      <p:sp>
        <p:nvSpPr>
          <p:cNvPr id="10" name="Text 8"/>
          <p:cNvSpPr txBox="1"/>
          <p:nvPr/>
        </p:nvSpPr>
        <p:spPr>
          <a:xfrm>
            <a:off x="658368" y="2697480"/>
            <a:ext cx="3840480" cy="274320"/>
          </a:xfrm>
          <a:prstGeom prst="rect">
            <a:avLst/>
          </a:prstGeom>
          <a:noFill/>
          <a:ln/>
        </p:spPr>
        <p:txBody>
          <a:bodyPr wrap="square" lIns="0" tIns="0" rIns="0" bIns="0" rtlCol="0" anchor="ctr"/>
          <a:lstStyle/>
          <a:p>
            <a:pPr indent="0" marL="0">
              <a:buNone/>
            </a:pPr>
            <a:r>
              <a:rPr lang="en-US" sz="1200" b="1" dirty="0">
                <a:solidFill>
                  <a:srgbClr val="E9EDF6"/>
                </a:solidFill>
                <a:latin typeface="Nirmala UI" pitchFamily="34" charset="0"/>
                <a:ea typeface="Nirmala UI" pitchFamily="34" charset="-122"/>
                <a:cs typeface="Nirmala UI" pitchFamily="34" charset="-120"/>
              </a:rPr>
              <a:t>HyperLogLog — শুধু সংখ্যাটা</a:t>
            </a:r>
            <a:endParaRPr lang="en-US" sz="1200" dirty="0"/>
          </a:p>
        </p:txBody>
      </p:sp>
      <p:sp>
        <p:nvSpPr>
          <p:cNvPr id="11" name="Text 9"/>
          <p:cNvSpPr txBox="1"/>
          <p:nvPr/>
        </p:nvSpPr>
        <p:spPr>
          <a:xfrm>
            <a:off x="4498848" y="2697480"/>
            <a:ext cx="2011680" cy="274320"/>
          </a:xfrm>
          <a:prstGeom prst="rect">
            <a:avLst/>
          </a:prstGeom>
          <a:noFill/>
          <a:ln/>
        </p:spPr>
        <p:txBody>
          <a:bodyPr wrap="square" lIns="0" tIns="0" rIns="0" bIns="0" rtlCol="0" anchor="ctr"/>
          <a:lstStyle/>
          <a:p>
            <a:pPr algn="r" indent="0" marL="0">
              <a:buNone/>
            </a:pPr>
            <a:r>
              <a:rPr lang="en-US" sz="1100" b="1" dirty="0">
                <a:solidFill>
                  <a:srgbClr val="3FC9C0"/>
                </a:solidFill>
                <a:latin typeface="Consolas" pitchFamily="34" charset="0"/>
                <a:ea typeface="Consolas" pitchFamily="34" charset="-122"/>
                <a:cs typeface="Consolas" pitchFamily="34" charset="-120"/>
              </a:rPr>
              <a:t>সবসময় ১২ KB</a:t>
            </a:r>
            <a:endParaRPr lang="en-US" sz="1100" dirty="0"/>
          </a:p>
        </p:txBody>
      </p:sp>
      <p:sp>
        <p:nvSpPr>
          <p:cNvPr id="12" name="Shape 10"/>
          <p:cNvSpPr/>
          <p:nvPr/>
        </p:nvSpPr>
        <p:spPr>
          <a:xfrm>
            <a:off x="658368" y="3063240"/>
            <a:ext cx="5852160" cy="219456"/>
          </a:xfrm>
          <a:prstGeom prst="roundRect">
            <a:avLst>
              <a:gd name="adj" fmla="val 50000"/>
            </a:avLst>
          </a:prstGeom>
          <a:solidFill>
            <a:srgbClr val="1C2231"/>
          </a:solidFill>
          <a:ln w="12700">
            <a:solidFill>
              <a:srgbClr val="28303F"/>
            </a:solidFill>
            <a:prstDash val="solid"/>
          </a:ln>
        </p:spPr>
      </p:sp>
      <p:sp>
        <p:nvSpPr>
          <p:cNvPr id="13" name="Shape 11"/>
          <p:cNvSpPr/>
          <p:nvPr/>
        </p:nvSpPr>
        <p:spPr>
          <a:xfrm>
            <a:off x="658368" y="3063240"/>
            <a:ext cx="274320" cy="219456"/>
          </a:xfrm>
          <a:prstGeom prst="roundRect">
            <a:avLst>
              <a:gd name="adj" fmla="val 50000"/>
            </a:avLst>
          </a:prstGeom>
          <a:solidFill>
            <a:srgbClr val="3FC9C0"/>
          </a:solidFill>
          <a:ln w="12700">
            <a:solidFill>
              <a:srgbClr val="333333"/>
            </a:solidFill>
            <a:prstDash val="solid"/>
          </a:ln>
        </p:spPr>
      </p:sp>
      <p:sp>
        <p:nvSpPr>
          <p:cNvPr id="14" name="Text 12"/>
          <p:cNvSpPr txBox="1"/>
          <p:nvPr/>
        </p:nvSpPr>
        <p:spPr>
          <a:xfrm>
            <a:off x="658368" y="3520440"/>
            <a:ext cx="5852160" cy="822960"/>
          </a:xfrm>
          <a:prstGeom prst="rect">
            <a:avLst/>
          </a:prstGeom>
          <a:noFill/>
          <a:ln/>
        </p:spPr>
        <p:txBody>
          <a:bodyPr wrap="square" lIns="0" tIns="0" rIns="0" bIns="0" rtlCol="0" anchor="t"/>
          <a:lstStyle/>
          <a:p>
            <a:pPr indent="0" marL="0">
              <a:buNone/>
            </a:pPr>
            <a:r>
              <a:rPr lang="en-US" sz="1150" dirty="0">
                <a:solidFill>
                  <a:srgbClr val="B4BCCE"/>
                </a:solidFill>
                <a:latin typeface="Nirmala UI" pitchFamily="34" charset="0"/>
                <a:ea typeface="Nirmala UI" pitchFamily="34" charset="-122"/>
                <a:cs typeface="Nirmala UI" pitchFamily="34" charset="-120"/>
              </a:rPr>
              <a:t>৫০০ জনের নিচে — ZSET, একদম নিখুঁত সংখ্যা আর প্রত্যেকের অ্যাভাটার।</a:t>
            </a:r>
            <a:endParaRPr lang="en-US" sz="1150" dirty="0"/>
          </a:p>
          <a:p>
            <a:pPr indent="0" marL="0">
              <a:buNone/>
            </a:pPr>
            <a:r>
              <a:rPr lang="en-US" sz="1150" dirty="0">
                <a:solidFill>
                  <a:srgbClr val="B4BCCE"/>
                </a:solidFill>
                <a:latin typeface="Nirmala UI" pitchFamily="34" charset="0"/>
                <a:ea typeface="Nirmala UI" pitchFamily="34" charset="-122"/>
                <a:cs typeface="Nirmala UI" pitchFamily="34" charset="-120"/>
              </a:rPr>
              <a:t>৫০০-র উপরে — HyperLogLog, ~০.৮% ভুল হতে পারে, কিন্তু ৫ হাজার হোক বা ৫ লাখ, মেমোরি একই ১২ KB।</a:t>
            </a:r>
            <a:endParaRPr lang="en-US" sz="1150" dirty="0"/>
          </a:p>
        </p:txBody>
      </p:sp>
      <p:sp>
        <p:nvSpPr>
          <p:cNvPr id="15" name="Text 13"/>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কেন হাইব্রিড — ছোট ক্লাসে টিচার প্রত্যেককে দেখতে চান। বড় লাইভে "১,২৪,৩৮২ জন দেখছে" — ২০০ জন এদিক-ওদিক হলে কেউ টেরও পাবে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স্লাইডিং উইন্ডো — ৩০ সেকেন্ডের ৩টা bucket। PFCOUNT তিনটা মার্জ করে, তাই এক ঝলকে চলে যাওয়া লোক গোনা হয়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ZSET-এর score = timestamp — ZREMRANGEBYSCORE দিয়ে পুরনোদের ছাঁটাই এক কমান্ডেই</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নিরাপত্তা — approx যদি exact-এর চেয়ে কম আসে, exact-টাই ফেরত দেওয়া হয়। কাউন্ট কখনো পিছিয়ে যায় না</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15</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রিয়েলটাইম ৩/৫</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চারটা কমান্ড, একটাই রাউন্ড-ট্রিপ</a:t>
            </a:r>
            <a:endParaRPr lang="en-US" sz="2900" dirty="0"/>
          </a:p>
        </p:txBody>
      </p:sp>
      <p:sp>
        <p:nvSpPr>
          <p:cNvPr id="7" name="Text 5"/>
          <p:cNvSpPr txBox="1"/>
          <p:nvPr/>
        </p:nvSpPr>
        <p:spPr>
          <a:xfrm>
            <a:off x="658368" y="1783080"/>
            <a:ext cx="3657600" cy="274320"/>
          </a:xfrm>
          <a:prstGeom prst="rect">
            <a:avLst/>
          </a:prstGeom>
          <a:noFill/>
          <a:ln/>
        </p:spPr>
        <p:txBody>
          <a:bodyPr wrap="square" lIns="0" tIns="0" rIns="0" bIns="0" rtlCol="0" anchor="ctr"/>
          <a:lstStyle/>
          <a:p>
            <a:pPr indent="0" marL="0">
              <a:buNone/>
            </a:pPr>
            <a:r>
              <a:rPr lang="en-US" sz="1050" dirty="0">
                <a:solidFill>
                  <a:srgbClr val="B4BCCE"/>
                </a:solidFill>
                <a:latin typeface="Consolas" pitchFamily="34" charset="0"/>
                <a:ea typeface="Consolas" pitchFamily="34" charset="-122"/>
                <a:cs typeface="Consolas" pitchFamily="34" charset="-120"/>
              </a:rPr>
              <a:t>আলাদা আলাদা পাঠালে</a:t>
            </a:r>
            <a:endParaRPr lang="en-US" sz="1050" dirty="0"/>
          </a:p>
        </p:txBody>
      </p:sp>
      <p:sp>
        <p:nvSpPr>
          <p:cNvPr id="8" name="Shape 6"/>
          <p:cNvSpPr/>
          <p:nvPr/>
        </p:nvSpPr>
        <p:spPr>
          <a:xfrm>
            <a:off x="658368" y="2121408"/>
            <a:ext cx="1097280" cy="411480"/>
          </a:xfrm>
          <a:prstGeom prst="roundRect">
            <a:avLst>
              <a:gd name="adj" fmla="val 11111"/>
            </a:avLst>
          </a:prstGeom>
          <a:solidFill>
            <a:srgbClr val="161B28"/>
          </a:solidFill>
          <a:ln w="12700">
            <a:solidFill>
              <a:srgbClr val="28303F"/>
            </a:solidFill>
            <a:prstDash val="solid"/>
          </a:ln>
        </p:spPr>
      </p:sp>
      <p:sp>
        <p:nvSpPr>
          <p:cNvPr id="9" name="Text 7"/>
          <p:cNvSpPr txBox="1"/>
          <p:nvPr/>
        </p:nvSpPr>
        <p:spPr>
          <a:xfrm>
            <a:off x="658368" y="2212848"/>
            <a:ext cx="1097280" cy="256032"/>
          </a:xfrm>
          <a:prstGeom prst="rect">
            <a:avLst/>
          </a:prstGeom>
          <a:noFill/>
          <a:ln/>
        </p:spPr>
        <p:txBody>
          <a:bodyPr wrap="square" lIns="0" tIns="0" rIns="0" bIns="0" rtlCol="0" anchor="ctr"/>
          <a:lstStyle/>
          <a:p>
            <a:pPr algn="ctr" indent="0" marL="0">
              <a:buNone/>
            </a:pPr>
            <a:r>
              <a:rPr lang="en-US" sz="950" dirty="0">
                <a:solidFill>
                  <a:srgbClr val="B4BCCE"/>
                </a:solidFill>
                <a:latin typeface="Consolas" pitchFamily="34" charset="0"/>
                <a:ea typeface="Consolas" pitchFamily="34" charset="-122"/>
                <a:cs typeface="Consolas" pitchFamily="34" charset="-120"/>
              </a:rPr>
              <a:t>PFADD</a:t>
            </a:r>
            <a:endParaRPr lang="en-US" sz="950" dirty="0"/>
          </a:p>
        </p:txBody>
      </p:sp>
      <p:sp>
        <p:nvSpPr>
          <p:cNvPr id="10" name="Shape 8"/>
          <p:cNvSpPr/>
          <p:nvPr/>
        </p:nvSpPr>
        <p:spPr>
          <a:xfrm>
            <a:off x="1892808" y="2121408"/>
            <a:ext cx="1097280" cy="411480"/>
          </a:xfrm>
          <a:prstGeom prst="roundRect">
            <a:avLst>
              <a:gd name="adj" fmla="val 11111"/>
            </a:avLst>
          </a:prstGeom>
          <a:solidFill>
            <a:srgbClr val="161B28"/>
          </a:solidFill>
          <a:ln w="12700">
            <a:solidFill>
              <a:srgbClr val="28303F"/>
            </a:solidFill>
            <a:prstDash val="solid"/>
          </a:ln>
        </p:spPr>
      </p:sp>
      <p:sp>
        <p:nvSpPr>
          <p:cNvPr id="11" name="Text 9"/>
          <p:cNvSpPr txBox="1"/>
          <p:nvPr/>
        </p:nvSpPr>
        <p:spPr>
          <a:xfrm>
            <a:off x="1892808" y="2212848"/>
            <a:ext cx="1097280" cy="256032"/>
          </a:xfrm>
          <a:prstGeom prst="rect">
            <a:avLst/>
          </a:prstGeom>
          <a:noFill/>
          <a:ln/>
        </p:spPr>
        <p:txBody>
          <a:bodyPr wrap="square" lIns="0" tIns="0" rIns="0" bIns="0" rtlCol="0" anchor="ctr"/>
          <a:lstStyle/>
          <a:p>
            <a:pPr algn="ctr" indent="0" marL="0">
              <a:buNone/>
            </a:pPr>
            <a:r>
              <a:rPr lang="en-US" sz="950" dirty="0">
                <a:solidFill>
                  <a:srgbClr val="B4BCCE"/>
                </a:solidFill>
                <a:latin typeface="Consolas" pitchFamily="34" charset="0"/>
                <a:ea typeface="Consolas" pitchFamily="34" charset="-122"/>
                <a:cs typeface="Consolas" pitchFamily="34" charset="-120"/>
              </a:rPr>
              <a:t>ZCARD</a:t>
            </a:r>
            <a:endParaRPr lang="en-US" sz="950" dirty="0"/>
          </a:p>
        </p:txBody>
      </p:sp>
      <p:sp>
        <p:nvSpPr>
          <p:cNvPr id="12" name="Shape 10"/>
          <p:cNvSpPr/>
          <p:nvPr/>
        </p:nvSpPr>
        <p:spPr>
          <a:xfrm>
            <a:off x="3127248" y="2121408"/>
            <a:ext cx="1097280" cy="411480"/>
          </a:xfrm>
          <a:prstGeom prst="roundRect">
            <a:avLst>
              <a:gd name="adj" fmla="val 11111"/>
            </a:avLst>
          </a:prstGeom>
          <a:solidFill>
            <a:srgbClr val="161B28"/>
          </a:solidFill>
          <a:ln w="12700">
            <a:solidFill>
              <a:srgbClr val="28303F"/>
            </a:solidFill>
            <a:prstDash val="solid"/>
          </a:ln>
        </p:spPr>
      </p:sp>
      <p:sp>
        <p:nvSpPr>
          <p:cNvPr id="13" name="Text 11"/>
          <p:cNvSpPr txBox="1"/>
          <p:nvPr/>
        </p:nvSpPr>
        <p:spPr>
          <a:xfrm>
            <a:off x="3127248" y="2212848"/>
            <a:ext cx="1097280" cy="256032"/>
          </a:xfrm>
          <a:prstGeom prst="rect">
            <a:avLst/>
          </a:prstGeom>
          <a:noFill/>
          <a:ln/>
        </p:spPr>
        <p:txBody>
          <a:bodyPr wrap="square" lIns="0" tIns="0" rIns="0" bIns="0" rtlCol="0" anchor="ctr"/>
          <a:lstStyle/>
          <a:p>
            <a:pPr algn="ctr" indent="0" marL="0">
              <a:buNone/>
            </a:pPr>
            <a:r>
              <a:rPr lang="en-US" sz="950" dirty="0">
                <a:solidFill>
                  <a:srgbClr val="B4BCCE"/>
                </a:solidFill>
                <a:latin typeface="Consolas" pitchFamily="34" charset="0"/>
                <a:ea typeface="Consolas" pitchFamily="34" charset="-122"/>
                <a:cs typeface="Consolas" pitchFamily="34" charset="-120"/>
              </a:rPr>
              <a:t>ZADD</a:t>
            </a:r>
            <a:endParaRPr lang="en-US" sz="950" dirty="0"/>
          </a:p>
        </p:txBody>
      </p:sp>
      <p:sp>
        <p:nvSpPr>
          <p:cNvPr id="14" name="Shape 12"/>
          <p:cNvSpPr/>
          <p:nvPr/>
        </p:nvSpPr>
        <p:spPr>
          <a:xfrm>
            <a:off x="4361688" y="2121408"/>
            <a:ext cx="1097280" cy="411480"/>
          </a:xfrm>
          <a:prstGeom prst="roundRect">
            <a:avLst>
              <a:gd name="adj" fmla="val 11111"/>
            </a:avLst>
          </a:prstGeom>
          <a:solidFill>
            <a:srgbClr val="161B28"/>
          </a:solidFill>
          <a:ln w="12700">
            <a:solidFill>
              <a:srgbClr val="28303F"/>
            </a:solidFill>
            <a:prstDash val="solid"/>
          </a:ln>
        </p:spPr>
      </p:sp>
      <p:sp>
        <p:nvSpPr>
          <p:cNvPr id="15" name="Text 13"/>
          <p:cNvSpPr txBox="1"/>
          <p:nvPr/>
        </p:nvSpPr>
        <p:spPr>
          <a:xfrm>
            <a:off x="4361688" y="2212848"/>
            <a:ext cx="1097280" cy="256032"/>
          </a:xfrm>
          <a:prstGeom prst="rect">
            <a:avLst/>
          </a:prstGeom>
          <a:noFill/>
          <a:ln/>
        </p:spPr>
        <p:txBody>
          <a:bodyPr wrap="square" lIns="0" tIns="0" rIns="0" bIns="0" rtlCol="0" anchor="ctr"/>
          <a:lstStyle/>
          <a:p>
            <a:pPr algn="ctr" indent="0" marL="0">
              <a:buNone/>
            </a:pPr>
            <a:r>
              <a:rPr lang="en-US" sz="950" dirty="0">
                <a:solidFill>
                  <a:srgbClr val="B4BCCE"/>
                </a:solidFill>
                <a:latin typeface="Consolas" pitchFamily="34" charset="0"/>
                <a:ea typeface="Consolas" pitchFamily="34" charset="-122"/>
                <a:cs typeface="Consolas" pitchFamily="34" charset="-120"/>
              </a:rPr>
              <a:t>EXPIRE</a:t>
            </a:r>
            <a:endParaRPr lang="en-US" sz="950" dirty="0"/>
          </a:p>
        </p:txBody>
      </p:sp>
      <p:sp>
        <p:nvSpPr>
          <p:cNvPr id="16" name="Text 14"/>
          <p:cNvSpPr txBox="1"/>
          <p:nvPr/>
        </p:nvSpPr>
        <p:spPr>
          <a:xfrm>
            <a:off x="5687568" y="2212848"/>
            <a:ext cx="1097280" cy="256032"/>
          </a:xfrm>
          <a:prstGeom prst="rect">
            <a:avLst/>
          </a:prstGeom>
          <a:noFill/>
          <a:ln/>
        </p:spPr>
        <p:txBody>
          <a:bodyPr wrap="square" lIns="0" tIns="0" rIns="0" bIns="0" rtlCol="0" anchor="ctr"/>
          <a:lstStyle/>
          <a:p>
            <a:pPr indent="0" marL="0">
              <a:buNone/>
            </a:pPr>
            <a:r>
              <a:rPr lang="en-US" sz="1050" dirty="0">
                <a:solidFill>
                  <a:srgbClr val="E2607A"/>
                </a:solidFill>
                <a:latin typeface="Consolas" pitchFamily="34" charset="0"/>
                <a:ea typeface="Consolas" pitchFamily="34" charset="-122"/>
                <a:cs typeface="Consolas" pitchFamily="34" charset="-120"/>
              </a:rPr>
              <a:t>৪ × RTT</a:t>
            </a:r>
            <a:endParaRPr lang="en-US" sz="1050" dirty="0"/>
          </a:p>
        </p:txBody>
      </p:sp>
      <p:sp>
        <p:nvSpPr>
          <p:cNvPr id="17" name="Text 15"/>
          <p:cNvSpPr txBox="1"/>
          <p:nvPr/>
        </p:nvSpPr>
        <p:spPr>
          <a:xfrm>
            <a:off x="658368" y="2834640"/>
            <a:ext cx="3657600" cy="274320"/>
          </a:xfrm>
          <a:prstGeom prst="rect">
            <a:avLst/>
          </a:prstGeom>
          <a:noFill/>
          <a:ln/>
        </p:spPr>
        <p:txBody>
          <a:bodyPr wrap="square" lIns="0" tIns="0" rIns="0" bIns="0" rtlCol="0" anchor="ctr"/>
          <a:lstStyle/>
          <a:p>
            <a:pPr indent="0" marL="0">
              <a:buNone/>
            </a:pPr>
            <a:r>
              <a:rPr lang="en-US" sz="1050" dirty="0">
                <a:solidFill>
                  <a:srgbClr val="B4BCCE"/>
                </a:solidFill>
                <a:latin typeface="Consolas" pitchFamily="34" charset="0"/>
                <a:ea typeface="Consolas" pitchFamily="34" charset="-122"/>
                <a:cs typeface="Consolas" pitchFamily="34" charset="-120"/>
              </a:rPr>
              <a:t>Lua স্ক্রিপ্টে</a:t>
            </a:r>
            <a:endParaRPr lang="en-US" sz="1050" dirty="0"/>
          </a:p>
        </p:txBody>
      </p:sp>
      <p:sp>
        <p:nvSpPr>
          <p:cNvPr id="18" name="Shape 16"/>
          <p:cNvSpPr/>
          <p:nvPr/>
        </p:nvSpPr>
        <p:spPr>
          <a:xfrm>
            <a:off x="658368" y="3172968"/>
            <a:ext cx="2377440" cy="411480"/>
          </a:xfrm>
          <a:prstGeom prst="roundRect">
            <a:avLst>
              <a:gd name="adj" fmla="val 11111"/>
            </a:avLst>
          </a:prstGeom>
          <a:solidFill>
            <a:srgbClr val="161B28"/>
          </a:solidFill>
          <a:ln w="12700">
            <a:solidFill>
              <a:srgbClr val="1E6A66"/>
            </a:solidFill>
            <a:prstDash val="solid"/>
          </a:ln>
        </p:spPr>
      </p:sp>
      <p:sp>
        <p:nvSpPr>
          <p:cNvPr id="19" name="Text 17"/>
          <p:cNvSpPr txBox="1"/>
          <p:nvPr/>
        </p:nvSpPr>
        <p:spPr>
          <a:xfrm>
            <a:off x="658368" y="3264408"/>
            <a:ext cx="2377440" cy="256032"/>
          </a:xfrm>
          <a:prstGeom prst="rect">
            <a:avLst/>
          </a:prstGeom>
          <a:noFill/>
          <a:ln/>
        </p:spPr>
        <p:txBody>
          <a:bodyPr wrap="square" lIns="0" tIns="0" rIns="0" bIns="0" rtlCol="0" anchor="ctr"/>
          <a:lstStyle/>
          <a:p>
            <a:pPr algn="ctr" indent="0" marL="0">
              <a:buNone/>
            </a:pPr>
            <a:r>
              <a:rPr lang="en-US" sz="950" dirty="0">
                <a:solidFill>
                  <a:srgbClr val="3FC9C0"/>
                </a:solidFill>
                <a:latin typeface="Consolas" pitchFamily="34" charset="0"/>
                <a:ea typeface="Consolas" pitchFamily="34" charset="-122"/>
                <a:cs typeface="Consolas" pitchFamily="34" charset="-120"/>
              </a:rPr>
              <a:t>watchMarkActive</a:t>
            </a:r>
            <a:endParaRPr lang="en-US" sz="950" dirty="0"/>
          </a:p>
        </p:txBody>
      </p:sp>
      <p:sp>
        <p:nvSpPr>
          <p:cNvPr id="20" name="Text 18"/>
          <p:cNvSpPr txBox="1"/>
          <p:nvPr/>
        </p:nvSpPr>
        <p:spPr>
          <a:xfrm>
            <a:off x="3218688" y="3264408"/>
            <a:ext cx="3200400" cy="256032"/>
          </a:xfrm>
          <a:prstGeom prst="rect">
            <a:avLst/>
          </a:prstGeom>
          <a:noFill/>
          <a:ln/>
        </p:spPr>
        <p:txBody>
          <a:bodyPr wrap="square" lIns="0" tIns="0" rIns="0" bIns="0" rtlCol="0" anchor="ctr"/>
          <a:lstStyle/>
          <a:p>
            <a:pPr indent="0" marL="0">
              <a:buNone/>
            </a:pPr>
            <a:r>
              <a:rPr lang="en-US" sz="1050" dirty="0">
                <a:solidFill>
                  <a:srgbClr val="7BD88F"/>
                </a:solidFill>
                <a:latin typeface="Consolas" pitchFamily="34" charset="0"/>
                <a:ea typeface="Consolas" pitchFamily="34" charset="-122"/>
                <a:cs typeface="Consolas" pitchFamily="34" charset="-120"/>
              </a:rPr>
              <a:t>১ × RTT · আর পুরোটা atomic</a:t>
            </a:r>
            <a:endParaRPr lang="en-US" sz="1050" dirty="0"/>
          </a:p>
        </p:txBody>
      </p:sp>
      <p:sp>
        <p:nvSpPr>
          <p:cNvPr id="21" name="Shape 19"/>
          <p:cNvSpPr/>
          <p:nvPr/>
        </p:nvSpPr>
        <p:spPr>
          <a:xfrm>
            <a:off x="658368" y="3886200"/>
            <a:ext cx="5852160" cy="1554480"/>
          </a:xfrm>
          <a:prstGeom prst="roundRect">
            <a:avLst>
              <a:gd name="adj" fmla="val 3529"/>
            </a:avLst>
          </a:prstGeom>
          <a:solidFill>
            <a:srgbClr val="090C13"/>
          </a:solidFill>
          <a:ln w="12700">
            <a:solidFill>
              <a:srgbClr val="28303F"/>
            </a:solidFill>
            <a:prstDash val="solid"/>
          </a:ln>
        </p:spPr>
      </p:sp>
      <p:sp>
        <p:nvSpPr>
          <p:cNvPr id="22" name="Shape 20"/>
          <p:cNvSpPr/>
          <p:nvPr/>
        </p:nvSpPr>
        <p:spPr>
          <a:xfrm>
            <a:off x="658368" y="3941064"/>
            <a:ext cx="32004" cy="1444752"/>
          </a:xfrm>
          <a:prstGeom prst="rect">
            <a:avLst/>
          </a:prstGeom>
          <a:solidFill>
            <a:srgbClr val="3FC9C0"/>
          </a:solidFill>
          <a:ln/>
        </p:spPr>
      </p:sp>
      <p:sp>
        <p:nvSpPr>
          <p:cNvPr id="23" name="Text 21"/>
          <p:cNvSpPr txBox="1"/>
          <p:nvPr/>
        </p:nvSpPr>
        <p:spPr>
          <a:xfrm>
            <a:off x="859536" y="4032504"/>
            <a:ext cx="5486400" cy="126187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ZSET-এ শুধু তখনই লিখি যখন রুম ছোট</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local size = redis.call('ZCARD', KEYS[1])</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if size &lt; limit then</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redis.call('ZADD', KEYS[1], unpack(zargs))</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end</a:t>
            </a:r>
            <a:endParaRPr lang="en-US" sz="1000" dirty="0"/>
          </a:p>
        </p:txBody>
      </p:sp>
      <p:sp>
        <p:nvSpPr>
          <p:cNvPr id="24" name="Text 22"/>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কেন এত গুরুত্বপূর্ণ — Redis একটাই থ্রেডে চলে। কমান্ড দ্রুত, কিন্তু নেটওয়ার্ক রাউন্ড-ট্রিপ দ্রুত না। ৪টার বদলে ১টা মানে ৪ গুণ কম অপেক্ষা</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সিদ্ধান্তটাও ভেতরে — "রুম কি ৫০০-র কম?" এই চেকটা Redis-এর ভেতরেই হয়। Node-এ আনলে মাঝখানে সংখ্যা বদলে যেতে পারত</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defineCommand — ioredis স্ক্রিপ্ট একবার লোড করে EVALSHA দিয়ে চালায়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তিনটা স্ক্রিপ্ট — markActive, onlineCount, shouldEmit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16</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রিয়েলটাইম ৪/৫</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Redis-কেও বাঁচাতে হয় — বাফারিং</a:t>
            </a:r>
            <a:endParaRPr lang="en-US" sz="2900" dirty="0"/>
          </a:p>
        </p:txBody>
      </p:sp>
      <p:sp>
        <p:nvSpPr>
          <p:cNvPr id="7" name="Shape 5"/>
          <p:cNvSpPr/>
          <p:nvPr/>
        </p:nvSpPr>
        <p:spPr>
          <a:xfrm>
            <a:off x="658368" y="1828800"/>
            <a:ext cx="182880" cy="182880"/>
          </a:xfrm>
          <a:prstGeom prst="ellipse">
            <a:avLst/>
          </a:prstGeom>
          <a:solidFill>
            <a:srgbClr val="8A5F22"/>
          </a:solidFill>
          <a:ln w="12700">
            <a:solidFill>
              <a:srgbClr val="333333"/>
            </a:solidFill>
            <a:prstDash val="solid"/>
          </a:ln>
        </p:spPr>
      </p:sp>
      <p:sp>
        <p:nvSpPr>
          <p:cNvPr id="8" name="Shape 6"/>
          <p:cNvSpPr/>
          <p:nvPr/>
        </p:nvSpPr>
        <p:spPr>
          <a:xfrm>
            <a:off x="932688" y="1828800"/>
            <a:ext cx="182880" cy="182880"/>
          </a:xfrm>
          <a:prstGeom prst="ellipse">
            <a:avLst/>
          </a:prstGeom>
          <a:solidFill>
            <a:srgbClr val="8A5F22"/>
          </a:solidFill>
          <a:ln w="12700">
            <a:solidFill>
              <a:srgbClr val="333333"/>
            </a:solidFill>
            <a:prstDash val="solid"/>
          </a:ln>
        </p:spPr>
      </p:sp>
      <p:sp>
        <p:nvSpPr>
          <p:cNvPr id="9" name="Shape 7"/>
          <p:cNvSpPr/>
          <p:nvPr/>
        </p:nvSpPr>
        <p:spPr>
          <a:xfrm>
            <a:off x="1207008" y="1828800"/>
            <a:ext cx="182880" cy="182880"/>
          </a:xfrm>
          <a:prstGeom prst="ellipse">
            <a:avLst/>
          </a:prstGeom>
          <a:solidFill>
            <a:srgbClr val="8A5F22"/>
          </a:solidFill>
          <a:ln w="12700">
            <a:solidFill>
              <a:srgbClr val="333333"/>
            </a:solidFill>
            <a:prstDash val="solid"/>
          </a:ln>
        </p:spPr>
      </p:sp>
      <p:sp>
        <p:nvSpPr>
          <p:cNvPr id="10" name="Shape 8"/>
          <p:cNvSpPr/>
          <p:nvPr/>
        </p:nvSpPr>
        <p:spPr>
          <a:xfrm>
            <a:off x="1481328" y="1828800"/>
            <a:ext cx="182880" cy="182880"/>
          </a:xfrm>
          <a:prstGeom prst="ellipse">
            <a:avLst/>
          </a:prstGeom>
          <a:solidFill>
            <a:srgbClr val="8A5F22"/>
          </a:solidFill>
          <a:ln w="12700">
            <a:solidFill>
              <a:srgbClr val="333333"/>
            </a:solidFill>
            <a:prstDash val="solid"/>
          </a:ln>
        </p:spPr>
      </p:sp>
      <p:sp>
        <p:nvSpPr>
          <p:cNvPr id="11" name="Shape 9"/>
          <p:cNvSpPr/>
          <p:nvPr/>
        </p:nvSpPr>
        <p:spPr>
          <a:xfrm>
            <a:off x="1755648" y="1828800"/>
            <a:ext cx="182880" cy="182880"/>
          </a:xfrm>
          <a:prstGeom prst="ellipse">
            <a:avLst/>
          </a:prstGeom>
          <a:solidFill>
            <a:srgbClr val="8A5F22"/>
          </a:solidFill>
          <a:ln w="12700">
            <a:solidFill>
              <a:srgbClr val="333333"/>
            </a:solidFill>
            <a:prstDash val="solid"/>
          </a:ln>
        </p:spPr>
      </p:sp>
      <p:sp>
        <p:nvSpPr>
          <p:cNvPr id="12" name="Shape 10"/>
          <p:cNvSpPr/>
          <p:nvPr/>
        </p:nvSpPr>
        <p:spPr>
          <a:xfrm>
            <a:off x="2029968" y="1828800"/>
            <a:ext cx="182880" cy="182880"/>
          </a:xfrm>
          <a:prstGeom prst="ellipse">
            <a:avLst/>
          </a:prstGeom>
          <a:solidFill>
            <a:srgbClr val="8A5F22"/>
          </a:solidFill>
          <a:ln w="12700">
            <a:solidFill>
              <a:srgbClr val="333333"/>
            </a:solidFill>
            <a:prstDash val="solid"/>
          </a:ln>
        </p:spPr>
      </p:sp>
      <p:sp>
        <p:nvSpPr>
          <p:cNvPr id="13" name="Shape 11"/>
          <p:cNvSpPr/>
          <p:nvPr/>
        </p:nvSpPr>
        <p:spPr>
          <a:xfrm>
            <a:off x="2304288" y="1828800"/>
            <a:ext cx="182880" cy="182880"/>
          </a:xfrm>
          <a:prstGeom prst="ellipse">
            <a:avLst/>
          </a:prstGeom>
          <a:solidFill>
            <a:srgbClr val="8A5F22"/>
          </a:solidFill>
          <a:ln w="12700">
            <a:solidFill>
              <a:srgbClr val="333333"/>
            </a:solidFill>
            <a:prstDash val="solid"/>
          </a:ln>
        </p:spPr>
      </p:sp>
      <p:sp>
        <p:nvSpPr>
          <p:cNvPr id="14" name="Shape 12"/>
          <p:cNvSpPr/>
          <p:nvPr/>
        </p:nvSpPr>
        <p:spPr>
          <a:xfrm>
            <a:off x="2578608" y="1828800"/>
            <a:ext cx="182880" cy="182880"/>
          </a:xfrm>
          <a:prstGeom prst="ellipse">
            <a:avLst/>
          </a:prstGeom>
          <a:solidFill>
            <a:srgbClr val="8A5F22"/>
          </a:solidFill>
          <a:ln w="12700">
            <a:solidFill>
              <a:srgbClr val="333333"/>
            </a:solidFill>
            <a:prstDash val="solid"/>
          </a:ln>
        </p:spPr>
      </p:sp>
      <p:sp>
        <p:nvSpPr>
          <p:cNvPr id="15" name="Shape 13"/>
          <p:cNvSpPr/>
          <p:nvPr/>
        </p:nvSpPr>
        <p:spPr>
          <a:xfrm>
            <a:off x="2852928" y="1828800"/>
            <a:ext cx="182880" cy="182880"/>
          </a:xfrm>
          <a:prstGeom prst="ellipse">
            <a:avLst/>
          </a:prstGeom>
          <a:solidFill>
            <a:srgbClr val="8A5F22"/>
          </a:solidFill>
          <a:ln w="12700">
            <a:solidFill>
              <a:srgbClr val="333333"/>
            </a:solidFill>
            <a:prstDash val="solid"/>
          </a:ln>
        </p:spPr>
      </p:sp>
      <p:sp>
        <p:nvSpPr>
          <p:cNvPr id="16" name="Shape 14"/>
          <p:cNvSpPr/>
          <p:nvPr/>
        </p:nvSpPr>
        <p:spPr>
          <a:xfrm>
            <a:off x="3127248" y="1828800"/>
            <a:ext cx="182880" cy="182880"/>
          </a:xfrm>
          <a:prstGeom prst="ellipse">
            <a:avLst/>
          </a:prstGeom>
          <a:solidFill>
            <a:srgbClr val="8A5F22"/>
          </a:solidFill>
          <a:ln w="12700">
            <a:solidFill>
              <a:srgbClr val="333333"/>
            </a:solidFill>
            <a:prstDash val="solid"/>
          </a:ln>
        </p:spPr>
      </p:sp>
      <p:sp>
        <p:nvSpPr>
          <p:cNvPr id="17" name="Shape 15"/>
          <p:cNvSpPr/>
          <p:nvPr/>
        </p:nvSpPr>
        <p:spPr>
          <a:xfrm>
            <a:off x="658368" y="2103120"/>
            <a:ext cx="182880" cy="182880"/>
          </a:xfrm>
          <a:prstGeom prst="ellipse">
            <a:avLst/>
          </a:prstGeom>
          <a:solidFill>
            <a:srgbClr val="8A5F22"/>
          </a:solidFill>
          <a:ln w="12700">
            <a:solidFill>
              <a:srgbClr val="333333"/>
            </a:solidFill>
            <a:prstDash val="solid"/>
          </a:ln>
        </p:spPr>
      </p:sp>
      <p:sp>
        <p:nvSpPr>
          <p:cNvPr id="18" name="Shape 16"/>
          <p:cNvSpPr/>
          <p:nvPr/>
        </p:nvSpPr>
        <p:spPr>
          <a:xfrm>
            <a:off x="932688" y="2103120"/>
            <a:ext cx="182880" cy="182880"/>
          </a:xfrm>
          <a:prstGeom prst="ellipse">
            <a:avLst/>
          </a:prstGeom>
          <a:solidFill>
            <a:srgbClr val="8A5F22"/>
          </a:solidFill>
          <a:ln w="12700">
            <a:solidFill>
              <a:srgbClr val="333333"/>
            </a:solidFill>
            <a:prstDash val="solid"/>
          </a:ln>
        </p:spPr>
      </p:sp>
      <p:sp>
        <p:nvSpPr>
          <p:cNvPr id="19" name="Shape 17"/>
          <p:cNvSpPr/>
          <p:nvPr/>
        </p:nvSpPr>
        <p:spPr>
          <a:xfrm>
            <a:off x="1207008" y="2103120"/>
            <a:ext cx="182880" cy="182880"/>
          </a:xfrm>
          <a:prstGeom prst="ellipse">
            <a:avLst/>
          </a:prstGeom>
          <a:solidFill>
            <a:srgbClr val="8A5F22"/>
          </a:solidFill>
          <a:ln w="12700">
            <a:solidFill>
              <a:srgbClr val="333333"/>
            </a:solidFill>
            <a:prstDash val="solid"/>
          </a:ln>
        </p:spPr>
      </p:sp>
      <p:sp>
        <p:nvSpPr>
          <p:cNvPr id="20" name="Shape 18"/>
          <p:cNvSpPr/>
          <p:nvPr/>
        </p:nvSpPr>
        <p:spPr>
          <a:xfrm>
            <a:off x="1481328" y="2103120"/>
            <a:ext cx="182880" cy="182880"/>
          </a:xfrm>
          <a:prstGeom prst="ellipse">
            <a:avLst/>
          </a:prstGeom>
          <a:solidFill>
            <a:srgbClr val="8A5F22"/>
          </a:solidFill>
          <a:ln w="12700">
            <a:solidFill>
              <a:srgbClr val="333333"/>
            </a:solidFill>
            <a:prstDash val="solid"/>
          </a:ln>
        </p:spPr>
      </p:sp>
      <p:sp>
        <p:nvSpPr>
          <p:cNvPr id="21" name="Shape 19"/>
          <p:cNvSpPr/>
          <p:nvPr/>
        </p:nvSpPr>
        <p:spPr>
          <a:xfrm>
            <a:off x="1755648" y="2103120"/>
            <a:ext cx="182880" cy="182880"/>
          </a:xfrm>
          <a:prstGeom prst="ellipse">
            <a:avLst/>
          </a:prstGeom>
          <a:solidFill>
            <a:srgbClr val="8A5F22"/>
          </a:solidFill>
          <a:ln w="12700">
            <a:solidFill>
              <a:srgbClr val="333333"/>
            </a:solidFill>
            <a:prstDash val="solid"/>
          </a:ln>
        </p:spPr>
      </p:sp>
      <p:sp>
        <p:nvSpPr>
          <p:cNvPr id="22" name="Shape 20"/>
          <p:cNvSpPr/>
          <p:nvPr/>
        </p:nvSpPr>
        <p:spPr>
          <a:xfrm>
            <a:off x="2029968" y="2103120"/>
            <a:ext cx="182880" cy="182880"/>
          </a:xfrm>
          <a:prstGeom prst="ellipse">
            <a:avLst/>
          </a:prstGeom>
          <a:solidFill>
            <a:srgbClr val="8A5F22"/>
          </a:solidFill>
          <a:ln w="12700">
            <a:solidFill>
              <a:srgbClr val="333333"/>
            </a:solidFill>
            <a:prstDash val="solid"/>
          </a:ln>
        </p:spPr>
      </p:sp>
      <p:sp>
        <p:nvSpPr>
          <p:cNvPr id="23" name="Shape 21"/>
          <p:cNvSpPr/>
          <p:nvPr/>
        </p:nvSpPr>
        <p:spPr>
          <a:xfrm>
            <a:off x="2304288" y="2103120"/>
            <a:ext cx="182880" cy="182880"/>
          </a:xfrm>
          <a:prstGeom prst="ellipse">
            <a:avLst/>
          </a:prstGeom>
          <a:solidFill>
            <a:srgbClr val="8A5F22"/>
          </a:solidFill>
          <a:ln w="12700">
            <a:solidFill>
              <a:srgbClr val="333333"/>
            </a:solidFill>
            <a:prstDash val="solid"/>
          </a:ln>
        </p:spPr>
      </p:sp>
      <p:sp>
        <p:nvSpPr>
          <p:cNvPr id="24" name="Shape 22"/>
          <p:cNvSpPr/>
          <p:nvPr/>
        </p:nvSpPr>
        <p:spPr>
          <a:xfrm>
            <a:off x="2578608" y="2103120"/>
            <a:ext cx="182880" cy="182880"/>
          </a:xfrm>
          <a:prstGeom prst="ellipse">
            <a:avLst/>
          </a:prstGeom>
          <a:solidFill>
            <a:srgbClr val="8A5F22"/>
          </a:solidFill>
          <a:ln w="12700">
            <a:solidFill>
              <a:srgbClr val="333333"/>
            </a:solidFill>
            <a:prstDash val="solid"/>
          </a:ln>
        </p:spPr>
      </p:sp>
      <p:sp>
        <p:nvSpPr>
          <p:cNvPr id="25" name="Shape 23"/>
          <p:cNvSpPr/>
          <p:nvPr/>
        </p:nvSpPr>
        <p:spPr>
          <a:xfrm>
            <a:off x="2852928" y="2103120"/>
            <a:ext cx="182880" cy="182880"/>
          </a:xfrm>
          <a:prstGeom prst="ellipse">
            <a:avLst/>
          </a:prstGeom>
          <a:solidFill>
            <a:srgbClr val="8A5F22"/>
          </a:solidFill>
          <a:ln w="12700">
            <a:solidFill>
              <a:srgbClr val="333333"/>
            </a:solidFill>
            <a:prstDash val="solid"/>
          </a:ln>
        </p:spPr>
      </p:sp>
      <p:sp>
        <p:nvSpPr>
          <p:cNvPr id="26" name="Shape 24"/>
          <p:cNvSpPr/>
          <p:nvPr/>
        </p:nvSpPr>
        <p:spPr>
          <a:xfrm>
            <a:off x="3127248" y="2103120"/>
            <a:ext cx="182880" cy="182880"/>
          </a:xfrm>
          <a:prstGeom prst="ellipse">
            <a:avLst/>
          </a:prstGeom>
          <a:solidFill>
            <a:srgbClr val="8A5F22"/>
          </a:solidFill>
          <a:ln w="12700">
            <a:solidFill>
              <a:srgbClr val="333333"/>
            </a:solidFill>
            <a:prstDash val="solid"/>
          </a:ln>
        </p:spPr>
      </p:sp>
      <p:sp>
        <p:nvSpPr>
          <p:cNvPr id="27" name="Shape 25"/>
          <p:cNvSpPr/>
          <p:nvPr/>
        </p:nvSpPr>
        <p:spPr>
          <a:xfrm>
            <a:off x="658368" y="2377440"/>
            <a:ext cx="182880" cy="182880"/>
          </a:xfrm>
          <a:prstGeom prst="ellipse">
            <a:avLst/>
          </a:prstGeom>
          <a:solidFill>
            <a:srgbClr val="8A5F22"/>
          </a:solidFill>
          <a:ln w="12700">
            <a:solidFill>
              <a:srgbClr val="333333"/>
            </a:solidFill>
            <a:prstDash val="solid"/>
          </a:ln>
        </p:spPr>
      </p:sp>
      <p:sp>
        <p:nvSpPr>
          <p:cNvPr id="28" name="Shape 26"/>
          <p:cNvSpPr/>
          <p:nvPr/>
        </p:nvSpPr>
        <p:spPr>
          <a:xfrm>
            <a:off x="932688" y="2377440"/>
            <a:ext cx="182880" cy="182880"/>
          </a:xfrm>
          <a:prstGeom prst="ellipse">
            <a:avLst/>
          </a:prstGeom>
          <a:solidFill>
            <a:srgbClr val="8A5F22"/>
          </a:solidFill>
          <a:ln w="12700">
            <a:solidFill>
              <a:srgbClr val="333333"/>
            </a:solidFill>
            <a:prstDash val="solid"/>
          </a:ln>
        </p:spPr>
      </p:sp>
      <p:sp>
        <p:nvSpPr>
          <p:cNvPr id="29" name="Shape 27"/>
          <p:cNvSpPr/>
          <p:nvPr/>
        </p:nvSpPr>
        <p:spPr>
          <a:xfrm>
            <a:off x="1207008" y="2377440"/>
            <a:ext cx="182880" cy="182880"/>
          </a:xfrm>
          <a:prstGeom prst="ellipse">
            <a:avLst/>
          </a:prstGeom>
          <a:solidFill>
            <a:srgbClr val="8A5F22"/>
          </a:solidFill>
          <a:ln w="12700">
            <a:solidFill>
              <a:srgbClr val="333333"/>
            </a:solidFill>
            <a:prstDash val="solid"/>
          </a:ln>
        </p:spPr>
      </p:sp>
      <p:sp>
        <p:nvSpPr>
          <p:cNvPr id="30" name="Shape 28"/>
          <p:cNvSpPr/>
          <p:nvPr/>
        </p:nvSpPr>
        <p:spPr>
          <a:xfrm>
            <a:off x="1481328" y="2377440"/>
            <a:ext cx="182880" cy="182880"/>
          </a:xfrm>
          <a:prstGeom prst="ellipse">
            <a:avLst/>
          </a:prstGeom>
          <a:solidFill>
            <a:srgbClr val="8A5F22"/>
          </a:solidFill>
          <a:ln w="12700">
            <a:solidFill>
              <a:srgbClr val="333333"/>
            </a:solidFill>
            <a:prstDash val="solid"/>
          </a:ln>
        </p:spPr>
      </p:sp>
      <p:sp>
        <p:nvSpPr>
          <p:cNvPr id="31" name="Shape 29"/>
          <p:cNvSpPr/>
          <p:nvPr/>
        </p:nvSpPr>
        <p:spPr>
          <a:xfrm>
            <a:off x="1755648" y="2377440"/>
            <a:ext cx="182880" cy="182880"/>
          </a:xfrm>
          <a:prstGeom prst="ellipse">
            <a:avLst/>
          </a:prstGeom>
          <a:solidFill>
            <a:srgbClr val="8A5F22"/>
          </a:solidFill>
          <a:ln w="12700">
            <a:solidFill>
              <a:srgbClr val="333333"/>
            </a:solidFill>
            <a:prstDash val="solid"/>
          </a:ln>
        </p:spPr>
      </p:sp>
      <p:sp>
        <p:nvSpPr>
          <p:cNvPr id="32" name="Shape 30"/>
          <p:cNvSpPr/>
          <p:nvPr/>
        </p:nvSpPr>
        <p:spPr>
          <a:xfrm>
            <a:off x="2029968" y="2377440"/>
            <a:ext cx="182880" cy="182880"/>
          </a:xfrm>
          <a:prstGeom prst="ellipse">
            <a:avLst/>
          </a:prstGeom>
          <a:solidFill>
            <a:srgbClr val="8A5F22"/>
          </a:solidFill>
          <a:ln w="12700">
            <a:solidFill>
              <a:srgbClr val="333333"/>
            </a:solidFill>
            <a:prstDash val="solid"/>
          </a:ln>
        </p:spPr>
      </p:sp>
      <p:sp>
        <p:nvSpPr>
          <p:cNvPr id="33" name="Shape 31"/>
          <p:cNvSpPr/>
          <p:nvPr/>
        </p:nvSpPr>
        <p:spPr>
          <a:xfrm>
            <a:off x="2304288" y="2377440"/>
            <a:ext cx="182880" cy="182880"/>
          </a:xfrm>
          <a:prstGeom prst="ellipse">
            <a:avLst/>
          </a:prstGeom>
          <a:solidFill>
            <a:srgbClr val="8A5F22"/>
          </a:solidFill>
          <a:ln w="12700">
            <a:solidFill>
              <a:srgbClr val="333333"/>
            </a:solidFill>
            <a:prstDash val="solid"/>
          </a:ln>
        </p:spPr>
      </p:sp>
      <p:sp>
        <p:nvSpPr>
          <p:cNvPr id="34" name="Shape 32"/>
          <p:cNvSpPr/>
          <p:nvPr/>
        </p:nvSpPr>
        <p:spPr>
          <a:xfrm>
            <a:off x="2578608" y="2377440"/>
            <a:ext cx="182880" cy="182880"/>
          </a:xfrm>
          <a:prstGeom prst="ellipse">
            <a:avLst/>
          </a:prstGeom>
          <a:solidFill>
            <a:srgbClr val="8A5F22"/>
          </a:solidFill>
          <a:ln w="12700">
            <a:solidFill>
              <a:srgbClr val="333333"/>
            </a:solidFill>
            <a:prstDash val="solid"/>
          </a:ln>
        </p:spPr>
      </p:sp>
      <p:sp>
        <p:nvSpPr>
          <p:cNvPr id="35" name="Shape 33"/>
          <p:cNvSpPr/>
          <p:nvPr/>
        </p:nvSpPr>
        <p:spPr>
          <a:xfrm>
            <a:off x="2852928" y="2377440"/>
            <a:ext cx="182880" cy="182880"/>
          </a:xfrm>
          <a:prstGeom prst="ellipse">
            <a:avLst/>
          </a:prstGeom>
          <a:solidFill>
            <a:srgbClr val="8A5F22"/>
          </a:solidFill>
          <a:ln w="12700">
            <a:solidFill>
              <a:srgbClr val="333333"/>
            </a:solidFill>
            <a:prstDash val="solid"/>
          </a:ln>
        </p:spPr>
      </p:sp>
      <p:sp>
        <p:nvSpPr>
          <p:cNvPr id="36" name="Shape 34"/>
          <p:cNvSpPr/>
          <p:nvPr/>
        </p:nvSpPr>
        <p:spPr>
          <a:xfrm>
            <a:off x="3127248" y="2377440"/>
            <a:ext cx="182880" cy="182880"/>
          </a:xfrm>
          <a:prstGeom prst="ellipse">
            <a:avLst/>
          </a:prstGeom>
          <a:solidFill>
            <a:srgbClr val="8A5F22"/>
          </a:solidFill>
          <a:ln w="12700">
            <a:solidFill>
              <a:srgbClr val="333333"/>
            </a:solidFill>
            <a:prstDash val="solid"/>
          </a:ln>
        </p:spPr>
      </p:sp>
      <p:sp>
        <p:nvSpPr>
          <p:cNvPr id="37" name="Shape 35"/>
          <p:cNvSpPr/>
          <p:nvPr/>
        </p:nvSpPr>
        <p:spPr>
          <a:xfrm>
            <a:off x="658368" y="2651760"/>
            <a:ext cx="182880" cy="182880"/>
          </a:xfrm>
          <a:prstGeom prst="ellipse">
            <a:avLst/>
          </a:prstGeom>
          <a:solidFill>
            <a:srgbClr val="8A5F22"/>
          </a:solidFill>
          <a:ln w="12700">
            <a:solidFill>
              <a:srgbClr val="333333"/>
            </a:solidFill>
            <a:prstDash val="solid"/>
          </a:ln>
        </p:spPr>
      </p:sp>
      <p:sp>
        <p:nvSpPr>
          <p:cNvPr id="38" name="Shape 36"/>
          <p:cNvSpPr/>
          <p:nvPr/>
        </p:nvSpPr>
        <p:spPr>
          <a:xfrm>
            <a:off x="932688" y="2651760"/>
            <a:ext cx="182880" cy="182880"/>
          </a:xfrm>
          <a:prstGeom prst="ellipse">
            <a:avLst/>
          </a:prstGeom>
          <a:solidFill>
            <a:srgbClr val="8A5F22"/>
          </a:solidFill>
          <a:ln w="12700">
            <a:solidFill>
              <a:srgbClr val="333333"/>
            </a:solidFill>
            <a:prstDash val="solid"/>
          </a:ln>
        </p:spPr>
      </p:sp>
      <p:sp>
        <p:nvSpPr>
          <p:cNvPr id="39" name="Shape 37"/>
          <p:cNvSpPr/>
          <p:nvPr/>
        </p:nvSpPr>
        <p:spPr>
          <a:xfrm>
            <a:off x="1207008" y="2651760"/>
            <a:ext cx="182880" cy="182880"/>
          </a:xfrm>
          <a:prstGeom prst="ellipse">
            <a:avLst/>
          </a:prstGeom>
          <a:solidFill>
            <a:srgbClr val="8A5F22"/>
          </a:solidFill>
          <a:ln w="12700">
            <a:solidFill>
              <a:srgbClr val="333333"/>
            </a:solidFill>
            <a:prstDash val="solid"/>
          </a:ln>
        </p:spPr>
      </p:sp>
      <p:sp>
        <p:nvSpPr>
          <p:cNvPr id="40" name="Shape 38"/>
          <p:cNvSpPr/>
          <p:nvPr/>
        </p:nvSpPr>
        <p:spPr>
          <a:xfrm>
            <a:off x="1481328" y="2651760"/>
            <a:ext cx="182880" cy="182880"/>
          </a:xfrm>
          <a:prstGeom prst="ellipse">
            <a:avLst/>
          </a:prstGeom>
          <a:solidFill>
            <a:srgbClr val="8A5F22"/>
          </a:solidFill>
          <a:ln w="12700">
            <a:solidFill>
              <a:srgbClr val="333333"/>
            </a:solidFill>
            <a:prstDash val="solid"/>
          </a:ln>
        </p:spPr>
      </p:sp>
      <p:sp>
        <p:nvSpPr>
          <p:cNvPr id="41" name="Shape 39"/>
          <p:cNvSpPr/>
          <p:nvPr/>
        </p:nvSpPr>
        <p:spPr>
          <a:xfrm>
            <a:off x="1755648" y="2651760"/>
            <a:ext cx="182880" cy="182880"/>
          </a:xfrm>
          <a:prstGeom prst="ellipse">
            <a:avLst/>
          </a:prstGeom>
          <a:solidFill>
            <a:srgbClr val="8A5F22"/>
          </a:solidFill>
          <a:ln w="12700">
            <a:solidFill>
              <a:srgbClr val="333333"/>
            </a:solidFill>
            <a:prstDash val="solid"/>
          </a:ln>
        </p:spPr>
      </p:sp>
      <p:sp>
        <p:nvSpPr>
          <p:cNvPr id="42" name="Shape 40"/>
          <p:cNvSpPr/>
          <p:nvPr/>
        </p:nvSpPr>
        <p:spPr>
          <a:xfrm>
            <a:off x="2029968" y="2651760"/>
            <a:ext cx="182880" cy="182880"/>
          </a:xfrm>
          <a:prstGeom prst="ellipse">
            <a:avLst/>
          </a:prstGeom>
          <a:solidFill>
            <a:srgbClr val="8A5F22"/>
          </a:solidFill>
          <a:ln w="12700">
            <a:solidFill>
              <a:srgbClr val="333333"/>
            </a:solidFill>
            <a:prstDash val="solid"/>
          </a:ln>
        </p:spPr>
      </p:sp>
      <p:sp>
        <p:nvSpPr>
          <p:cNvPr id="43" name="Shape 41"/>
          <p:cNvSpPr/>
          <p:nvPr/>
        </p:nvSpPr>
        <p:spPr>
          <a:xfrm>
            <a:off x="2304288" y="2651760"/>
            <a:ext cx="182880" cy="182880"/>
          </a:xfrm>
          <a:prstGeom prst="ellipse">
            <a:avLst/>
          </a:prstGeom>
          <a:solidFill>
            <a:srgbClr val="8A5F22"/>
          </a:solidFill>
          <a:ln w="12700">
            <a:solidFill>
              <a:srgbClr val="333333"/>
            </a:solidFill>
            <a:prstDash val="solid"/>
          </a:ln>
        </p:spPr>
      </p:sp>
      <p:sp>
        <p:nvSpPr>
          <p:cNvPr id="44" name="Shape 42"/>
          <p:cNvSpPr/>
          <p:nvPr/>
        </p:nvSpPr>
        <p:spPr>
          <a:xfrm>
            <a:off x="2578608" y="2651760"/>
            <a:ext cx="182880" cy="182880"/>
          </a:xfrm>
          <a:prstGeom prst="ellipse">
            <a:avLst/>
          </a:prstGeom>
          <a:solidFill>
            <a:srgbClr val="8A5F22"/>
          </a:solidFill>
          <a:ln w="12700">
            <a:solidFill>
              <a:srgbClr val="333333"/>
            </a:solidFill>
            <a:prstDash val="solid"/>
          </a:ln>
        </p:spPr>
      </p:sp>
      <p:sp>
        <p:nvSpPr>
          <p:cNvPr id="45" name="Shape 43"/>
          <p:cNvSpPr/>
          <p:nvPr/>
        </p:nvSpPr>
        <p:spPr>
          <a:xfrm>
            <a:off x="2852928" y="2651760"/>
            <a:ext cx="182880" cy="182880"/>
          </a:xfrm>
          <a:prstGeom prst="ellipse">
            <a:avLst/>
          </a:prstGeom>
          <a:solidFill>
            <a:srgbClr val="8A5F22"/>
          </a:solidFill>
          <a:ln w="12700">
            <a:solidFill>
              <a:srgbClr val="333333"/>
            </a:solidFill>
            <a:prstDash val="solid"/>
          </a:ln>
        </p:spPr>
      </p:sp>
      <p:sp>
        <p:nvSpPr>
          <p:cNvPr id="46" name="Shape 44"/>
          <p:cNvSpPr/>
          <p:nvPr/>
        </p:nvSpPr>
        <p:spPr>
          <a:xfrm>
            <a:off x="3127248" y="2651760"/>
            <a:ext cx="182880" cy="182880"/>
          </a:xfrm>
          <a:prstGeom prst="ellipse">
            <a:avLst/>
          </a:prstGeom>
          <a:solidFill>
            <a:srgbClr val="8A5F22"/>
          </a:solidFill>
          <a:ln w="12700">
            <a:solidFill>
              <a:srgbClr val="333333"/>
            </a:solidFill>
            <a:prstDash val="solid"/>
          </a:ln>
        </p:spPr>
      </p:sp>
      <p:sp>
        <p:nvSpPr>
          <p:cNvPr id="47" name="Shape 45"/>
          <p:cNvSpPr/>
          <p:nvPr/>
        </p:nvSpPr>
        <p:spPr>
          <a:xfrm>
            <a:off x="658368" y="2926080"/>
            <a:ext cx="182880" cy="182880"/>
          </a:xfrm>
          <a:prstGeom prst="ellipse">
            <a:avLst/>
          </a:prstGeom>
          <a:solidFill>
            <a:srgbClr val="8A5F22"/>
          </a:solidFill>
          <a:ln w="12700">
            <a:solidFill>
              <a:srgbClr val="333333"/>
            </a:solidFill>
            <a:prstDash val="solid"/>
          </a:ln>
        </p:spPr>
      </p:sp>
      <p:sp>
        <p:nvSpPr>
          <p:cNvPr id="48" name="Shape 46"/>
          <p:cNvSpPr/>
          <p:nvPr/>
        </p:nvSpPr>
        <p:spPr>
          <a:xfrm>
            <a:off x="932688" y="2926080"/>
            <a:ext cx="182880" cy="182880"/>
          </a:xfrm>
          <a:prstGeom prst="ellipse">
            <a:avLst/>
          </a:prstGeom>
          <a:solidFill>
            <a:srgbClr val="8A5F22"/>
          </a:solidFill>
          <a:ln w="12700">
            <a:solidFill>
              <a:srgbClr val="333333"/>
            </a:solidFill>
            <a:prstDash val="solid"/>
          </a:ln>
        </p:spPr>
      </p:sp>
      <p:sp>
        <p:nvSpPr>
          <p:cNvPr id="49" name="Shape 47"/>
          <p:cNvSpPr/>
          <p:nvPr/>
        </p:nvSpPr>
        <p:spPr>
          <a:xfrm>
            <a:off x="1207008" y="2926080"/>
            <a:ext cx="182880" cy="182880"/>
          </a:xfrm>
          <a:prstGeom prst="ellipse">
            <a:avLst/>
          </a:prstGeom>
          <a:solidFill>
            <a:srgbClr val="8A5F22"/>
          </a:solidFill>
          <a:ln w="12700">
            <a:solidFill>
              <a:srgbClr val="333333"/>
            </a:solidFill>
            <a:prstDash val="solid"/>
          </a:ln>
        </p:spPr>
      </p:sp>
      <p:sp>
        <p:nvSpPr>
          <p:cNvPr id="50" name="Shape 48"/>
          <p:cNvSpPr/>
          <p:nvPr/>
        </p:nvSpPr>
        <p:spPr>
          <a:xfrm>
            <a:off x="1481328" y="2926080"/>
            <a:ext cx="182880" cy="182880"/>
          </a:xfrm>
          <a:prstGeom prst="ellipse">
            <a:avLst/>
          </a:prstGeom>
          <a:solidFill>
            <a:srgbClr val="8A5F22"/>
          </a:solidFill>
          <a:ln w="12700">
            <a:solidFill>
              <a:srgbClr val="333333"/>
            </a:solidFill>
            <a:prstDash val="solid"/>
          </a:ln>
        </p:spPr>
      </p:sp>
      <p:sp>
        <p:nvSpPr>
          <p:cNvPr id="51" name="Shape 49"/>
          <p:cNvSpPr/>
          <p:nvPr/>
        </p:nvSpPr>
        <p:spPr>
          <a:xfrm>
            <a:off x="1755648" y="2926080"/>
            <a:ext cx="182880" cy="182880"/>
          </a:xfrm>
          <a:prstGeom prst="ellipse">
            <a:avLst/>
          </a:prstGeom>
          <a:solidFill>
            <a:srgbClr val="8A5F22"/>
          </a:solidFill>
          <a:ln w="12700">
            <a:solidFill>
              <a:srgbClr val="333333"/>
            </a:solidFill>
            <a:prstDash val="solid"/>
          </a:ln>
        </p:spPr>
      </p:sp>
      <p:sp>
        <p:nvSpPr>
          <p:cNvPr id="52" name="Shape 50"/>
          <p:cNvSpPr/>
          <p:nvPr/>
        </p:nvSpPr>
        <p:spPr>
          <a:xfrm>
            <a:off x="2029968" y="2926080"/>
            <a:ext cx="182880" cy="182880"/>
          </a:xfrm>
          <a:prstGeom prst="ellipse">
            <a:avLst/>
          </a:prstGeom>
          <a:solidFill>
            <a:srgbClr val="8A5F22"/>
          </a:solidFill>
          <a:ln w="12700">
            <a:solidFill>
              <a:srgbClr val="333333"/>
            </a:solidFill>
            <a:prstDash val="solid"/>
          </a:ln>
        </p:spPr>
      </p:sp>
      <p:sp>
        <p:nvSpPr>
          <p:cNvPr id="53" name="Shape 51"/>
          <p:cNvSpPr/>
          <p:nvPr/>
        </p:nvSpPr>
        <p:spPr>
          <a:xfrm>
            <a:off x="2304288" y="2926080"/>
            <a:ext cx="182880" cy="182880"/>
          </a:xfrm>
          <a:prstGeom prst="ellipse">
            <a:avLst/>
          </a:prstGeom>
          <a:solidFill>
            <a:srgbClr val="8A5F22"/>
          </a:solidFill>
          <a:ln w="12700">
            <a:solidFill>
              <a:srgbClr val="333333"/>
            </a:solidFill>
            <a:prstDash val="solid"/>
          </a:ln>
        </p:spPr>
      </p:sp>
      <p:sp>
        <p:nvSpPr>
          <p:cNvPr id="54" name="Shape 52"/>
          <p:cNvSpPr/>
          <p:nvPr/>
        </p:nvSpPr>
        <p:spPr>
          <a:xfrm>
            <a:off x="2578608" y="2926080"/>
            <a:ext cx="182880" cy="182880"/>
          </a:xfrm>
          <a:prstGeom prst="ellipse">
            <a:avLst/>
          </a:prstGeom>
          <a:solidFill>
            <a:srgbClr val="8A5F22"/>
          </a:solidFill>
          <a:ln w="12700">
            <a:solidFill>
              <a:srgbClr val="333333"/>
            </a:solidFill>
            <a:prstDash val="solid"/>
          </a:ln>
        </p:spPr>
      </p:sp>
      <p:sp>
        <p:nvSpPr>
          <p:cNvPr id="55" name="Shape 53"/>
          <p:cNvSpPr/>
          <p:nvPr/>
        </p:nvSpPr>
        <p:spPr>
          <a:xfrm>
            <a:off x="2852928" y="2926080"/>
            <a:ext cx="182880" cy="182880"/>
          </a:xfrm>
          <a:prstGeom prst="ellipse">
            <a:avLst/>
          </a:prstGeom>
          <a:solidFill>
            <a:srgbClr val="8A5F22"/>
          </a:solidFill>
          <a:ln w="12700">
            <a:solidFill>
              <a:srgbClr val="333333"/>
            </a:solidFill>
            <a:prstDash val="solid"/>
          </a:ln>
        </p:spPr>
      </p:sp>
      <p:sp>
        <p:nvSpPr>
          <p:cNvPr id="56" name="Shape 54"/>
          <p:cNvSpPr/>
          <p:nvPr/>
        </p:nvSpPr>
        <p:spPr>
          <a:xfrm>
            <a:off x="3127248" y="2926080"/>
            <a:ext cx="182880" cy="182880"/>
          </a:xfrm>
          <a:prstGeom prst="ellipse">
            <a:avLst/>
          </a:prstGeom>
          <a:solidFill>
            <a:srgbClr val="8A5F22"/>
          </a:solidFill>
          <a:ln w="12700">
            <a:solidFill>
              <a:srgbClr val="333333"/>
            </a:solidFill>
            <a:prstDash val="solid"/>
          </a:ln>
        </p:spPr>
      </p:sp>
      <p:sp>
        <p:nvSpPr>
          <p:cNvPr id="57" name="Shape 55"/>
          <p:cNvSpPr/>
          <p:nvPr/>
        </p:nvSpPr>
        <p:spPr>
          <a:xfrm>
            <a:off x="658368" y="3200400"/>
            <a:ext cx="182880" cy="182880"/>
          </a:xfrm>
          <a:prstGeom prst="ellipse">
            <a:avLst/>
          </a:prstGeom>
          <a:solidFill>
            <a:srgbClr val="8A5F22"/>
          </a:solidFill>
          <a:ln w="12700">
            <a:solidFill>
              <a:srgbClr val="333333"/>
            </a:solidFill>
            <a:prstDash val="solid"/>
          </a:ln>
        </p:spPr>
      </p:sp>
      <p:sp>
        <p:nvSpPr>
          <p:cNvPr id="58" name="Shape 56"/>
          <p:cNvSpPr/>
          <p:nvPr/>
        </p:nvSpPr>
        <p:spPr>
          <a:xfrm>
            <a:off x="932688" y="3200400"/>
            <a:ext cx="182880" cy="182880"/>
          </a:xfrm>
          <a:prstGeom prst="ellipse">
            <a:avLst/>
          </a:prstGeom>
          <a:solidFill>
            <a:srgbClr val="8A5F22"/>
          </a:solidFill>
          <a:ln w="12700">
            <a:solidFill>
              <a:srgbClr val="333333"/>
            </a:solidFill>
            <a:prstDash val="solid"/>
          </a:ln>
        </p:spPr>
      </p:sp>
      <p:sp>
        <p:nvSpPr>
          <p:cNvPr id="59" name="Shape 57"/>
          <p:cNvSpPr/>
          <p:nvPr/>
        </p:nvSpPr>
        <p:spPr>
          <a:xfrm>
            <a:off x="1207008" y="3200400"/>
            <a:ext cx="182880" cy="182880"/>
          </a:xfrm>
          <a:prstGeom prst="ellipse">
            <a:avLst/>
          </a:prstGeom>
          <a:solidFill>
            <a:srgbClr val="8A5F22"/>
          </a:solidFill>
          <a:ln w="12700">
            <a:solidFill>
              <a:srgbClr val="333333"/>
            </a:solidFill>
            <a:prstDash val="solid"/>
          </a:ln>
        </p:spPr>
      </p:sp>
      <p:sp>
        <p:nvSpPr>
          <p:cNvPr id="60" name="Shape 58"/>
          <p:cNvSpPr/>
          <p:nvPr/>
        </p:nvSpPr>
        <p:spPr>
          <a:xfrm>
            <a:off x="1481328" y="3200400"/>
            <a:ext cx="182880" cy="182880"/>
          </a:xfrm>
          <a:prstGeom prst="ellipse">
            <a:avLst/>
          </a:prstGeom>
          <a:solidFill>
            <a:srgbClr val="8A5F22"/>
          </a:solidFill>
          <a:ln w="12700">
            <a:solidFill>
              <a:srgbClr val="333333"/>
            </a:solidFill>
            <a:prstDash val="solid"/>
          </a:ln>
        </p:spPr>
      </p:sp>
      <p:sp>
        <p:nvSpPr>
          <p:cNvPr id="61" name="Shape 59"/>
          <p:cNvSpPr/>
          <p:nvPr/>
        </p:nvSpPr>
        <p:spPr>
          <a:xfrm>
            <a:off x="1755648" y="3200400"/>
            <a:ext cx="182880" cy="182880"/>
          </a:xfrm>
          <a:prstGeom prst="ellipse">
            <a:avLst/>
          </a:prstGeom>
          <a:solidFill>
            <a:srgbClr val="8A5F22"/>
          </a:solidFill>
          <a:ln w="12700">
            <a:solidFill>
              <a:srgbClr val="333333"/>
            </a:solidFill>
            <a:prstDash val="solid"/>
          </a:ln>
        </p:spPr>
      </p:sp>
      <p:sp>
        <p:nvSpPr>
          <p:cNvPr id="62" name="Shape 60"/>
          <p:cNvSpPr/>
          <p:nvPr/>
        </p:nvSpPr>
        <p:spPr>
          <a:xfrm>
            <a:off x="2029968" y="3200400"/>
            <a:ext cx="182880" cy="182880"/>
          </a:xfrm>
          <a:prstGeom prst="ellipse">
            <a:avLst/>
          </a:prstGeom>
          <a:solidFill>
            <a:srgbClr val="8A5F22"/>
          </a:solidFill>
          <a:ln w="12700">
            <a:solidFill>
              <a:srgbClr val="333333"/>
            </a:solidFill>
            <a:prstDash val="solid"/>
          </a:ln>
        </p:spPr>
      </p:sp>
      <p:sp>
        <p:nvSpPr>
          <p:cNvPr id="63" name="Shape 61"/>
          <p:cNvSpPr/>
          <p:nvPr/>
        </p:nvSpPr>
        <p:spPr>
          <a:xfrm>
            <a:off x="2304288" y="3200400"/>
            <a:ext cx="182880" cy="182880"/>
          </a:xfrm>
          <a:prstGeom prst="ellipse">
            <a:avLst/>
          </a:prstGeom>
          <a:solidFill>
            <a:srgbClr val="8A5F22"/>
          </a:solidFill>
          <a:ln w="12700">
            <a:solidFill>
              <a:srgbClr val="333333"/>
            </a:solidFill>
            <a:prstDash val="solid"/>
          </a:ln>
        </p:spPr>
      </p:sp>
      <p:sp>
        <p:nvSpPr>
          <p:cNvPr id="64" name="Shape 62"/>
          <p:cNvSpPr/>
          <p:nvPr/>
        </p:nvSpPr>
        <p:spPr>
          <a:xfrm>
            <a:off x="2578608" y="3200400"/>
            <a:ext cx="182880" cy="182880"/>
          </a:xfrm>
          <a:prstGeom prst="ellipse">
            <a:avLst/>
          </a:prstGeom>
          <a:solidFill>
            <a:srgbClr val="8A5F22"/>
          </a:solidFill>
          <a:ln w="12700">
            <a:solidFill>
              <a:srgbClr val="333333"/>
            </a:solidFill>
            <a:prstDash val="solid"/>
          </a:ln>
        </p:spPr>
      </p:sp>
      <p:sp>
        <p:nvSpPr>
          <p:cNvPr id="65" name="Shape 63"/>
          <p:cNvSpPr/>
          <p:nvPr/>
        </p:nvSpPr>
        <p:spPr>
          <a:xfrm>
            <a:off x="2852928" y="3200400"/>
            <a:ext cx="182880" cy="182880"/>
          </a:xfrm>
          <a:prstGeom prst="ellipse">
            <a:avLst/>
          </a:prstGeom>
          <a:solidFill>
            <a:srgbClr val="8A5F22"/>
          </a:solidFill>
          <a:ln w="12700">
            <a:solidFill>
              <a:srgbClr val="333333"/>
            </a:solidFill>
            <a:prstDash val="solid"/>
          </a:ln>
        </p:spPr>
      </p:sp>
      <p:sp>
        <p:nvSpPr>
          <p:cNvPr id="66" name="Shape 64"/>
          <p:cNvSpPr/>
          <p:nvPr/>
        </p:nvSpPr>
        <p:spPr>
          <a:xfrm>
            <a:off x="3127248" y="3200400"/>
            <a:ext cx="182880" cy="182880"/>
          </a:xfrm>
          <a:prstGeom prst="ellipse">
            <a:avLst/>
          </a:prstGeom>
          <a:solidFill>
            <a:srgbClr val="8A5F22"/>
          </a:solidFill>
          <a:ln w="12700">
            <a:solidFill>
              <a:srgbClr val="333333"/>
            </a:solidFill>
            <a:prstDash val="solid"/>
          </a:ln>
        </p:spPr>
      </p:sp>
      <p:sp>
        <p:nvSpPr>
          <p:cNvPr id="67" name="Shape 65"/>
          <p:cNvSpPr/>
          <p:nvPr/>
        </p:nvSpPr>
        <p:spPr>
          <a:xfrm>
            <a:off x="3584448" y="2606040"/>
            <a:ext cx="274320" cy="146304"/>
          </a:xfrm>
          <a:prstGeom prst="rightArrow">
            <a:avLst/>
          </a:prstGeom>
          <a:solidFill>
            <a:srgbClr val="F5A63C"/>
          </a:solidFill>
          <a:ln w="12700">
            <a:solidFill>
              <a:srgbClr val="333333"/>
            </a:solidFill>
            <a:prstDash val="solid"/>
          </a:ln>
        </p:spPr>
      </p:sp>
      <p:sp>
        <p:nvSpPr>
          <p:cNvPr id="68" name="Shape 66"/>
          <p:cNvSpPr/>
          <p:nvPr/>
        </p:nvSpPr>
        <p:spPr>
          <a:xfrm>
            <a:off x="4178808" y="2148840"/>
            <a:ext cx="1828800" cy="1051560"/>
          </a:xfrm>
          <a:prstGeom prst="roundRect">
            <a:avLst>
              <a:gd name="adj" fmla="val 5217"/>
            </a:avLst>
          </a:prstGeom>
          <a:solidFill>
            <a:srgbClr val="161B28"/>
          </a:solidFill>
          <a:ln w="12700">
            <a:solidFill>
              <a:srgbClr val="1E6A66"/>
            </a:solidFill>
            <a:prstDash val="solid"/>
          </a:ln>
        </p:spPr>
      </p:sp>
      <p:sp>
        <p:nvSpPr>
          <p:cNvPr id="69" name="Text 67"/>
          <p:cNvSpPr txBox="1"/>
          <p:nvPr/>
        </p:nvSpPr>
        <p:spPr>
          <a:xfrm>
            <a:off x="4178808" y="2286000"/>
            <a:ext cx="1828800" cy="457200"/>
          </a:xfrm>
          <a:prstGeom prst="rect">
            <a:avLst/>
          </a:prstGeom>
          <a:noFill/>
          <a:ln/>
        </p:spPr>
        <p:txBody>
          <a:bodyPr wrap="square" lIns="0" tIns="0" rIns="0" bIns="0" rtlCol="0" anchor="ctr"/>
          <a:lstStyle/>
          <a:p>
            <a:pPr algn="ctr" indent="0" marL="0">
              <a:buNone/>
            </a:pPr>
            <a:r>
              <a:rPr lang="en-US" sz="2600" b="1" dirty="0">
                <a:solidFill>
                  <a:srgbClr val="3FC9C0"/>
                </a:solidFill>
                <a:latin typeface="Consolas" pitchFamily="34" charset="0"/>
                <a:ea typeface="Consolas" pitchFamily="34" charset="-122"/>
                <a:cs typeface="Consolas" pitchFamily="34" charset="-120"/>
              </a:rPr>
              <a:t>১</a:t>
            </a:r>
            <a:endParaRPr lang="en-US" sz="2600" dirty="0"/>
          </a:p>
        </p:txBody>
      </p:sp>
      <p:sp>
        <p:nvSpPr>
          <p:cNvPr id="70" name="Text 68"/>
          <p:cNvSpPr txBox="1"/>
          <p:nvPr/>
        </p:nvSpPr>
        <p:spPr>
          <a:xfrm>
            <a:off x="4178808" y="2788920"/>
            <a:ext cx="1828800" cy="256032"/>
          </a:xfrm>
          <a:prstGeom prst="rect">
            <a:avLst/>
          </a:prstGeom>
          <a:noFill/>
          <a:ln/>
        </p:spPr>
        <p:txBody>
          <a:bodyPr wrap="square" lIns="0" tIns="0" rIns="0" bIns="0" rtlCol="0" anchor="ctr"/>
          <a:lstStyle/>
          <a:p>
            <a:pPr algn="ctr" indent="0" marL="0">
              <a:buNone/>
            </a:pPr>
            <a:r>
              <a:rPr lang="en-US" sz="900" spc="150" kern="0" dirty="0">
                <a:solidFill>
                  <a:srgbClr val="7E8798"/>
                </a:solidFill>
                <a:latin typeface="Consolas" pitchFamily="34" charset="0"/>
                <a:ea typeface="Consolas" pitchFamily="34" charset="-122"/>
                <a:cs typeface="Consolas" pitchFamily="34" charset="-120"/>
              </a:rPr>
              <a:t>PIPELINE</a:t>
            </a:r>
            <a:endParaRPr lang="en-US" sz="900" dirty="0"/>
          </a:p>
        </p:txBody>
      </p:sp>
      <p:sp>
        <p:nvSpPr>
          <p:cNvPr id="71" name="Shape 69"/>
          <p:cNvSpPr/>
          <p:nvPr/>
        </p:nvSpPr>
        <p:spPr>
          <a:xfrm>
            <a:off x="658368" y="3749040"/>
            <a:ext cx="5852160" cy="548640"/>
          </a:xfrm>
          <a:prstGeom prst="roundRect">
            <a:avLst>
              <a:gd name="adj" fmla="val 10000"/>
            </a:avLst>
          </a:prstGeom>
          <a:solidFill>
            <a:srgbClr val="161B28"/>
          </a:solidFill>
          <a:ln w="12700">
            <a:solidFill>
              <a:srgbClr val="28303F"/>
            </a:solidFill>
            <a:prstDash val="solid"/>
          </a:ln>
        </p:spPr>
      </p:sp>
      <p:sp>
        <p:nvSpPr>
          <p:cNvPr id="72" name="Text 70"/>
          <p:cNvSpPr txBox="1"/>
          <p:nvPr/>
        </p:nvSpPr>
        <p:spPr>
          <a:xfrm>
            <a:off x="841248" y="3840480"/>
            <a:ext cx="2103120" cy="365760"/>
          </a:xfrm>
          <a:prstGeom prst="rect">
            <a:avLst/>
          </a:prstGeom>
          <a:noFill/>
          <a:ln/>
        </p:spPr>
        <p:txBody>
          <a:bodyPr wrap="square" lIns="0" tIns="0" rIns="0" bIns="0" rtlCol="0" anchor="ctr"/>
          <a:lstStyle/>
          <a:p>
            <a:pPr indent="0" marL="0">
              <a:buNone/>
            </a:pPr>
            <a:r>
              <a:rPr lang="en-US" sz="1000" b="1" dirty="0">
                <a:solidFill>
                  <a:srgbClr val="3FC9C0"/>
                </a:solidFill>
                <a:latin typeface="Nirmala UI" pitchFamily="34" charset="0"/>
                <a:ea typeface="Nirmala UI" pitchFamily="34" charset="-122"/>
                <a:cs typeface="Nirmala UI" pitchFamily="34" charset="-120"/>
              </a:rPr>
              <a:t>প্রেজেন্স</a:t>
            </a:r>
            <a:endParaRPr lang="en-US" sz="1000" dirty="0"/>
          </a:p>
        </p:txBody>
      </p:sp>
      <p:sp>
        <p:nvSpPr>
          <p:cNvPr id="73" name="Text 71"/>
          <p:cNvSpPr txBox="1"/>
          <p:nvPr/>
        </p:nvSpPr>
        <p:spPr>
          <a:xfrm>
            <a:off x="3172968" y="3822192"/>
            <a:ext cx="3108960" cy="402336"/>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১ সেকেন্ড বাফার → এক pipeline, ৩০০ করে চাঙ্ক</a:t>
            </a:r>
            <a:endParaRPr lang="en-US" sz="1050" dirty="0"/>
          </a:p>
        </p:txBody>
      </p:sp>
      <p:sp>
        <p:nvSpPr>
          <p:cNvPr id="74" name="Shape 72"/>
          <p:cNvSpPr/>
          <p:nvPr/>
        </p:nvSpPr>
        <p:spPr>
          <a:xfrm>
            <a:off x="658368" y="4425696"/>
            <a:ext cx="5852160" cy="548640"/>
          </a:xfrm>
          <a:prstGeom prst="roundRect">
            <a:avLst>
              <a:gd name="adj" fmla="val 10000"/>
            </a:avLst>
          </a:prstGeom>
          <a:solidFill>
            <a:srgbClr val="161B28"/>
          </a:solidFill>
          <a:ln w="12700">
            <a:solidFill>
              <a:srgbClr val="28303F"/>
            </a:solidFill>
            <a:prstDash val="solid"/>
          </a:ln>
        </p:spPr>
      </p:sp>
      <p:sp>
        <p:nvSpPr>
          <p:cNvPr id="75" name="Text 73"/>
          <p:cNvSpPr txBox="1"/>
          <p:nvPr/>
        </p:nvSpPr>
        <p:spPr>
          <a:xfrm>
            <a:off x="841248" y="4517136"/>
            <a:ext cx="2103120" cy="365760"/>
          </a:xfrm>
          <a:prstGeom prst="rect">
            <a:avLst/>
          </a:prstGeom>
          <a:noFill/>
          <a:ln/>
        </p:spPr>
        <p:txBody>
          <a:bodyPr wrap="square" lIns="0" tIns="0" rIns="0" bIns="0" rtlCol="0" anchor="ctr"/>
          <a:lstStyle/>
          <a:p>
            <a:pPr indent="0" marL="0">
              <a:buNone/>
            </a:pPr>
            <a:r>
              <a:rPr lang="en-US" sz="1000" b="1" dirty="0">
                <a:solidFill>
                  <a:srgbClr val="3FC9C0"/>
                </a:solidFill>
                <a:latin typeface="Nirmala UI" pitchFamily="34" charset="0"/>
                <a:ea typeface="Nirmala UI" pitchFamily="34" charset="-122"/>
                <a:cs typeface="Nirmala UI" pitchFamily="34" charset="-120"/>
              </a:rPr>
              <a:t>চ্যাট</a:t>
            </a:r>
            <a:endParaRPr lang="en-US" sz="1000" dirty="0"/>
          </a:p>
        </p:txBody>
      </p:sp>
      <p:sp>
        <p:nvSpPr>
          <p:cNvPr id="76" name="Text 74"/>
          <p:cNvSpPr txBox="1"/>
          <p:nvPr/>
        </p:nvSpPr>
        <p:spPr>
          <a:xfrm>
            <a:off x="3172968" y="4498848"/>
            <a:ext cx="3108960" cy="402336"/>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১২০ms ব্যাচ</a:t>
            </a:r>
            <a:endParaRPr lang="en-US" sz="1050" dirty="0"/>
          </a:p>
        </p:txBody>
      </p:sp>
      <p:sp>
        <p:nvSpPr>
          <p:cNvPr id="77" name="Shape 75"/>
          <p:cNvSpPr/>
          <p:nvPr/>
        </p:nvSpPr>
        <p:spPr>
          <a:xfrm>
            <a:off x="658368" y="5102352"/>
            <a:ext cx="5852160" cy="548640"/>
          </a:xfrm>
          <a:prstGeom prst="roundRect">
            <a:avLst>
              <a:gd name="adj" fmla="val 10000"/>
            </a:avLst>
          </a:prstGeom>
          <a:solidFill>
            <a:srgbClr val="161B28"/>
          </a:solidFill>
          <a:ln w="12700">
            <a:solidFill>
              <a:srgbClr val="28303F"/>
            </a:solidFill>
            <a:prstDash val="solid"/>
          </a:ln>
        </p:spPr>
      </p:sp>
      <p:sp>
        <p:nvSpPr>
          <p:cNvPr id="78" name="Text 76"/>
          <p:cNvSpPr txBox="1"/>
          <p:nvPr/>
        </p:nvSpPr>
        <p:spPr>
          <a:xfrm>
            <a:off x="841248" y="5193792"/>
            <a:ext cx="2103120" cy="365760"/>
          </a:xfrm>
          <a:prstGeom prst="rect">
            <a:avLst/>
          </a:prstGeom>
          <a:noFill/>
          <a:ln/>
        </p:spPr>
        <p:txBody>
          <a:bodyPr wrap="square" lIns="0" tIns="0" rIns="0" bIns="0" rtlCol="0" anchor="ctr"/>
          <a:lstStyle/>
          <a:p>
            <a:pPr indent="0" marL="0">
              <a:buNone/>
            </a:pPr>
            <a:r>
              <a:rPr lang="en-US" sz="1000" b="1" dirty="0">
                <a:solidFill>
                  <a:srgbClr val="3FC9C0"/>
                </a:solidFill>
                <a:latin typeface="Nirmala UI" pitchFamily="34" charset="0"/>
                <a:ea typeface="Nirmala UI" pitchFamily="34" charset="-122"/>
                <a:cs typeface="Nirmala UI" pitchFamily="34" charset="-120"/>
              </a:rPr>
              <a:t>প্রোগ্রেস → DB</a:t>
            </a:r>
            <a:endParaRPr lang="en-US" sz="1000" dirty="0"/>
          </a:p>
        </p:txBody>
      </p:sp>
      <p:sp>
        <p:nvSpPr>
          <p:cNvPr id="79" name="Text 77"/>
          <p:cNvSpPr txBox="1"/>
          <p:nvPr/>
        </p:nvSpPr>
        <p:spPr>
          <a:xfrm>
            <a:off x="3172968" y="5175504"/>
            <a:ext cx="3108960" cy="402336"/>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৩০ সেকেন্ড, ১০০০ করে চাঙ্ক</a:t>
            </a:r>
            <a:endParaRPr lang="en-US" sz="1050" dirty="0"/>
          </a:p>
        </p:txBody>
      </p:sp>
      <p:sp>
        <p:nvSpPr>
          <p:cNvPr id="80" name="Text 78"/>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সমস্যাটা — ৫০ হাজার স্টুডেন্ট ভিডিও দেখছে, প্রত্যেকে সেকেন্ডে একটা ইভেন্ট। প্রতিটা সরাসরি লিখলে Redis-ই বটলনেক</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প্রেজেন্স — ১ সেকেন্ডের বাফার, তারপর একটা pipeline-এ সব। ৩০০ জন করে চাঙ্কে ভাগ</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প্রোগ্রেস — Map-এ জমে, একই ইউজারের নতুন ইভেন্ট পুরনোটা ওভাররাইট করে। ৩০ সেকেন্ডে ৩০টা ইভেন্ট পাঠালেও DB-তে যায় একটা</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ফেল করলে — requeue() রো-গুলো বাফারে ফিরিয়ে দেয়, পরের ফ্লাশে আবার চেষ্টা</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টাইমার সব unref() — প্রসেস বন্ধ হওয়ার সময় আটকে রাখে না</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17</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রিয়েলটাইম ৫/৫</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চ্যাট — Redis Streams, একটাও মেসেজ হারায় না</a:t>
            </a:r>
            <a:endParaRPr lang="en-US" sz="2900" dirty="0"/>
          </a:p>
        </p:txBody>
      </p:sp>
      <p:sp>
        <p:nvSpPr>
          <p:cNvPr id="7" name="Shape 5"/>
          <p:cNvSpPr/>
          <p:nvPr/>
        </p:nvSpPr>
        <p:spPr>
          <a:xfrm>
            <a:off x="658368" y="1783080"/>
            <a:ext cx="27432" cy="475488"/>
          </a:xfrm>
          <a:prstGeom prst="rect">
            <a:avLst/>
          </a:prstGeom>
          <a:solidFill>
            <a:srgbClr val="3FC9C0"/>
          </a:solidFill>
          <a:ln w="12700">
            <a:solidFill>
              <a:srgbClr val="333333"/>
            </a:solidFill>
            <a:prstDash val="solid"/>
          </a:ln>
        </p:spPr>
      </p:sp>
      <p:sp>
        <p:nvSpPr>
          <p:cNvPr id="8" name="Text 6"/>
          <p:cNvSpPr txBox="1"/>
          <p:nvPr/>
        </p:nvSpPr>
        <p:spPr>
          <a:xfrm>
            <a:off x="859536" y="1874520"/>
            <a:ext cx="1600200" cy="292608"/>
          </a:xfrm>
          <a:prstGeom prst="rect">
            <a:avLst/>
          </a:prstGeom>
          <a:noFill/>
          <a:ln/>
        </p:spPr>
        <p:txBody>
          <a:bodyPr wrap="square" lIns="0" tIns="0" rIns="0" bIns="0" rtlCol="0" anchor="ctr"/>
          <a:lstStyle/>
          <a:p>
            <a:pPr indent="0" marL="0">
              <a:buNone/>
            </a:pPr>
            <a:r>
              <a:rPr lang="en-US" sz="1000" dirty="0">
                <a:solidFill>
                  <a:srgbClr val="3FC9C0"/>
                </a:solidFill>
                <a:latin typeface="Consolas" pitchFamily="34" charset="0"/>
                <a:ea typeface="Consolas" pitchFamily="34" charset="-122"/>
                <a:cs typeface="Consolas" pitchFamily="34" charset="-120"/>
              </a:rPr>
              <a:t>XADD</a:t>
            </a:r>
            <a:endParaRPr lang="en-US" sz="1000" dirty="0"/>
          </a:p>
        </p:txBody>
      </p:sp>
      <p:sp>
        <p:nvSpPr>
          <p:cNvPr id="9" name="Text 7"/>
          <p:cNvSpPr txBox="1"/>
          <p:nvPr/>
        </p:nvSpPr>
        <p:spPr>
          <a:xfrm>
            <a:off x="2578608" y="1810512"/>
            <a:ext cx="4023360" cy="420624"/>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মেসেজ স্ট্রিমে, MAXLEN ~ 100000 — পুরনো নিজে থেকেই ছাঁটাই</a:t>
            </a:r>
            <a:endParaRPr lang="en-US" sz="1000" dirty="0"/>
          </a:p>
        </p:txBody>
      </p:sp>
      <p:sp>
        <p:nvSpPr>
          <p:cNvPr id="10" name="Shape 8"/>
          <p:cNvSpPr/>
          <p:nvPr/>
        </p:nvSpPr>
        <p:spPr>
          <a:xfrm>
            <a:off x="658368" y="2350008"/>
            <a:ext cx="27432" cy="475488"/>
          </a:xfrm>
          <a:prstGeom prst="rect">
            <a:avLst/>
          </a:prstGeom>
          <a:solidFill>
            <a:srgbClr val="3FC9C0"/>
          </a:solidFill>
          <a:ln w="12700">
            <a:solidFill>
              <a:srgbClr val="333333"/>
            </a:solidFill>
            <a:prstDash val="solid"/>
          </a:ln>
        </p:spPr>
      </p:sp>
      <p:sp>
        <p:nvSpPr>
          <p:cNvPr id="11" name="Text 9"/>
          <p:cNvSpPr txBox="1"/>
          <p:nvPr/>
        </p:nvSpPr>
        <p:spPr>
          <a:xfrm>
            <a:off x="859536" y="2441448"/>
            <a:ext cx="1600200" cy="292608"/>
          </a:xfrm>
          <a:prstGeom prst="rect">
            <a:avLst/>
          </a:prstGeom>
          <a:noFill/>
          <a:ln/>
        </p:spPr>
        <p:txBody>
          <a:bodyPr wrap="square" lIns="0" tIns="0" rIns="0" bIns="0" rtlCol="0" anchor="ctr"/>
          <a:lstStyle/>
          <a:p>
            <a:pPr indent="0" marL="0">
              <a:buNone/>
            </a:pPr>
            <a:r>
              <a:rPr lang="en-US" sz="1000" dirty="0">
                <a:solidFill>
                  <a:srgbClr val="3FC9C0"/>
                </a:solidFill>
                <a:latin typeface="Consolas" pitchFamily="34" charset="0"/>
                <a:ea typeface="Consolas" pitchFamily="34" charset="-122"/>
                <a:cs typeface="Consolas" pitchFamily="34" charset="-120"/>
              </a:rPr>
              <a:t>XREADGROUP</a:t>
            </a:r>
            <a:endParaRPr lang="en-US" sz="1000" dirty="0"/>
          </a:p>
        </p:txBody>
      </p:sp>
      <p:sp>
        <p:nvSpPr>
          <p:cNvPr id="12" name="Text 10"/>
          <p:cNvSpPr txBox="1"/>
          <p:nvPr/>
        </p:nvSpPr>
        <p:spPr>
          <a:xfrm>
            <a:off x="2578608" y="2377440"/>
            <a:ext cx="4023360" cy="420624"/>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ওয়ার্কার ২০০টা করে পড়ে, BLOCK 5000 — খালি থাকলে অপেক্ষা, পোলিং নয়</a:t>
            </a:r>
            <a:endParaRPr lang="en-US" sz="1000" dirty="0"/>
          </a:p>
        </p:txBody>
      </p:sp>
      <p:sp>
        <p:nvSpPr>
          <p:cNvPr id="13" name="Shape 11"/>
          <p:cNvSpPr/>
          <p:nvPr/>
        </p:nvSpPr>
        <p:spPr>
          <a:xfrm>
            <a:off x="658368" y="2916936"/>
            <a:ext cx="27432" cy="475488"/>
          </a:xfrm>
          <a:prstGeom prst="rect">
            <a:avLst/>
          </a:prstGeom>
          <a:solidFill>
            <a:srgbClr val="3FC9C0"/>
          </a:solidFill>
          <a:ln w="12700">
            <a:solidFill>
              <a:srgbClr val="333333"/>
            </a:solidFill>
            <a:prstDash val="solid"/>
          </a:ln>
        </p:spPr>
      </p:sp>
      <p:sp>
        <p:nvSpPr>
          <p:cNvPr id="14" name="Text 12"/>
          <p:cNvSpPr txBox="1"/>
          <p:nvPr/>
        </p:nvSpPr>
        <p:spPr>
          <a:xfrm>
            <a:off x="859536" y="3008376"/>
            <a:ext cx="1600200" cy="292608"/>
          </a:xfrm>
          <a:prstGeom prst="rect">
            <a:avLst/>
          </a:prstGeom>
          <a:noFill/>
          <a:ln/>
        </p:spPr>
        <p:txBody>
          <a:bodyPr wrap="square" lIns="0" tIns="0" rIns="0" bIns="0" rtlCol="0" anchor="ctr"/>
          <a:lstStyle/>
          <a:p>
            <a:pPr indent="0" marL="0">
              <a:buNone/>
            </a:pPr>
            <a:r>
              <a:rPr lang="en-US" sz="1000" dirty="0">
                <a:solidFill>
                  <a:srgbClr val="3FC9C0"/>
                </a:solidFill>
                <a:latin typeface="Consolas" pitchFamily="34" charset="0"/>
                <a:ea typeface="Consolas" pitchFamily="34" charset="-122"/>
                <a:cs typeface="Consolas" pitchFamily="34" charset="-120"/>
              </a:rPr>
              <a:t>saveChats()</a:t>
            </a:r>
            <a:endParaRPr lang="en-US" sz="1000" dirty="0"/>
          </a:p>
        </p:txBody>
      </p:sp>
      <p:sp>
        <p:nvSpPr>
          <p:cNvPr id="15" name="Text 13"/>
          <p:cNvSpPr txBox="1"/>
          <p:nvPr/>
        </p:nvSpPr>
        <p:spPr>
          <a:xfrm>
            <a:off x="2578608" y="2944368"/>
            <a:ext cx="4023360" cy="420624"/>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একসাথে সব DB-তে</a:t>
            </a:r>
            <a:endParaRPr lang="en-US" sz="1000" dirty="0"/>
          </a:p>
        </p:txBody>
      </p:sp>
      <p:sp>
        <p:nvSpPr>
          <p:cNvPr id="16" name="Shape 14"/>
          <p:cNvSpPr/>
          <p:nvPr/>
        </p:nvSpPr>
        <p:spPr>
          <a:xfrm>
            <a:off x="658368" y="3483864"/>
            <a:ext cx="27432" cy="475488"/>
          </a:xfrm>
          <a:prstGeom prst="rect">
            <a:avLst/>
          </a:prstGeom>
          <a:solidFill>
            <a:srgbClr val="3FC9C0"/>
          </a:solidFill>
          <a:ln w="12700">
            <a:solidFill>
              <a:srgbClr val="333333"/>
            </a:solidFill>
            <a:prstDash val="solid"/>
          </a:ln>
        </p:spPr>
      </p:sp>
      <p:sp>
        <p:nvSpPr>
          <p:cNvPr id="17" name="Text 15"/>
          <p:cNvSpPr txBox="1"/>
          <p:nvPr/>
        </p:nvSpPr>
        <p:spPr>
          <a:xfrm>
            <a:off x="859536" y="3575304"/>
            <a:ext cx="1600200" cy="292608"/>
          </a:xfrm>
          <a:prstGeom prst="rect">
            <a:avLst/>
          </a:prstGeom>
          <a:noFill/>
          <a:ln/>
        </p:spPr>
        <p:txBody>
          <a:bodyPr wrap="square" lIns="0" tIns="0" rIns="0" bIns="0" rtlCol="0" anchor="ctr"/>
          <a:lstStyle/>
          <a:p>
            <a:pPr indent="0" marL="0">
              <a:buNone/>
            </a:pPr>
            <a:r>
              <a:rPr lang="en-US" sz="1000" dirty="0">
                <a:solidFill>
                  <a:srgbClr val="3FC9C0"/>
                </a:solidFill>
                <a:latin typeface="Consolas" pitchFamily="34" charset="0"/>
                <a:ea typeface="Consolas" pitchFamily="34" charset="-122"/>
                <a:cs typeface="Consolas" pitchFamily="34" charset="-120"/>
              </a:rPr>
              <a:t>XACK</a:t>
            </a:r>
            <a:endParaRPr lang="en-US" sz="1000" dirty="0"/>
          </a:p>
        </p:txBody>
      </p:sp>
      <p:sp>
        <p:nvSpPr>
          <p:cNvPr id="18" name="Text 16"/>
          <p:cNvSpPr txBox="1"/>
          <p:nvPr/>
        </p:nvSpPr>
        <p:spPr>
          <a:xfrm>
            <a:off x="2578608" y="3511296"/>
            <a:ext cx="4023360" cy="420624"/>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সফল হলেই কেবল "পড়া হয়েছে" চিহ্ন</a:t>
            </a:r>
            <a:endParaRPr lang="en-US" sz="1000" dirty="0"/>
          </a:p>
        </p:txBody>
      </p:sp>
      <p:sp>
        <p:nvSpPr>
          <p:cNvPr id="19" name="Shape 17"/>
          <p:cNvSpPr/>
          <p:nvPr/>
        </p:nvSpPr>
        <p:spPr>
          <a:xfrm>
            <a:off x="658368" y="4050792"/>
            <a:ext cx="27432" cy="475488"/>
          </a:xfrm>
          <a:prstGeom prst="rect">
            <a:avLst/>
          </a:prstGeom>
          <a:solidFill>
            <a:srgbClr val="E2607A"/>
          </a:solidFill>
          <a:ln w="12700">
            <a:solidFill>
              <a:srgbClr val="333333"/>
            </a:solidFill>
            <a:prstDash val="solid"/>
          </a:ln>
        </p:spPr>
      </p:sp>
      <p:sp>
        <p:nvSpPr>
          <p:cNvPr id="20" name="Text 18"/>
          <p:cNvSpPr txBox="1"/>
          <p:nvPr/>
        </p:nvSpPr>
        <p:spPr>
          <a:xfrm>
            <a:off x="859536" y="4142232"/>
            <a:ext cx="1600200" cy="292608"/>
          </a:xfrm>
          <a:prstGeom prst="rect">
            <a:avLst/>
          </a:prstGeom>
          <a:noFill/>
          <a:ln/>
        </p:spPr>
        <p:txBody>
          <a:bodyPr wrap="square" lIns="0" tIns="0" rIns="0" bIns="0" rtlCol="0" anchor="ctr"/>
          <a:lstStyle/>
          <a:p>
            <a:pPr indent="0" marL="0">
              <a:buNone/>
            </a:pPr>
            <a:r>
              <a:rPr lang="en-US" sz="1000" dirty="0">
                <a:solidFill>
                  <a:srgbClr val="E2607A"/>
                </a:solidFill>
                <a:latin typeface="Consolas" pitchFamily="34" charset="0"/>
                <a:ea typeface="Consolas" pitchFamily="34" charset="-122"/>
                <a:cs typeface="Consolas" pitchFamily="34" charset="-120"/>
              </a:rPr>
              <a:t>ব্যাচ ফেল</a:t>
            </a:r>
            <a:endParaRPr lang="en-US" sz="1000" dirty="0"/>
          </a:p>
        </p:txBody>
      </p:sp>
      <p:sp>
        <p:nvSpPr>
          <p:cNvPr id="21" name="Text 19"/>
          <p:cNvSpPr txBox="1"/>
          <p:nvPr/>
        </p:nvSpPr>
        <p:spPr>
          <a:xfrm>
            <a:off x="2578608" y="4078224"/>
            <a:ext cx="4023360" cy="420624"/>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তখন একটা একটা করে আবার চেষ্টা — একটা খারাপ মেসেজের জন্য ২০০টা যেন না হারায়</a:t>
            </a:r>
            <a:endParaRPr lang="en-US" sz="1000" dirty="0"/>
          </a:p>
        </p:txBody>
      </p:sp>
      <p:sp>
        <p:nvSpPr>
          <p:cNvPr id="22" name="Shape 20"/>
          <p:cNvSpPr/>
          <p:nvPr/>
        </p:nvSpPr>
        <p:spPr>
          <a:xfrm>
            <a:off x="658368" y="4617720"/>
            <a:ext cx="27432" cy="475488"/>
          </a:xfrm>
          <a:prstGeom prst="rect">
            <a:avLst/>
          </a:prstGeom>
          <a:solidFill>
            <a:srgbClr val="E2607A"/>
          </a:solidFill>
          <a:ln w="12700">
            <a:solidFill>
              <a:srgbClr val="333333"/>
            </a:solidFill>
            <a:prstDash val="solid"/>
          </a:ln>
        </p:spPr>
      </p:sp>
      <p:sp>
        <p:nvSpPr>
          <p:cNvPr id="23" name="Text 21"/>
          <p:cNvSpPr txBox="1"/>
          <p:nvPr/>
        </p:nvSpPr>
        <p:spPr>
          <a:xfrm>
            <a:off x="859536" y="4709160"/>
            <a:ext cx="1600200" cy="292608"/>
          </a:xfrm>
          <a:prstGeom prst="rect">
            <a:avLst/>
          </a:prstGeom>
          <a:noFill/>
          <a:ln/>
        </p:spPr>
        <p:txBody>
          <a:bodyPr wrap="square" lIns="0" tIns="0" rIns="0" bIns="0" rtlCol="0" anchor="ctr"/>
          <a:lstStyle/>
          <a:p>
            <a:pPr indent="0" marL="0">
              <a:buNone/>
            </a:pPr>
            <a:r>
              <a:rPr lang="en-US" sz="1000" dirty="0">
                <a:solidFill>
                  <a:srgbClr val="E2607A"/>
                </a:solidFill>
                <a:latin typeface="Consolas" pitchFamily="34" charset="0"/>
                <a:ea typeface="Consolas" pitchFamily="34" charset="-122"/>
                <a:cs typeface="Consolas" pitchFamily="34" charset="-120"/>
              </a:rPr>
              <a:t>XADD :dead</a:t>
            </a:r>
            <a:endParaRPr lang="en-US" sz="1000" dirty="0"/>
          </a:p>
        </p:txBody>
      </p:sp>
      <p:sp>
        <p:nvSpPr>
          <p:cNvPr id="24" name="Text 22"/>
          <p:cNvSpPr txBox="1"/>
          <p:nvPr/>
        </p:nvSpPr>
        <p:spPr>
          <a:xfrm>
            <a:off x="2578608" y="4645152"/>
            <a:ext cx="4023360" cy="420624"/>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তাতেও ফেল? dead-letter স্ট্রিমে কারণসহ, তারপর ACK</a:t>
            </a:r>
            <a:endParaRPr lang="en-US" sz="1000" dirty="0"/>
          </a:p>
        </p:txBody>
      </p:sp>
      <p:sp>
        <p:nvSpPr>
          <p:cNvPr id="25" name="Shape 23"/>
          <p:cNvSpPr/>
          <p:nvPr/>
        </p:nvSpPr>
        <p:spPr>
          <a:xfrm>
            <a:off x="658368" y="5184648"/>
            <a:ext cx="27432" cy="475488"/>
          </a:xfrm>
          <a:prstGeom prst="rect">
            <a:avLst/>
          </a:prstGeom>
          <a:solidFill>
            <a:srgbClr val="3FC9C0"/>
          </a:solidFill>
          <a:ln w="12700">
            <a:solidFill>
              <a:srgbClr val="333333"/>
            </a:solidFill>
            <a:prstDash val="solid"/>
          </a:ln>
        </p:spPr>
      </p:sp>
      <p:sp>
        <p:nvSpPr>
          <p:cNvPr id="26" name="Text 24"/>
          <p:cNvSpPr txBox="1"/>
          <p:nvPr/>
        </p:nvSpPr>
        <p:spPr>
          <a:xfrm>
            <a:off x="859536" y="5276088"/>
            <a:ext cx="1600200" cy="292608"/>
          </a:xfrm>
          <a:prstGeom prst="rect">
            <a:avLst/>
          </a:prstGeom>
          <a:noFill/>
          <a:ln/>
        </p:spPr>
        <p:txBody>
          <a:bodyPr wrap="square" lIns="0" tIns="0" rIns="0" bIns="0" rtlCol="0" anchor="ctr"/>
          <a:lstStyle/>
          <a:p>
            <a:pPr indent="0" marL="0">
              <a:buNone/>
            </a:pPr>
            <a:r>
              <a:rPr lang="en-US" sz="1000" dirty="0">
                <a:solidFill>
                  <a:srgbClr val="3FC9C0"/>
                </a:solidFill>
                <a:latin typeface="Consolas" pitchFamily="34" charset="0"/>
                <a:ea typeface="Consolas" pitchFamily="34" charset="-122"/>
                <a:cs typeface="Consolas" pitchFamily="34" charset="-120"/>
              </a:rPr>
              <a:t>XAUTOCLAIM</a:t>
            </a:r>
            <a:endParaRPr lang="en-US" sz="1000" dirty="0"/>
          </a:p>
        </p:txBody>
      </p:sp>
      <p:sp>
        <p:nvSpPr>
          <p:cNvPr id="27" name="Text 25"/>
          <p:cNvSpPr txBox="1"/>
          <p:nvPr/>
        </p:nvSpPr>
        <p:spPr>
          <a:xfrm>
            <a:off x="2578608" y="5212080"/>
            <a:ext cx="4023360" cy="420624"/>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ওয়ার্কার ক্র্যাশ করলে ৩০ সেকেন্ড পর অন্য ওয়ার্কার তার কাজ দখল করে নেয়</a:t>
            </a:r>
            <a:endParaRPr lang="en-US" sz="1000" dirty="0"/>
          </a:p>
        </p:txBody>
      </p:sp>
      <p:sp>
        <p:nvSpPr>
          <p:cNvPr id="28" name="Text 26"/>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Pub/Sub না কেন — Pub/Sub-এ কেউ না শুনলে মেসেজ হারিয়ে যায়। Stream ধরে রাখে যতক্ষণ না ACK হয়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consumer group — একাধিক ওয়ার্কার চালালে প্রত্যেকে আলাদা মেসেজ পায়, একই মেসেজ দুইবার সেভ হয়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MAXLEN ~ কেন — ~ মানে "প্রায়"। নিখুঁত ছাঁটাই ধীর, আনুমানিক দ্রুত</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হেলথ লগ — প্রতি মিনিটে XLEN আর XPENDING। pending বাড়তে থাকলে বোঝা যায় ওয়ার্কার পিছিয়ে পড়ছে</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18</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সুরক্ষা</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রেট লিমিট — কাউন্টারটা Redis-এ কেন</a:t>
            </a:r>
            <a:endParaRPr lang="en-US" sz="2900" dirty="0"/>
          </a:p>
        </p:txBody>
      </p:sp>
      <p:sp>
        <p:nvSpPr>
          <p:cNvPr id="7" name="Shape 5"/>
          <p:cNvSpPr/>
          <p:nvPr/>
        </p:nvSpPr>
        <p:spPr>
          <a:xfrm>
            <a:off x="658368" y="1783080"/>
            <a:ext cx="5852160" cy="2377440"/>
          </a:xfrm>
          <a:prstGeom prst="roundRect">
            <a:avLst>
              <a:gd name="adj" fmla="val 2308"/>
            </a:avLst>
          </a:prstGeom>
          <a:solidFill>
            <a:srgbClr val="090C13"/>
          </a:solidFill>
          <a:ln w="12700">
            <a:solidFill>
              <a:srgbClr val="28303F"/>
            </a:solidFill>
            <a:prstDash val="solid"/>
          </a:ln>
        </p:spPr>
      </p:sp>
      <p:sp>
        <p:nvSpPr>
          <p:cNvPr id="8" name="Shape 6"/>
          <p:cNvSpPr/>
          <p:nvPr/>
        </p:nvSpPr>
        <p:spPr>
          <a:xfrm>
            <a:off x="658368" y="1837944"/>
            <a:ext cx="32004" cy="2267712"/>
          </a:xfrm>
          <a:prstGeom prst="rect">
            <a:avLst/>
          </a:prstGeom>
          <a:solidFill>
            <a:srgbClr val="3FC9C0"/>
          </a:solidFill>
          <a:ln/>
        </p:spPr>
      </p:sp>
      <p:sp>
        <p:nvSpPr>
          <p:cNvPr id="9" name="Text 7"/>
          <p:cNvSpPr txBox="1"/>
          <p:nvPr/>
        </p:nvSpPr>
        <p:spPr>
          <a:xfrm>
            <a:off x="859536" y="1929384"/>
            <a:ext cx="5486400" cy="2084832"/>
          </a:xfrm>
          <a:prstGeom prst="rect">
            <a:avLst/>
          </a:prstGeom>
          <a:noFill/>
          <a:ln/>
        </p:spPr>
        <p:txBody>
          <a:bodyPr wrap="square" lIns="0" tIns="0" rIns="0" bIns="0" rtlCol="0" anchor="t"/>
          <a:lstStyle/>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export const logInRouteLimiter = rateLimit({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store: new RedisStore({</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sendCommand: (...args) =&gt; redis.call(...args)</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windowMs: 5 * 60 * 1000,</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max: 5000,</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keyGenerator: (req) =&gt;</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    normalizeIdentifier(req?.body?.emailOrPhone) || req?.ip</a:t>
            </a:r>
            <a:endParaRPr lang="en-US" sz="1000" dirty="0"/>
          </a:p>
          <a:p>
            <a:pPr indent="0" marL="0">
              <a:lnSpc>
                <a:spcPts val="1550"/>
              </a:lnSpc>
              <a:buNone/>
            </a:pPr>
            <a:r>
              <a:rPr lang="en-US" sz="1000" dirty="0">
                <a:solidFill>
                  <a:srgbClr val="C6CEDE"/>
                </a:solidFill>
                <a:latin typeface="Consolas" pitchFamily="34" charset="0"/>
                <a:ea typeface="Consolas" pitchFamily="34" charset="-122"/>
                <a:cs typeface="Consolas" pitchFamily="34" charset="-120"/>
              </a:rPr>
              <a:t>});</a:t>
            </a:r>
            <a:endParaRPr lang="en-US" sz="1000" dirty="0"/>
          </a:p>
        </p:txBody>
      </p:sp>
      <p:sp>
        <p:nvSpPr>
          <p:cNvPr id="10" name="Shape 8"/>
          <p:cNvSpPr/>
          <p:nvPr/>
        </p:nvSpPr>
        <p:spPr>
          <a:xfrm>
            <a:off x="658368" y="4343400"/>
            <a:ext cx="5852160" cy="566928"/>
          </a:xfrm>
          <a:prstGeom prst="roundRect">
            <a:avLst>
              <a:gd name="adj" fmla="val 9677"/>
            </a:avLst>
          </a:prstGeom>
          <a:solidFill>
            <a:srgbClr val="161B28"/>
          </a:solidFill>
          <a:ln w="12700">
            <a:solidFill>
              <a:srgbClr val="28303F"/>
            </a:solidFill>
            <a:prstDash val="solid"/>
          </a:ln>
        </p:spPr>
      </p:sp>
      <p:sp>
        <p:nvSpPr>
          <p:cNvPr id="11" name="Text 9"/>
          <p:cNvSpPr txBox="1"/>
          <p:nvPr/>
        </p:nvSpPr>
        <p:spPr>
          <a:xfrm>
            <a:off x="841248" y="4434840"/>
            <a:ext cx="1463040" cy="384048"/>
          </a:xfrm>
          <a:prstGeom prst="rect">
            <a:avLst/>
          </a:prstGeom>
          <a:noFill/>
          <a:ln/>
        </p:spPr>
        <p:txBody>
          <a:bodyPr wrap="square" lIns="0" tIns="0" rIns="0" bIns="0" rtlCol="0" anchor="ctr"/>
          <a:lstStyle/>
          <a:p>
            <a:pPr indent="0" marL="0">
              <a:buNone/>
            </a:pPr>
            <a:r>
              <a:rPr lang="en-US" sz="1050" b="1" dirty="0">
                <a:solidFill>
                  <a:srgbClr val="3FC9C0"/>
                </a:solidFill>
                <a:latin typeface="Nirmala UI" pitchFamily="34" charset="0"/>
                <a:ea typeface="Nirmala UI" pitchFamily="34" charset="-122"/>
                <a:cs typeface="Nirmala UI" pitchFamily="34" charset="-120"/>
              </a:rPr>
              <a:t>১২টি</a:t>
            </a:r>
            <a:endParaRPr lang="en-US" sz="1050" dirty="0"/>
          </a:p>
        </p:txBody>
      </p:sp>
      <p:sp>
        <p:nvSpPr>
          <p:cNvPr id="12" name="Text 10"/>
          <p:cNvSpPr txBox="1"/>
          <p:nvPr/>
        </p:nvSpPr>
        <p:spPr>
          <a:xfrm>
            <a:off x="2532888" y="4416552"/>
            <a:ext cx="3749040" cy="420624"/>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আলাদা লিমিটার — লগইন, সাইনআপ, OTP, পাসওয়ার্ড রিসেট</a:t>
            </a:r>
            <a:endParaRPr lang="en-US" sz="1050" dirty="0"/>
          </a:p>
        </p:txBody>
      </p:sp>
      <p:sp>
        <p:nvSpPr>
          <p:cNvPr id="13" name="Shape 11"/>
          <p:cNvSpPr/>
          <p:nvPr/>
        </p:nvSpPr>
        <p:spPr>
          <a:xfrm>
            <a:off x="658368" y="5038344"/>
            <a:ext cx="5852160" cy="566928"/>
          </a:xfrm>
          <a:prstGeom prst="roundRect">
            <a:avLst>
              <a:gd name="adj" fmla="val 9677"/>
            </a:avLst>
          </a:prstGeom>
          <a:solidFill>
            <a:srgbClr val="161B28"/>
          </a:solidFill>
          <a:ln w="12700">
            <a:solidFill>
              <a:srgbClr val="28303F"/>
            </a:solidFill>
            <a:prstDash val="solid"/>
          </a:ln>
        </p:spPr>
      </p:sp>
      <p:sp>
        <p:nvSpPr>
          <p:cNvPr id="14" name="Text 12"/>
          <p:cNvSpPr txBox="1"/>
          <p:nvPr/>
        </p:nvSpPr>
        <p:spPr>
          <a:xfrm>
            <a:off x="841248" y="5129784"/>
            <a:ext cx="1463040" cy="384048"/>
          </a:xfrm>
          <a:prstGeom prst="rect">
            <a:avLst/>
          </a:prstGeom>
          <a:noFill/>
          <a:ln/>
        </p:spPr>
        <p:txBody>
          <a:bodyPr wrap="square" lIns="0" tIns="0" rIns="0" bIns="0" rtlCol="0" anchor="ctr"/>
          <a:lstStyle/>
          <a:p>
            <a:pPr indent="0" marL="0">
              <a:buNone/>
            </a:pPr>
            <a:r>
              <a:rPr lang="en-US" sz="1050" b="1" dirty="0">
                <a:solidFill>
                  <a:srgbClr val="3FC9C0"/>
                </a:solidFill>
                <a:latin typeface="Nirmala UI" pitchFamily="34" charset="0"/>
                <a:ea typeface="Nirmala UI" pitchFamily="34" charset="-122"/>
                <a:cs typeface="Nirmala UI" pitchFamily="34" charset="-120"/>
              </a:rPr>
              <a:t>২ স্তর</a:t>
            </a:r>
            <a:endParaRPr lang="en-US" sz="1050" dirty="0"/>
          </a:p>
        </p:txBody>
      </p:sp>
      <p:sp>
        <p:nvSpPr>
          <p:cNvPr id="15" name="Text 13"/>
          <p:cNvSpPr txBox="1"/>
          <p:nvPr/>
        </p:nvSpPr>
        <p:spPr>
          <a:xfrm>
            <a:off x="2532888" y="5111496"/>
            <a:ext cx="3749040" cy="420624"/>
          </a:xfrm>
          <a:prstGeom prst="rect">
            <a:avLst/>
          </a:prstGeom>
          <a:noFill/>
          <a:ln/>
        </p:spPr>
        <p:txBody>
          <a:bodyPr wrap="square" lIns="0" tIns="0" rIns="0" bIns="0" rtlCol="0" anchor="ctr"/>
          <a:lstStyle/>
          <a:p>
            <a:pPr indent="0" marL="0">
              <a:buNone/>
            </a:pPr>
            <a:r>
              <a:rPr lang="en-US" sz="1050" dirty="0">
                <a:solidFill>
                  <a:srgbClr val="B4BCCE"/>
                </a:solidFill>
                <a:latin typeface="Nirmala UI" pitchFamily="34" charset="0"/>
                <a:ea typeface="Nirmala UI" pitchFamily="34" charset="-122"/>
                <a:cs typeface="Nirmala UI" pitchFamily="34" charset="-120"/>
              </a:rPr>
              <a:t>IP ধরে, আবার ফোন/ইমেইল ধরেও</a:t>
            </a:r>
            <a:endParaRPr lang="en-US" sz="1050" dirty="0"/>
          </a:p>
        </p:txBody>
      </p:sp>
      <p:sp>
        <p:nvSpPr>
          <p:cNvPr id="16" name="Text 14"/>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মেমোরিতে রাখলে যা হতো — ছয়টা ইনস্ট্যান্স, ছয়টা আলাদা কাউন্টার। লিমিট ৫০০ দিলে অ্যাটাকার আসলে ৩০০০ রিকোয়েস্ট পেত</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Redis-এ রাখায় — কাউন্টার একটাই, লোড ব্যালেন্সার যেখানেই পাঠাক</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দুই স্তরের কারণ — শুধু IP দিলে একই অফিস বা মোবাইল অপারেটরের সবাই একসাথে ব্লক হয়ে যেত</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OTP রিসেন্ডে চালাকি — কুকির রিফ্রেশ টোকেন ডিকোড করে ইউজার আইডি দিয়ে লিমিট, তাই নম্বর বদলে চেষ্টা করেও লাভ নেই</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19</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ব্যর্থতা</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Redis মরে গেলে সাইট মরে যায় না</a:t>
            </a:r>
            <a:endParaRPr lang="en-US" sz="2900" dirty="0"/>
          </a:p>
        </p:txBody>
      </p:sp>
      <p:sp>
        <p:nvSpPr>
          <p:cNvPr id="7" name="Shape 5"/>
          <p:cNvSpPr/>
          <p:nvPr/>
        </p:nvSpPr>
        <p:spPr>
          <a:xfrm>
            <a:off x="658368" y="1783080"/>
            <a:ext cx="5852160" cy="804672"/>
          </a:xfrm>
          <a:prstGeom prst="roundRect">
            <a:avLst>
              <a:gd name="adj" fmla="val 6818"/>
            </a:avLst>
          </a:prstGeom>
          <a:solidFill>
            <a:srgbClr val="161B28"/>
          </a:solidFill>
          <a:ln w="12700">
            <a:solidFill>
              <a:srgbClr val="28303F"/>
            </a:solidFill>
            <a:prstDash val="solid"/>
          </a:ln>
        </p:spPr>
      </p:sp>
      <p:sp>
        <p:nvSpPr>
          <p:cNvPr id="8" name="Shape 6"/>
          <p:cNvSpPr/>
          <p:nvPr/>
        </p:nvSpPr>
        <p:spPr>
          <a:xfrm>
            <a:off x="886968" y="2112264"/>
            <a:ext cx="146304" cy="146304"/>
          </a:xfrm>
          <a:prstGeom prst="ellipse">
            <a:avLst/>
          </a:prstGeom>
          <a:solidFill>
            <a:srgbClr val="7BD88F"/>
          </a:solidFill>
          <a:ln w="12700">
            <a:solidFill>
              <a:srgbClr val="333333"/>
            </a:solidFill>
            <a:prstDash val="solid"/>
          </a:ln>
        </p:spPr>
      </p:sp>
      <p:sp>
        <p:nvSpPr>
          <p:cNvPr id="9" name="Text 7"/>
          <p:cNvSpPr txBox="1"/>
          <p:nvPr/>
        </p:nvSpPr>
        <p:spPr>
          <a:xfrm>
            <a:off x="1188720" y="1911096"/>
            <a:ext cx="1737360" cy="548640"/>
          </a:xfrm>
          <a:prstGeom prst="rect">
            <a:avLst/>
          </a:prstGeom>
          <a:noFill/>
          <a:ln/>
        </p:spPr>
        <p:txBody>
          <a:bodyPr wrap="square" lIns="0" tIns="0" rIns="0" bIns="0" rtlCol="0" anchor="ctr"/>
          <a:lstStyle/>
          <a:p>
            <a:pPr indent="0" marL="0">
              <a:buNone/>
            </a:pPr>
            <a:r>
              <a:rPr lang="en-US" sz="1150" b="1" dirty="0">
                <a:solidFill>
                  <a:srgbClr val="E9EDF6"/>
                </a:solidFill>
                <a:latin typeface="Nirmala UI" pitchFamily="34" charset="0"/>
                <a:ea typeface="Nirmala UI" pitchFamily="34" charset="-122"/>
                <a:cs typeface="Nirmala UI" pitchFamily="34" charset="-120"/>
              </a:rPr>
              <a:t>Redis সুস্থ</a:t>
            </a:r>
            <a:endParaRPr lang="en-US" sz="1150" dirty="0"/>
          </a:p>
        </p:txBody>
      </p:sp>
      <p:sp>
        <p:nvSpPr>
          <p:cNvPr id="10" name="Text 8"/>
          <p:cNvSpPr txBox="1"/>
          <p:nvPr/>
        </p:nvSpPr>
        <p:spPr>
          <a:xfrm>
            <a:off x="2990088" y="1874520"/>
            <a:ext cx="3383280" cy="621792"/>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ক্যাশ থেকে উত্তর, ডাটাবেজ প্রায় বসে থাকে</a:t>
            </a:r>
            <a:endParaRPr lang="en-US" sz="1000" dirty="0"/>
          </a:p>
        </p:txBody>
      </p:sp>
      <p:sp>
        <p:nvSpPr>
          <p:cNvPr id="11" name="Shape 9"/>
          <p:cNvSpPr/>
          <p:nvPr/>
        </p:nvSpPr>
        <p:spPr>
          <a:xfrm>
            <a:off x="658368" y="2743200"/>
            <a:ext cx="5852160" cy="804672"/>
          </a:xfrm>
          <a:prstGeom prst="roundRect">
            <a:avLst>
              <a:gd name="adj" fmla="val 6818"/>
            </a:avLst>
          </a:prstGeom>
          <a:solidFill>
            <a:srgbClr val="161B28"/>
          </a:solidFill>
          <a:ln w="12700">
            <a:solidFill>
              <a:srgbClr val="28303F"/>
            </a:solidFill>
            <a:prstDash val="solid"/>
          </a:ln>
        </p:spPr>
      </p:sp>
      <p:sp>
        <p:nvSpPr>
          <p:cNvPr id="12" name="Shape 10"/>
          <p:cNvSpPr/>
          <p:nvPr/>
        </p:nvSpPr>
        <p:spPr>
          <a:xfrm>
            <a:off x="886968" y="3072384"/>
            <a:ext cx="146304" cy="146304"/>
          </a:xfrm>
          <a:prstGeom prst="ellipse">
            <a:avLst/>
          </a:prstGeom>
          <a:solidFill>
            <a:srgbClr val="F5A63C"/>
          </a:solidFill>
          <a:ln w="12700">
            <a:solidFill>
              <a:srgbClr val="333333"/>
            </a:solidFill>
            <a:prstDash val="solid"/>
          </a:ln>
        </p:spPr>
      </p:sp>
      <p:sp>
        <p:nvSpPr>
          <p:cNvPr id="13" name="Text 11"/>
          <p:cNvSpPr txBox="1"/>
          <p:nvPr/>
        </p:nvSpPr>
        <p:spPr>
          <a:xfrm>
            <a:off x="1188720" y="2871216"/>
            <a:ext cx="1737360" cy="548640"/>
          </a:xfrm>
          <a:prstGeom prst="rect">
            <a:avLst/>
          </a:prstGeom>
          <a:noFill/>
          <a:ln/>
        </p:spPr>
        <p:txBody>
          <a:bodyPr wrap="square" lIns="0" tIns="0" rIns="0" bIns="0" rtlCol="0" anchor="ctr"/>
          <a:lstStyle/>
          <a:p>
            <a:pPr indent="0" marL="0">
              <a:buNone/>
            </a:pPr>
            <a:r>
              <a:rPr lang="en-US" sz="1150" b="1" dirty="0">
                <a:solidFill>
                  <a:srgbClr val="E9EDF6"/>
                </a:solidFill>
                <a:latin typeface="Nirmala UI" pitchFamily="34" charset="0"/>
                <a:ea typeface="Nirmala UI" pitchFamily="34" charset="-122"/>
                <a:cs typeface="Nirmala UI" pitchFamily="34" charset="-120"/>
              </a:rPr>
              <a:t>Redis ধীর</a:t>
            </a:r>
            <a:endParaRPr lang="en-US" sz="1150" dirty="0"/>
          </a:p>
        </p:txBody>
      </p:sp>
      <p:sp>
        <p:nvSpPr>
          <p:cNvPr id="14" name="Text 12"/>
          <p:cNvSpPr txBox="1"/>
          <p:nvPr/>
        </p:nvSpPr>
        <p:spPr>
          <a:xfrm>
            <a:off x="2990088" y="2834640"/>
            <a:ext cx="3383280" cy="621792"/>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১৫০০ms-এ টাইমআউট, catch ধরে সরাসরি DB। ইউজার শুধু একটু দেরি টের পায়</a:t>
            </a:r>
            <a:endParaRPr lang="en-US" sz="1000" dirty="0"/>
          </a:p>
        </p:txBody>
      </p:sp>
      <p:sp>
        <p:nvSpPr>
          <p:cNvPr id="15" name="Shape 13"/>
          <p:cNvSpPr/>
          <p:nvPr/>
        </p:nvSpPr>
        <p:spPr>
          <a:xfrm>
            <a:off x="658368" y="3703320"/>
            <a:ext cx="5852160" cy="804672"/>
          </a:xfrm>
          <a:prstGeom prst="roundRect">
            <a:avLst>
              <a:gd name="adj" fmla="val 6818"/>
            </a:avLst>
          </a:prstGeom>
          <a:solidFill>
            <a:srgbClr val="161B28"/>
          </a:solidFill>
          <a:ln w="12700">
            <a:solidFill>
              <a:srgbClr val="28303F"/>
            </a:solidFill>
            <a:prstDash val="solid"/>
          </a:ln>
        </p:spPr>
      </p:sp>
      <p:sp>
        <p:nvSpPr>
          <p:cNvPr id="16" name="Shape 14"/>
          <p:cNvSpPr/>
          <p:nvPr/>
        </p:nvSpPr>
        <p:spPr>
          <a:xfrm>
            <a:off x="886968" y="4032504"/>
            <a:ext cx="146304" cy="146304"/>
          </a:xfrm>
          <a:prstGeom prst="ellipse">
            <a:avLst/>
          </a:prstGeom>
          <a:solidFill>
            <a:srgbClr val="E2607A"/>
          </a:solidFill>
          <a:ln w="12700">
            <a:solidFill>
              <a:srgbClr val="333333"/>
            </a:solidFill>
            <a:prstDash val="solid"/>
          </a:ln>
        </p:spPr>
      </p:sp>
      <p:sp>
        <p:nvSpPr>
          <p:cNvPr id="17" name="Text 15"/>
          <p:cNvSpPr txBox="1"/>
          <p:nvPr/>
        </p:nvSpPr>
        <p:spPr>
          <a:xfrm>
            <a:off x="1188720" y="3831336"/>
            <a:ext cx="1737360" cy="548640"/>
          </a:xfrm>
          <a:prstGeom prst="rect">
            <a:avLst/>
          </a:prstGeom>
          <a:noFill/>
          <a:ln/>
        </p:spPr>
        <p:txBody>
          <a:bodyPr wrap="square" lIns="0" tIns="0" rIns="0" bIns="0" rtlCol="0" anchor="ctr"/>
          <a:lstStyle/>
          <a:p>
            <a:pPr indent="0" marL="0">
              <a:buNone/>
            </a:pPr>
            <a:r>
              <a:rPr lang="en-US" sz="1150" b="1" dirty="0">
                <a:solidFill>
                  <a:srgbClr val="E9EDF6"/>
                </a:solidFill>
                <a:latin typeface="Nirmala UI" pitchFamily="34" charset="0"/>
                <a:ea typeface="Nirmala UI" pitchFamily="34" charset="-122"/>
                <a:cs typeface="Nirmala UI" pitchFamily="34" charset="-120"/>
              </a:rPr>
              <a:t>Redis একেবারে ডাউন</a:t>
            </a:r>
            <a:endParaRPr lang="en-US" sz="1150" dirty="0"/>
          </a:p>
        </p:txBody>
      </p:sp>
      <p:sp>
        <p:nvSpPr>
          <p:cNvPr id="18" name="Text 16"/>
          <p:cNvSpPr txBox="1"/>
          <p:nvPr/>
        </p:nvSpPr>
        <p:spPr>
          <a:xfrm>
            <a:off x="2990088" y="3794760"/>
            <a:ext cx="3383280" cy="621792"/>
          </a:xfrm>
          <a:prstGeom prst="rect">
            <a:avLst/>
          </a:prstGeom>
          <a:noFill/>
          <a:ln/>
        </p:spPr>
        <p:txBody>
          <a:bodyPr wrap="square" lIns="0" tIns="0" rIns="0" bIns="0" rtlCol="0" anchor="ctr"/>
          <a:lstStyle/>
          <a:p>
            <a:pPr indent="0" marL="0">
              <a:buNone/>
            </a:pPr>
            <a:r>
              <a:rPr lang="en-US" sz="1000" dirty="0">
                <a:solidFill>
                  <a:srgbClr val="B4BCCE"/>
                </a:solidFill>
                <a:latin typeface="Nirmala UI" pitchFamily="34" charset="0"/>
                <a:ea typeface="Nirmala UI" pitchFamily="34" charset="-122"/>
                <a:cs typeface="Nirmala UI" pitchFamily="34" charset="-120"/>
              </a:rPr>
              <a:t>প্রতিটা ক্যাশ ফাংশন loader() কল করে। সাইট ধীর হয়, বন্ধ হয় না</a:t>
            </a:r>
            <a:endParaRPr lang="en-US" sz="1000" dirty="0"/>
          </a:p>
        </p:txBody>
      </p:sp>
      <p:sp>
        <p:nvSpPr>
          <p:cNvPr id="19" name="Text 17"/>
          <p:cNvSpPr txBox="1"/>
          <p:nvPr/>
        </p:nvSpPr>
        <p:spPr>
          <a:xfrm>
            <a:off x="6766560" y="178308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নিয়মটা — ক্যাশ একটা অপ্টিমাইজেশন, নির্ভরতা নয়। ক্যাশ ফেল করলে ফিচার ফেল করা উচিত 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কোডে যেভাবে — প্রতিটা getCached… ফাংশনে try/catch, catch-এ return loader()</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সৎ কথা — এটা ক্যাশের জন্য সত্যি। কিন্তু কিউ, স্ট্রিম আর Socket.IO adapter Redis ছাড়া চলবে না — ওখানে Redis একটা আসল নির্ভরতা</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তাই — Redis-এর আপটাইম আর মেমোরি মনিটর করাটা ঐচ্ছিক না</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20</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উন্নতি ১/২</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যেগুলো আমি এখনই ঠিক করব</a:t>
            </a:r>
            <a:endParaRPr lang="en-US" sz="2900" dirty="0"/>
          </a:p>
        </p:txBody>
      </p:sp>
      <p:sp>
        <p:nvSpPr>
          <p:cNvPr id="7" name="Shape 5"/>
          <p:cNvSpPr/>
          <p:nvPr/>
        </p:nvSpPr>
        <p:spPr>
          <a:xfrm>
            <a:off x="658368" y="1737360"/>
            <a:ext cx="10874959" cy="987552"/>
          </a:xfrm>
          <a:prstGeom prst="roundRect">
            <a:avLst>
              <a:gd name="adj" fmla="val 5556"/>
            </a:avLst>
          </a:prstGeom>
          <a:solidFill>
            <a:srgbClr val="161B28"/>
          </a:solidFill>
          <a:ln w="12700">
            <a:solidFill>
              <a:srgbClr val="28303F"/>
            </a:solidFill>
            <a:prstDash val="solid"/>
          </a:ln>
        </p:spPr>
      </p:sp>
      <p:sp>
        <p:nvSpPr>
          <p:cNvPr id="8" name="Shape 6"/>
          <p:cNvSpPr/>
          <p:nvPr/>
        </p:nvSpPr>
        <p:spPr>
          <a:xfrm>
            <a:off x="859536" y="1920240"/>
            <a:ext cx="384048" cy="292608"/>
          </a:xfrm>
          <a:prstGeom prst="roundRect">
            <a:avLst>
              <a:gd name="adj" fmla="val 15625"/>
            </a:avLst>
          </a:prstGeom>
          <a:solidFill>
            <a:srgbClr val="0C0F17"/>
          </a:solidFill>
          <a:ln w="12700">
            <a:solidFill>
              <a:srgbClr val="7A3448"/>
            </a:solidFill>
            <a:prstDash val="solid"/>
          </a:ln>
        </p:spPr>
      </p:sp>
      <p:sp>
        <p:nvSpPr>
          <p:cNvPr id="9" name="Text 7"/>
          <p:cNvSpPr txBox="1"/>
          <p:nvPr/>
        </p:nvSpPr>
        <p:spPr>
          <a:xfrm>
            <a:off x="859536" y="1965960"/>
            <a:ext cx="384048" cy="219456"/>
          </a:xfrm>
          <a:prstGeom prst="rect">
            <a:avLst/>
          </a:prstGeom>
          <a:noFill/>
          <a:ln/>
        </p:spPr>
        <p:txBody>
          <a:bodyPr wrap="square" lIns="0" tIns="0" rIns="0" bIns="0" rtlCol="0" anchor="ctr"/>
          <a:lstStyle/>
          <a:p>
            <a:pPr algn="ctr" indent="0" marL="0">
              <a:buNone/>
            </a:pPr>
            <a:r>
              <a:rPr lang="en-US" sz="1000" b="1" dirty="0">
                <a:solidFill>
                  <a:srgbClr val="E2607A"/>
                </a:solidFill>
                <a:latin typeface="Consolas" pitchFamily="34" charset="0"/>
                <a:ea typeface="Consolas" pitchFamily="34" charset="-122"/>
                <a:cs typeface="Consolas" pitchFamily="34" charset="-120"/>
              </a:rPr>
              <a:t>১</a:t>
            </a:r>
            <a:endParaRPr lang="en-US" sz="1000" dirty="0"/>
          </a:p>
        </p:txBody>
      </p:sp>
      <p:sp>
        <p:nvSpPr>
          <p:cNvPr id="10" name="Text 8"/>
          <p:cNvSpPr txBox="1"/>
          <p:nvPr/>
        </p:nvSpPr>
        <p:spPr>
          <a:xfrm>
            <a:off x="1435608" y="1865376"/>
            <a:ext cx="9692640" cy="274320"/>
          </a:xfrm>
          <a:prstGeom prst="rect">
            <a:avLst/>
          </a:prstGeom>
          <a:noFill/>
          <a:ln/>
        </p:spPr>
        <p:txBody>
          <a:bodyPr wrap="square" lIns="0" tIns="0" rIns="0" bIns="0" rtlCol="0" anchor="ctr"/>
          <a:lstStyle/>
          <a:p>
            <a:pPr indent="0" marL="0">
              <a:buNone/>
            </a:pPr>
            <a:r>
              <a:rPr lang="en-US" sz="1250" b="1" dirty="0">
                <a:solidFill>
                  <a:srgbClr val="E9EDF6"/>
                </a:solidFill>
                <a:latin typeface="Nirmala UI" pitchFamily="34" charset="0"/>
                <a:ea typeface="Nirmala UI" pitchFamily="34" charset="-122"/>
                <a:cs typeface="Nirmala UI" pitchFamily="34" charset="-120"/>
              </a:rPr>
              <a:t>ক্যাশ আর কিউ একই Redis-এ — এটাই সবচেয়ে বড় ঝুঁকি</a:t>
            </a:r>
            <a:endParaRPr lang="en-US" sz="1250" dirty="0"/>
          </a:p>
        </p:txBody>
      </p:sp>
      <p:sp>
        <p:nvSpPr>
          <p:cNvPr id="11" name="Text 9"/>
          <p:cNvSpPr txBox="1"/>
          <p:nvPr/>
        </p:nvSpPr>
        <p:spPr>
          <a:xfrm>
            <a:off x="1435608" y="2157984"/>
            <a:ext cx="9692640" cy="493776"/>
          </a:xfrm>
          <a:prstGeom prst="rect">
            <a:avLst/>
          </a:prstGeom>
          <a:noFill/>
          <a:ln/>
        </p:spPr>
        <p:txBody>
          <a:bodyPr wrap="square" lIns="0" tIns="0" rIns="0" bIns="0" rtlCol="0" anchor="t"/>
          <a:lstStyle/>
          <a:p>
            <a:pPr indent="0" marL="0">
              <a:buNone/>
            </a:pPr>
            <a:r>
              <a:rPr lang="en-US" sz="950" dirty="0">
                <a:solidFill>
                  <a:srgbClr val="B4BCCE"/>
                </a:solidFill>
                <a:latin typeface="Nirmala UI" pitchFamily="34" charset="0"/>
                <a:ea typeface="Nirmala UI" pitchFamily="34" charset="-122"/>
                <a:cs typeface="Nirmala UI" pitchFamily="34" charset="-120"/>
              </a:rPr>
              <a:t>ক্যাশ key মুছে গেলে কিছু হয় না, কিন্তু BullMQ-র জব বা চ্যাট স্ট্রিম মুছে গেলে ডেটা হারায়। মেমোরি ভরলে allkeys-lru দুইটার পার্থক্য বোঝে না। সমাধান: দুইটা আলাদা Redis — ক্যাশেরটায় allkeys-lru, কিউ/স্ট্রিমেরটায় noeviction + AOF।</a:t>
            </a:r>
            <a:endParaRPr lang="en-US" sz="950" dirty="0"/>
          </a:p>
        </p:txBody>
      </p:sp>
      <p:sp>
        <p:nvSpPr>
          <p:cNvPr id="12" name="Shape 10"/>
          <p:cNvSpPr/>
          <p:nvPr/>
        </p:nvSpPr>
        <p:spPr>
          <a:xfrm>
            <a:off x="658368" y="2852928"/>
            <a:ext cx="10874959" cy="987552"/>
          </a:xfrm>
          <a:prstGeom prst="roundRect">
            <a:avLst>
              <a:gd name="adj" fmla="val 5556"/>
            </a:avLst>
          </a:prstGeom>
          <a:solidFill>
            <a:srgbClr val="161B28"/>
          </a:solidFill>
          <a:ln w="12700">
            <a:solidFill>
              <a:srgbClr val="28303F"/>
            </a:solidFill>
            <a:prstDash val="solid"/>
          </a:ln>
        </p:spPr>
      </p:sp>
      <p:sp>
        <p:nvSpPr>
          <p:cNvPr id="13" name="Shape 11"/>
          <p:cNvSpPr/>
          <p:nvPr/>
        </p:nvSpPr>
        <p:spPr>
          <a:xfrm>
            <a:off x="859536" y="3035808"/>
            <a:ext cx="384048" cy="292608"/>
          </a:xfrm>
          <a:prstGeom prst="roundRect">
            <a:avLst>
              <a:gd name="adj" fmla="val 15625"/>
            </a:avLst>
          </a:prstGeom>
          <a:solidFill>
            <a:srgbClr val="0C0F17"/>
          </a:solidFill>
          <a:ln w="12700">
            <a:solidFill>
              <a:srgbClr val="7A3448"/>
            </a:solidFill>
            <a:prstDash val="solid"/>
          </a:ln>
        </p:spPr>
      </p:sp>
      <p:sp>
        <p:nvSpPr>
          <p:cNvPr id="14" name="Text 12"/>
          <p:cNvSpPr txBox="1"/>
          <p:nvPr/>
        </p:nvSpPr>
        <p:spPr>
          <a:xfrm>
            <a:off x="859536" y="3081528"/>
            <a:ext cx="384048" cy="219456"/>
          </a:xfrm>
          <a:prstGeom prst="rect">
            <a:avLst/>
          </a:prstGeom>
          <a:noFill/>
          <a:ln/>
        </p:spPr>
        <p:txBody>
          <a:bodyPr wrap="square" lIns="0" tIns="0" rIns="0" bIns="0" rtlCol="0" anchor="ctr"/>
          <a:lstStyle/>
          <a:p>
            <a:pPr algn="ctr" indent="0" marL="0">
              <a:buNone/>
            </a:pPr>
            <a:r>
              <a:rPr lang="en-US" sz="1000" b="1" dirty="0">
                <a:solidFill>
                  <a:srgbClr val="E2607A"/>
                </a:solidFill>
                <a:latin typeface="Consolas" pitchFamily="34" charset="0"/>
                <a:ea typeface="Consolas" pitchFamily="34" charset="-122"/>
                <a:cs typeface="Consolas" pitchFamily="34" charset="-120"/>
              </a:rPr>
              <a:t>২</a:t>
            </a:r>
            <a:endParaRPr lang="en-US" sz="1000" dirty="0"/>
          </a:p>
        </p:txBody>
      </p:sp>
      <p:sp>
        <p:nvSpPr>
          <p:cNvPr id="15" name="Text 13"/>
          <p:cNvSpPr txBox="1"/>
          <p:nvPr/>
        </p:nvSpPr>
        <p:spPr>
          <a:xfrm>
            <a:off x="1435608" y="2980944"/>
            <a:ext cx="9692640" cy="274320"/>
          </a:xfrm>
          <a:prstGeom prst="rect">
            <a:avLst/>
          </a:prstGeom>
          <a:noFill/>
          <a:ln/>
        </p:spPr>
        <p:txBody>
          <a:bodyPr wrap="square" lIns="0" tIns="0" rIns="0" bIns="0" rtlCol="0" anchor="ctr"/>
          <a:lstStyle/>
          <a:p>
            <a:pPr indent="0" marL="0">
              <a:buNone/>
            </a:pPr>
            <a:r>
              <a:rPr lang="en-US" sz="1250" b="1" dirty="0">
                <a:solidFill>
                  <a:srgbClr val="E9EDF6"/>
                </a:solidFill>
                <a:latin typeface="Nirmala UI" pitchFamily="34" charset="0"/>
                <a:ea typeface="Nirmala UI" pitchFamily="34" charset="-122"/>
                <a:cs typeface="Nirmala UI" pitchFamily="34" charset="-120"/>
              </a:rPr>
              <a:t>maxmemory সেট করা</a:t>
            </a:r>
            <a:endParaRPr lang="en-US" sz="1250" dirty="0"/>
          </a:p>
        </p:txBody>
      </p:sp>
      <p:sp>
        <p:nvSpPr>
          <p:cNvPr id="16" name="Text 14"/>
          <p:cNvSpPr txBox="1"/>
          <p:nvPr/>
        </p:nvSpPr>
        <p:spPr>
          <a:xfrm>
            <a:off x="1435608" y="3273552"/>
            <a:ext cx="9692640" cy="493776"/>
          </a:xfrm>
          <a:prstGeom prst="rect">
            <a:avLst/>
          </a:prstGeom>
          <a:noFill/>
          <a:ln/>
        </p:spPr>
        <p:txBody>
          <a:bodyPr wrap="square" lIns="0" tIns="0" rIns="0" bIns="0" rtlCol="0" anchor="t"/>
          <a:lstStyle/>
          <a:p>
            <a:pPr indent="0" marL="0">
              <a:buNone/>
            </a:pPr>
            <a:r>
              <a:rPr lang="en-US" sz="950" dirty="0">
                <a:solidFill>
                  <a:srgbClr val="B4BCCE"/>
                </a:solidFill>
                <a:latin typeface="Nirmala UI" pitchFamily="34" charset="0"/>
                <a:ea typeface="Nirmala UI" pitchFamily="34" charset="-122"/>
                <a:cs typeface="Nirmala UI" pitchFamily="34" charset="-120"/>
              </a:rPr>
              <a:t>লিমিট না দিলে Redis RAM ভরে যাওয়া পর্যন্ত বাড়তেই থাকে, তারপর OS একদিন প্রসেসটাকে মেরে ফেলে। RAM-এর ~৭৫% এ maxmemory বেঁধে দিলে Redis নিজেই পুরনো key ছাঁটাই শুরু করে — নিয়ন্ত্রিতভাবে।</a:t>
            </a:r>
            <a:endParaRPr lang="en-US" sz="950" dirty="0"/>
          </a:p>
        </p:txBody>
      </p:sp>
      <p:sp>
        <p:nvSpPr>
          <p:cNvPr id="17" name="Shape 15"/>
          <p:cNvSpPr/>
          <p:nvPr/>
        </p:nvSpPr>
        <p:spPr>
          <a:xfrm>
            <a:off x="658368" y="3968496"/>
            <a:ext cx="10874959" cy="987552"/>
          </a:xfrm>
          <a:prstGeom prst="roundRect">
            <a:avLst>
              <a:gd name="adj" fmla="val 5556"/>
            </a:avLst>
          </a:prstGeom>
          <a:solidFill>
            <a:srgbClr val="161B28"/>
          </a:solidFill>
          <a:ln w="12700">
            <a:solidFill>
              <a:srgbClr val="28303F"/>
            </a:solidFill>
            <a:prstDash val="solid"/>
          </a:ln>
        </p:spPr>
      </p:sp>
      <p:sp>
        <p:nvSpPr>
          <p:cNvPr id="18" name="Shape 16"/>
          <p:cNvSpPr/>
          <p:nvPr/>
        </p:nvSpPr>
        <p:spPr>
          <a:xfrm>
            <a:off x="859536" y="4151376"/>
            <a:ext cx="384048" cy="292608"/>
          </a:xfrm>
          <a:prstGeom prst="roundRect">
            <a:avLst>
              <a:gd name="adj" fmla="val 15625"/>
            </a:avLst>
          </a:prstGeom>
          <a:solidFill>
            <a:srgbClr val="0C0F17"/>
          </a:solidFill>
          <a:ln w="12700">
            <a:solidFill>
              <a:srgbClr val="7A3448"/>
            </a:solidFill>
            <a:prstDash val="solid"/>
          </a:ln>
        </p:spPr>
      </p:sp>
      <p:sp>
        <p:nvSpPr>
          <p:cNvPr id="19" name="Text 17"/>
          <p:cNvSpPr txBox="1"/>
          <p:nvPr/>
        </p:nvSpPr>
        <p:spPr>
          <a:xfrm>
            <a:off x="859536" y="4197096"/>
            <a:ext cx="384048" cy="219456"/>
          </a:xfrm>
          <a:prstGeom prst="rect">
            <a:avLst/>
          </a:prstGeom>
          <a:noFill/>
          <a:ln/>
        </p:spPr>
        <p:txBody>
          <a:bodyPr wrap="square" lIns="0" tIns="0" rIns="0" bIns="0" rtlCol="0" anchor="ctr"/>
          <a:lstStyle/>
          <a:p>
            <a:pPr algn="ctr" indent="0" marL="0">
              <a:buNone/>
            </a:pPr>
            <a:r>
              <a:rPr lang="en-US" sz="1000" b="1" dirty="0">
                <a:solidFill>
                  <a:srgbClr val="E2607A"/>
                </a:solidFill>
                <a:latin typeface="Consolas" pitchFamily="34" charset="0"/>
                <a:ea typeface="Consolas" pitchFamily="34" charset="-122"/>
                <a:cs typeface="Consolas" pitchFamily="34" charset="-120"/>
              </a:rPr>
              <a:t>৩</a:t>
            </a:r>
            <a:endParaRPr lang="en-US" sz="1000" dirty="0"/>
          </a:p>
        </p:txBody>
      </p:sp>
      <p:sp>
        <p:nvSpPr>
          <p:cNvPr id="20" name="Text 18"/>
          <p:cNvSpPr txBox="1"/>
          <p:nvPr/>
        </p:nvSpPr>
        <p:spPr>
          <a:xfrm>
            <a:off x="1435608" y="4096512"/>
            <a:ext cx="9692640" cy="274320"/>
          </a:xfrm>
          <a:prstGeom prst="rect">
            <a:avLst/>
          </a:prstGeom>
          <a:noFill/>
          <a:ln/>
        </p:spPr>
        <p:txBody>
          <a:bodyPr wrap="square" lIns="0" tIns="0" rIns="0" bIns="0" rtlCol="0" anchor="ctr"/>
          <a:lstStyle/>
          <a:p>
            <a:pPr indent="0" marL="0">
              <a:buNone/>
            </a:pPr>
            <a:r>
              <a:rPr lang="en-US" sz="1250" b="1" dirty="0">
                <a:solidFill>
                  <a:srgbClr val="E9EDF6"/>
                </a:solidFill>
                <a:latin typeface="Nirmala UI" pitchFamily="34" charset="0"/>
                <a:ea typeface="Nirmala UI" pitchFamily="34" charset="-122"/>
                <a:cs typeface="Nirmala UI" pitchFamily="34" charset="-120"/>
              </a:rPr>
              <a:t>hit / miss মেট্রিক — এখন একটাও নেই</a:t>
            </a:r>
            <a:endParaRPr lang="en-US" sz="1250" dirty="0"/>
          </a:p>
        </p:txBody>
      </p:sp>
      <p:sp>
        <p:nvSpPr>
          <p:cNvPr id="21" name="Text 19"/>
          <p:cNvSpPr txBox="1"/>
          <p:nvPr/>
        </p:nvSpPr>
        <p:spPr>
          <a:xfrm>
            <a:off x="1435608" y="4389120"/>
            <a:ext cx="9692640" cy="493776"/>
          </a:xfrm>
          <a:prstGeom prst="rect">
            <a:avLst/>
          </a:prstGeom>
          <a:noFill/>
          <a:ln/>
        </p:spPr>
        <p:txBody>
          <a:bodyPr wrap="square" lIns="0" tIns="0" rIns="0" bIns="0" rtlCol="0" anchor="t"/>
          <a:lstStyle/>
          <a:p>
            <a:pPr indent="0" marL="0">
              <a:buNone/>
            </a:pPr>
            <a:r>
              <a:rPr lang="en-US" sz="950" dirty="0">
                <a:solidFill>
                  <a:srgbClr val="B4BCCE"/>
                </a:solidFill>
                <a:latin typeface="Nirmala UI" pitchFamily="34" charset="0"/>
                <a:ea typeface="Nirmala UI" pitchFamily="34" charset="-122"/>
                <a:cs typeface="Nirmala UI" pitchFamily="34" charset="-120"/>
              </a:rPr>
              <a:t>Prometheus আছে, কিন্তু সেটা শুধু API ওয়ার্কার স্ক্রেপ করে। কোন ক্যাশটা আসলে কাজ করছে সেটা এখন অনুমান। redis_exporter + প্রতিটা getOrLoadCache-এ একটা কাউন্টার বসালে হিট রেট দেখা যাবে — ৪০% হিট রেটের ক্যাশ রাখার চেয়ে ফেলে দেওয়াই ভালো।</a:t>
            </a:r>
            <a:endParaRPr lang="en-US" sz="950" dirty="0"/>
          </a:p>
        </p:txBody>
      </p:sp>
      <p:sp>
        <p:nvSpPr>
          <p:cNvPr id="22" name="Shape 20"/>
          <p:cNvSpPr/>
          <p:nvPr/>
        </p:nvSpPr>
        <p:spPr>
          <a:xfrm>
            <a:off x="658368" y="5084064"/>
            <a:ext cx="10874959" cy="987552"/>
          </a:xfrm>
          <a:prstGeom prst="roundRect">
            <a:avLst>
              <a:gd name="adj" fmla="val 5556"/>
            </a:avLst>
          </a:prstGeom>
          <a:solidFill>
            <a:srgbClr val="161B28"/>
          </a:solidFill>
          <a:ln w="12700">
            <a:solidFill>
              <a:srgbClr val="28303F"/>
            </a:solidFill>
            <a:prstDash val="solid"/>
          </a:ln>
        </p:spPr>
      </p:sp>
      <p:sp>
        <p:nvSpPr>
          <p:cNvPr id="23" name="Shape 21"/>
          <p:cNvSpPr/>
          <p:nvPr/>
        </p:nvSpPr>
        <p:spPr>
          <a:xfrm>
            <a:off x="859536" y="5266944"/>
            <a:ext cx="384048" cy="292608"/>
          </a:xfrm>
          <a:prstGeom prst="roundRect">
            <a:avLst>
              <a:gd name="adj" fmla="val 15625"/>
            </a:avLst>
          </a:prstGeom>
          <a:solidFill>
            <a:srgbClr val="0C0F17"/>
          </a:solidFill>
          <a:ln w="12700">
            <a:solidFill>
              <a:srgbClr val="7A3448"/>
            </a:solidFill>
            <a:prstDash val="solid"/>
          </a:ln>
        </p:spPr>
      </p:sp>
      <p:sp>
        <p:nvSpPr>
          <p:cNvPr id="24" name="Text 22"/>
          <p:cNvSpPr txBox="1"/>
          <p:nvPr/>
        </p:nvSpPr>
        <p:spPr>
          <a:xfrm>
            <a:off x="859536" y="5312664"/>
            <a:ext cx="384048" cy="219456"/>
          </a:xfrm>
          <a:prstGeom prst="rect">
            <a:avLst/>
          </a:prstGeom>
          <a:noFill/>
          <a:ln/>
        </p:spPr>
        <p:txBody>
          <a:bodyPr wrap="square" lIns="0" tIns="0" rIns="0" bIns="0" rtlCol="0" anchor="ctr"/>
          <a:lstStyle/>
          <a:p>
            <a:pPr algn="ctr" indent="0" marL="0">
              <a:buNone/>
            </a:pPr>
            <a:r>
              <a:rPr lang="en-US" sz="1000" b="1" dirty="0">
                <a:solidFill>
                  <a:srgbClr val="E2607A"/>
                </a:solidFill>
                <a:latin typeface="Consolas" pitchFamily="34" charset="0"/>
                <a:ea typeface="Consolas" pitchFamily="34" charset="-122"/>
                <a:cs typeface="Consolas" pitchFamily="34" charset="-120"/>
              </a:rPr>
              <a:t>৪</a:t>
            </a:r>
            <a:endParaRPr lang="en-US" sz="1000" dirty="0"/>
          </a:p>
        </p:txBody>
      </p:sp>
      <p:sp>
        <p:nvSpPr>
          <p:cNvPr id="25" name="Text 23"/>
          <p:cNvSpPr txBox="1"/>
          <p:nvPr/>
        </p:nvSpPr>
        <p:spPr>
          <a:xfrm>
            <a:off x="1435608" y="5212080"/>
            <a:ext cx="9692640" cy="274320"/>
          </a:xfrm>
          <a:prstGeom prst="rect">
            <a:avLst/>
          </a:prstGeom>
          <a:noFill/>
          <a:ln/>
        </p:spPr>
        <p:txBody>
          <a:bodyPr wrap="square" lIns="0" tIns="0" rIns="0" bIns="0" rtlCol="0" anchor="ctr"/>
          <a:lstStyle/>
          <a:p>
            <a:pPr indent="0" marL="0">
              <a:buNone/>
            </a:pPr>
            <a:r>
              <a:rPr lang="en-US" sz="1250" b="1" dirty="0">
                <a:solidFill>
                  <a:srgbClr val="E9EDF6"/>
                </a:solidFill>
                <a:latin typeface="Nirmala UI" pitchFamily="34" charset="0"/>
                <a:ea typeface="Nirmala UI" pitchFamily="34" charset="-122"/>
                <a:cs typeface="Nirmala UI" pitchFamily="34" charset="-120"/>
              </a:rPr>
              <a:t>BullMQ-র জন্য আলাদা কানেকশন</a:t>
            </a:r>
            <a:endParaRPr lang="en-US" sz="1250" dirty="0"/>
          </a:p>
        </p:txBody>
      </p:sp>
      <p:sp>
        <p:nvSpPr>
          <p:cNvPr id="26" name="Text 24"/>
          <p:cNvSpPr txBox="1"/>
          <p:nvPr/>
        </p:nvSpPr>
        <p:spPr>
          <a:xfrm>
            <a:off x="1435608" y="5504688"/>
            <a:ext cx="9692640" cy="493776"/>
          </a:xfrm>
          <a:prstGeom prst="rect">
            <a:avLst/>
          </a:prstGeom>
          <a:noFill/>
          <a:ln/>
        </p:spPr>
        <p:txBody>
          <a:bodyPr wrap="square" lIns="0" tIns="0" rIns="0" bIns="0" rtlCol="0" anchor="t"/>
          <a:lstStyle/>
          <a:p>
            <a:pPr indent="0" marL="0">
              <a:buNone/>
            </a:pPr>
            <a:r>
              <a:rPr lang="en-US" sz="950" dirty="0">
                <a:solidFill>
                  <a:srgbClr val="B4BCCE"/>
                </a:solidFill>
                <a:latin typeface="Nirmala UI" pitchFamily="34" charset="0"/>
                <a:ea typeface="Nirmala UI" pitchFamily="34" charset="-122"/>
                <a:cs typeface="Nirmala UI" pitchFamily="34" charset="-120"/>
              </a:rPr>
              <a:t>এখন redisConnection একাই BullMQ, রেট লিমিট, প্রেজেন্স, স্ট্রিম আর ডেস্কটপ অথ চালাচ্ছে। BullMQ নিজে ব্লকিং কমান্ড ব্যবহার করে, তাই একটা ধীর অপারেশন বাকি সবাইকে আটকে দিতে পারে।</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21</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উন্নতি ২/২</a:t>
            </a:r>
            <a:endParaRPr lang="en-US" sz="1000" dirty="0"/>
          </a:p>
        </p:txBody>
      </p:sp>
      <p:sp>
        <p:nvSpPr>
          <p:cNvPr id="6" name="Text 4"/>
          <p:cNvSpPr txBox="1"/>
          <p:nvPr/>
        </p:nvSpPr>
        <p:spPr>
          <a:xfrm>
            <a:off x="658368" y="658368"/>
            <a:ext cx="10874959" cy="685800"/>
          </a:xfrm>
          <a:prstGeom prst="rect">
            <a:avLst/>
          </a:prstGeom>
          <a:noFill/>
          <a:ln/>
        </p:spPr>
        <p:txBody>
          <a:bodyPr wrap="square" lIns="0" tIns="0" rIns="0" bIns="0" rtlCol="0" anchor="t"/>
          <a:lstStyle/>
          <a:p>
            <a:pPr indent="0" marL="0">
              <a:buNone/>
            </a:pPr>
            <a:r>
              <a:rPr lang="en-US" sz="2900" b="1" dirty="0">
                <a:solidFill>
                  <a:srgbClr val="E9EDF6"/>
                </a:solidFill>
                <a:latin typeface="Nirmala UI" pitchFamily="34" charset="0"/>
                <a:ea typeface="Nirmala UI" pitchFamily="34" charset="-122"/>
                <a:cs typeface="Nirmala UI" pitchFamily="34" charset="-120"/>
              </a:rPr>
              <a:t>যেগুলো পরে করলেও চলবে</a:t>
            </a:r>
            <a:endParaRPr lang="en-US" sz="2900" dirty="0"/>
          </a:p>
        </p:txBody>
      </p:sp>
      <p:sp>
        <p:nvSpPr>
          <p:cNvPr id="7" name="Shape 5"/>
          <p:cNvSpPr/>
          <p:nvPr/>
        </p:nvSpPr>
        <p:spPr>
          <a:xfrm>
            <a:off x="658368" y="1737360"/>
            <a:ext cx="10874959" cy="804672"/>
          </a:xfrm>
          <a:prstGeom prst="roundRect">
            <a:avLst>
              <a:gd name="adj" fmla="val 6818"/>
            </a:avLst>
          </a:prstGeom>
          <a:solidFill>
            <a:srgbClr val="161B28"/>
          </a:solidFill>
          <a:ln w="12700">
            <a:solidFill>
              <a:srgbClr val="28303F"/>
            </a:solidFill>
            <a:prstDash val="solid"/>
          </a:ln>
        </p:spPr>
      </p:sp>
      <p:sp>
        <p:nvSpPr>
          <p:cNvPr id="8" name="Shape 6"/>
          <p:cNvSpPr/>
          <p:nvPr/>
        </p:nvSpPr>
        <p:spPr>
          <a:xfrm>
            <a:off x="859536" y="1883664"/>
            <a:ext cx="384048" cy="274320"/>
          </a:xfrm>
          <a:prstGeom prst="roundRect">
            <a:avLst>
              <a:gd name="adj" fmla="val 16667"/>
            </a:avLst>
          </a:prstGeom>
          <a:solidFill>
            <a:srgbClr val="0C0F17"/>
          </a:solidFill>
          <a:ln w="12700">
            <a:solidFill>
              <a:srgbClr val="8A5F22"/>
            </a:solidFill>
            <a:prstDash val="solid"/>
          </a:ln>
        </p:spPr>
      </p:sp>
      <p:sp>
        <p:nvSpPr>
          <p:cNvPr id="9" name="Text 7"/>
          <p:cNvSpPr txBox="1"/>
          <p:nvPr/>
        </p:nvSpPr>
        <p:spPr>
          <a:xfrm>
            <a:off x="859536" y="1920240"/>
            <a:ext cx="384048" cy="219456"/>
          </a:xfrm>
          <a:prstGeom prst="rect">
            <a:avLst/>
          </a:prstGeom>
          <a:noFill/>
          <a:ln/>
        </p:spPr>
        <p:txBody>
          <a:bodyPr wrap="square" lIns="0" tIns="0" rIns="0" bIns="0" rtlCol="0" anchor="ctr"/>
          <a:lstStyle/>
          <a:p>
            <a:pPr algn="ctr" indent="0" marL="0">
              <a:buNone/>
            </a:pPr>
            <a:r>
              <a:rPr lang="en-US" sz="1000" b="1" dirty="0">
                <a:solidFill>
                  <a:srgbClr val="F5A63C"/>
                </a:solidFill>
                <a:latin typeface="Consolas" pitchFamily="34" charset="0"/>
                <a:ea typeface="Consolas" pitchFamily="34" charset="-122"/>
                <a:cs typeface="Consolas" pitchFamily="34" charset="-120"/>
              </a:rPr>
              <a:t>৫</a:t>
            </a:r>
            <a:endParaRPr lang="en-US" sz="1000" dirty="0"/>
          </a:p>
        </p:txBody>
      </p:sp>
      <p:sp>
        <p:nvSpPr>
          <p:cNvPr id="10" name="Text 8"/>
          <p:cNvSpPr txBox="1"/>
          <p:nvPr/>
        </p:nvSpPr>
        <p:spPr>
          <a:xfrm>
            <a:off x="1435608" y="1837944"/>
            <a:ext cx="9692640" cy="256032"/>
          </a:xfrm>
          <a:prstGeom prst="rect">
            <a:avLst/>
          </a:prstGeom>
          <a:noFill/>
          <a:ln/>
        </p:spPr>
        <p:txBody>
          <a:bodyPr wrap="square" lIns="0" tIns="0" rIns="0" bIns="0" rtlCol="0" anchor="ctr"/>
          <a:lstStyle/>
          <a:p>
            <a:pPr indent="0" marL="0">
              <a:buNone/>
            </a:pPr>
            <a:r>
              <a:rPr lang="en-US" sz="1200" b="1" dirty="0">
                <a:solidFill>
                  <a:srgbClr val="E9EDF6"/>
                </a:solidFill>
                <a:latin typeface="Nirmala UI" pitchFamily="34" charset="0"/>
                <a:ea typeface="Nirmala UI" pitchFamily="34" charset="-122"/>
                <a:cs typeface="Nirmala UI" pitchFamily="34" charset="-120"/>
              </a:rPr>
              <a:t>stale-while-revalidate আসলে ব্যবহারই হচ্ছে না</a:t>
            </a:r>
            <a:endParaRPr lang="en-US" sz="1200" dirty="0"/>
          </a:p>
        </p:txBody>
      </p:sp>
      <p:sp>
        <p:nvSpPr>
          <p:cNvPr id="11" name="Text 9"/>
          <p:cNvSpPr txBox="1"/>
          <p:nvPr/>
        </p:nvSpPr>
        <p:spPr>
          <a:xfrm>
            <a:off x="1435608" y="2103120"/>
            <a:ext cx="9692640" cy="402336"/>
          </a:xfrm>
          <a:prstGeom prst="rect">
            <a:avLst/>
          </a:prstGeom>
          <a:noFill/>
          <a:ln/>
        </p:spPr>
        <p:txBody>
          <a:bodyPr wrap="square" lIns="0" tIns="0" rIns="0" bIns="0" rtlCol="0" anchor="t"/>
          <a:lstStyle/>
          <a:p>
            <a:pPr indent="0" marL="0">
              <a:buNone/>
            </a:pPr>
            <a:r>
              <a:rPr lang="en-US" sz="950" dirty="0">
                <a:solidFill>
                  <a:srgbClr val="B4BCCE"/>
                </a:solidFill>
                <a:latin typeface="Nirmala UI" pitchFamily="34" charset="0"/>
                <a:ea typeface="Nirmala UI" pitchFamily="34" charset="-122"/>
                <a:cs typeface="Nirmala UI" pitchFamily="34" charset="-120"/>
              </a:rPr>
              <a:t>cache.aside-এ ব্যাকগ্রাউন্ড-রিফ্রেশ কোড লেখা আছে, কিন্তু ২৩টার মধ্যে ২০টা কল সাইট getOrLoadStrictCache ব্যবহার করে, যেখানে staleTtlMs = 0 — মানে key ফ্রেশনেস শেষ হওয়ার ঠিক সেই মুহূর্তেই মুছেও যায়। ফলে প্রতি TTL-এ একজনকে DB-র জন্য অপেক্ষা করতেই হয়।</a:t>
            </a:r>
            <a:endParaRPr lang="en-US" sz="950" dirty="0"/>
          </a:p>
        </p:txBody>
      </p:sp>
      <p:sp>
        <p:nvSpPr>
          <p:cNvPr id="12" name="Shape 10"/>
          <p:cNvSpPr/>
          <p:nvPr/>
        </p:nvSpPr>
        <p:spPr>
          <a:xfrm>
            <a:off x="658368" y="2651760"/>
            <a:ext cx="10874959" cy="804672"/>
          </a:xfrm>
          <a:prstGeom prst="roundRect">
            <a:avLst>
              <a:gd name="adj" fmla="val 6818"/>
            </a:avLst>
          </a:prstGeom>
          <a:solidFill>
            <a:srgbClr val="161B28"/>
          </a:solidFill>
          <a:ln w="12700">
            <a:solidFill>
              <a:srgbClr val="28303F"/>
            </a:solidFill>
            <a:prstDash val="solid"/>
          </a:ln>
        </p:spPr>
      </p:sp>
      <p:sp>
        <p:nvSpPr>
          <p:cNvPr id="13" name="Shape 11"/>
          <p:cNvSpPr/>
          <p:nvPr/>
        </p:nvSpPr>
        <p:spPr>
          <a:xfrm>
            <a:off x="859536" y="2798064"/>
            <a:ext cx="384048" cy="274320"/>
          </a:xfrm>
          <a:prstGeom prst="roundRect">
            <a:avLst>
              <a:gd name="adj" fmla="val 16667"/>
            </a:avLst>
          </a:prstGeom>
          <a:solidFill>
            <a:srgbClr val="0C0F17"/>
          </a:solidFill>
          <a:ln w="12700">
            <a:solidFill>
              <a:srgbClr val="8A5F22"/>
            </a:solidFill>
            <a:prstDash val="solid"/>
          </a:ln>
        </p:spPr>
      </p:sp>
      <p:sp>
        <p:nvSpPr>
          <p:cNvPr id="14" name="Text 12"/>
          <p:cNvSpPr txBox="1"/>
          <p:nvPr/>
        </p:nvSpPr>
        <p:spPr>
          <a:xfrm>
            <a:off x="859536" y="2834640"/>
            <a:ext cx="384048" cy="219456"/>
          </a:xfrm>
          <a:prstGeom prst="rect">
            <a:avLst/>
          </a:prstGeom>
          <a:noFill/>
          <a:ln/>
        </p:spPr>
        <p:txBody>
          <a:bodyPr wrap="square" lIns="0" tIns="0" rIns="0" bIns="0" rtlCol="0" anchor="ctr"/>
          <a:lstStyle/>
          <a:p>
            <a:pPr algn="ctr" indent="0" marL="0">
              <a:buNone/>
            </a:pPr>
            <a:r>
              <a:rPr lang="en-US" sz="1000" b="1" dirty="0">
                <a:solidFill>
                  <a:srgbClr val="F5A63C"/>
                </a:solidFill>
                <a:latin typeface="Consolas" pitchFamily="34" charset="0"/>
                <a:ea typeface="Consolas" pitchFamily="34" charset="-122"/>
                <a:cs typeface="Consolas" pitchFamily="34" charset="-120"/>
              </a:rPr>
              <a:t>৬</a:t>
            </a:r>
            <a:endParaRPr lang="en-US" sz="1000" dirty="0"/>
          </a:p>
        </p:txBody>
      </p:sp>
      <p:sp>
        <p:nvSpPr>
          <p:cNvPr id="15" name="Text 13"/>
          <p:cNvSpPr txBox="1"/>
          <p:nvPr/>
        </p:nvSpPr>
        <p:spPr>
          <a:xfrm>
            <a:off x="1435608" y="2752344"/>
            <a:ext cx="9692640" cy="256032"/>
          </a:xfrm>
          <a:prstGeom prst="rect">
            <a:avLst/>
          </a:prstGeom>
          <a:noFill/>
          <a:ln/>
        </p:spPr>
        <p:txBody>
          <a:bodyPr wrap="square" lIns="0" tIns="0" rIns="0" bIns="0" rtlCol="0" anchor="ctr"/>
          <a:lstStyle/>
          <a:p>
            <a:pPr indent="0" marL="0">
              <a:buNone/>
            </a:pPr>
            <a:r>
              <a:rPr lang="en-US" sz="1200" b="1" dirty="0">
                <a:solidFill>
                  <a:srgbClr val="E9EDF6"/>
                </a:solidFill>
                <a:latin typeface="Nirmala UI" pitchFamily="34" charset="0"/>
                <a:ea typeface="Nirmala UI" pitchFamily="34" charset="-122"/>
                <a:cs typeface="Nirmala UI" pitchFamily="34" charset="-120"/>
              </a:rPr>
              <a:t>বড় রুমে HGETALL</a:t>
            </a:r>
            <a:endParaRPr lang="en-US" sz="1200" dirty="0"/>
          </a:p>
        </p:txBody>
      </p:sp>
      <p:sp>
        <p:nvSpPr>
          <p:cNvPr id="16" name="Text 14"/>
          <p:cNvSpPr txBox="1"/>
          <p:nvPr/>
        </p:nvSpPr>
        <p:spPr>
          <a:xfrm>
            <a:off x="1435608" y="3017520"/>
            <a:ext cx="9692640" cy="402336"/>
          </a:xfrm>
          <a:prstGeom prst="rect">
            <a:avLst/>
          </a:prstGeom>
          <a:noFill/>
          <a:ln/>
        </p:spPr>
        <p:txBody>
          <a:bodyPr wrap="square" lIns="0" tIns="0" rIns="0" bIns="0" rtlCol="0" anchor="t"/>
          <a:lstStyle/>
          <a:p>
            <a:pPr indent="0" marL="0">
              <a:buNone/>
            </a:pPr>
            <a:r>
              <a:rPr lang="en-US" sz="950" dirty="0">
                <a:solidFill>
                  <a:srgbClr val="B4BCCE"/>
                </a:solidFill>
                <a:latin typeface="Nirmala UI" pitchFamily="34" charset="0"/>
                <a:ea typeface="Nirmala UI" pitchFamily="34" charset="-122"/>
                <a:cs typeface="Nirmala UI" pitchFamily="34" charset="-120"/>
              </a:rPr>
              <a:t>getWatchUsers ৫০০ ফিল্ড পর্যন্ত একবারে টানে। Redis একটাই থ্রেডে চলে, তাই বড় HGETALL চলাকালীন বাকি সব কমান্ড অপেক্ষা করে। HSCAN দিয়ে ভাগে ভাগে, অথবা অ্যাভাটার লিস্ট কম ঘন ঘন পাঠানো।</a:t>
            </a:r>
            <a:endParaRPr lang="en-US" sz="950" dirty="0"/>
          </a:p>
        </p:txBody>
      </p:sp>
      <p:sp>
        <p:nvSpPr>
          <p:cNvPr id="17" name="Shape 15"/>
          <p:cNvSpPr/>
          <p:nvPr/>
        </p:nvSpPr>
        <p:spPr>
          <a:xfrm>
            <a:off x="658368" y="3566160"/>
            <a:ext cx="10874959" cy="804672"/>
          </a:xfrm>
          <a:prstGeom prst="roundRect">
            <a:avLst>
              <a:gd name="adj" fmla="val 6818"/>
            </a:avLst>
          </a:prstGeom>
          <a:solidFill>
            <a:srgbClr val="161B28"/>
          </a:solidFill>
          <a:ln w="12700">
            <a:solidFill>
              <a:srgbClr val="28303F"/>
            </a:solidFill>
            <a:prstDash val="solid"/>
          </a:ln>
        </p:spPr>
      </p:sp>
      <p:sp>
        <p:nvSpPr>
          <p:cNvPr id="18" name="Shape 16"/>
          <p:cNvSpPr/>
          <p:nvPr/>
        </p:nvSpPr>
        <p:spPr>
          <a:xfrm>
            <a:off x="859536" y="3712464"/>
            <a:ext cx="384048" cy="274320"/>
          </a:xfrm>
          <a:prstGeom prst="roundRect">
            <a:avLst>
              <a:gd name="adj" fmla="val 16667"/>
            </a:avLst>
          </a:prstGeom>
          <a:solidFill>
            <a:srgbClr val="0C0F17"/>
          </a:solidFill>
          <a:ln w="12700">
            <a:solidFill>
              <a:srgbClr val="1E6A66"/>
            </a:solidFill>
            <a:prstDash val="solid"/>
          </a:ln>
        </p:spPr>
      </p:sp>
      <p:sp>
        <p:nvSpPr>
          <p:cNvPr id="19" name="Text 17"/>
          <p:cNvSpPr txBox="1"/>
          <p:nvPr/>
        </p:nvSpPr>
        <p:spPr>
          <a:xfrm>
            <a:off x="859536" y="3749040"/>
            <a:ext cx="384048" cy="219456"/>
          </a:xfrm>
          <a:prstGeom prst="rect">
            <a:avLst/>
          </a:prstGeom>
          <a:noFill/>
          <a:ln/>
        </p:spPr>
        <p:txBody>
          <a:bodyPr wrap="square" lIns="0" tIns="0" rIns="0" bIns="0" rtlCol="0" anchor="ctr"/>
          <a:lstStyle/>
          <a:p>
            <a:pPr algn="ctr" indent="0" marL="0">
              <a:buNone/>
            </a:pPr>
            <a:r>
              <a:rPr lang="en-US" sz="1000" b="1" dirty="0">
                <a:solidFill>
                  <a:srgbClr val="3FC9C0"/>
                </a:solidFill>
                <a:latin typeface="Consolas" pitchFamily="34" charset="0"/>
                <a:ea typeface="Consolas" pitchFamily="34" charset="-122"/>
                <a:cs typeface="Consolas" pitchFamily="34" charset="-120"/>
              </a:rPr>
              <a:t>৭</a:t>
            </a:r>
            <a:endParaRPr lang="en-US" sz="1000" dirty="0"/>
          </a:p>
        </p:txBody>
      </p:sp>
      <p:sp>
        <p:nvSpPr>
          <p:cNvPr id="20" name="Text 18"/>
          <p:cNvSpPr txBox="1"/>
          <p:nvPr/>
        </p:nvSpPr>
        <p:spPr>
          <a:xfrm>
            <a:off x="1435608" y="3666744"/>
            <a:ext cx="9692640" cy="256032"/>
          </a:xfrm>
          <a:prstGeom prst="rect">
            <a:avLst/>
          </a:prstGeom>
          <a:noFill/>
          <a:ln/>
        </p:spPr>
        <p:txBody>
          <a:bodyPr wrap="square" lIns="0" tIns="0" rIns="0" bIns="0" rtlCol="0" anchor="ctr"/>
          <a:lstStyle/>
          <a:p>
            <a:pPr indent="0" marL="0">
              <a:buNone/>
            </a:pPr>
            <a:r>
              <a:rPr lang="en-US" sz="1200" b="1" dirty="0">
                <a:solidFill>
                  <a:srgbClr val="E9EDF6"/>
                </a:solidFill>
                <a:latin typeface="Nirmala UI" pitchFamily="34" charset="0"/>
                <a:ea typeface="Nirmala UI" pitchFamily="34" charset="-122"/>
                <a:cs typeface="Nirmala UI" pitchFamily="34" charset="-120"/>
              </a:rPr>
              <a:t>key প্রিফিক্স একটা কনভেনশনে আনা</a:t>
            </a:r>
            <a:endParaRPr lang="en-US" sz="1200" dirty="0"/>
          </a:p>
        </p:txBody>
      </p:sp>
      <p:sp>
        <p:nvSpPr>
          <p:cNvPr id="21" name="Text 19"/>
          <p:cNvSpPr txBox="1"/>
          <p:nvPr/>
        </p:nvSpPr>
        <p:spPr>
          <a:xfrm>
            <a:off x="1435608" y="3931920"/>
            <a:ext cx="9692640" cy="402336"/>
          </a:xfrm>
          <a:prstGeom prst="rect">
            <a:avLst/>
          </a:prstGeom>
          <a:noFill/>
          <a:ln/>
        </p:spPr>
        <p:txBody>
          <a:bodyPr wrap="square" lIns="0" tIns="0" rIns="0" bIns="0" rtlCol="0" anchor="t"/>
          <a:lstStyle/>
          <a:p>
            <a:pPr indent="0" marL="0">
              <a:buNone/>
            </a:pPr>
            <a:r>
              <a:rPr lang="en-US" sz="950" dirty="0">
                <a:solidFill>
                  <a:srgbClr val="B4BCCE"/>
                </a:solidFill>
                <a:latin typeface="Nirmala UI" pitchFamily="34" charset="0"/>
                <a:ea typeface="Nirmala UI" pitchFamily="34" charset="-122"/>
                <a:cs typeface="Nirmala UI" pitchFamily="34" charset="-120"/>
              </a:rPr>
              <a:t>এখন cache:, presence:, hll:, meta:, rl:, lock:, dedup:, metrics: — সবই আলাদা। সব ক্যাশ key যদি cache: দিয়েই শুরু হতো, শুধু ক্যাশটুকু ফ্লাশ করা বা আলাদা করে মাপা সহজ হতো।</a:t>
            </a:r>
            <a:endParaRPr lang="en-US" sz="950" dirty="0"/>
          </a:p>
        </p:txBody>
      </p:sp>
      <p:sp>
        <p:nvSpPr>
          <p:cNvPr id="22" name="Shape 20"/>
          <p:cNvSpPr/>
          <p:nvPr/>
        </p:nvSpPr>
        <p:spPr>
          <a:xfrm>
            <a:off x="658368" y="4480560"/>
            <a:ext cx="10874959" cy="804672"/>
          </a:xfrm>
          <a:prstGeom prst="roundRect">
            <a:avLst>
              <a:gd name="adj" fmla="val 6818"/>
            </a:avLst>
          </a:prstGeom>
          <a:solidFill>
            <a:srgbClr val="161B28"/>
          </a:solidFill>
          <a:ln w="12700">
            <a:solidFill>
              <a:srgbClr val="28303F"/>
            </a:solidFill>
            <a:prstDash val="solid"/>
          </a:ln>
        </p:spPr>
      </p:sp>
      <p:sp>
        <p:nvSpPr>
          <p:cNvPr id="23" name="Shape 21"/>
          <p:cNvSpPr/>
          <p:nvPr/>
        </p:nvSpPr>
        <p:spPr>
          <a:xfrm>
            <a:off x="859536" y="4626864"/>
            <a:ext cx="384048" cy="274320"/>
          </a:xfrm>
          <a:prstGeom prst="roundRect">
            <a:avLst>
              <a:gd name="adj" fmla="val 16667"/>
            </a:avLst>
          </a:prstGeom>
          <a:solidFill>
            <a:srgbClr val="0C0F17"/>
          </a:solidFill>
          <a:ln w="12700">
            <a:solidFill>
              <a:srgbClr val="1E6A66"/>
            </a:solidFill>
            <a:prstDash val="solid"/>
          </a:ln>
        </p:spPr>
      </p:sp>
      <p:sp>
        <p:nvSpPr>
          <p:cNvPr id="24" name="Text 22"/>
          <p:cNvSpPr txBox="1"/>
          <p:nvPr/>
        </p:nvSpPr>
        <p:spPr>
          <a:xfrm>
            <a:off x="859536" y="4663440"/>
            <a:ext cx="384048" cy="219456"/>
          </a:xfrm>
          <a:prstGeom prst="rect">
            <a:avLst/>
          </a:prstGeom>
          <a:noFill/>
          <a:ln/>
        </p:spPr>
        <p:txBody>
          <a:bodyPr wrap="square" lIns="0" tIns="0" rIns="0" bIns="0" rtlCol="0" anchor="ctr"/>
          <a:lstStyle/>
          <a:p>
            <a:pPr algn="ctr" indent="0" marL="0">
              <a:buNone/>
            </a:pPr>
            <a:r>
              <a:rPr lang="en-US" sz="1000" b="1" dirty="0">
                <a:solidFill>
                  <a:srgbClr val="3FC9C0"/>
                </a:solidFill>
                <a:latin typeface="Consolas" pitchFamily="34" charset="0"/>
                <a:ea typeface="Consolas" pitchFamily="34" charset="-122"/>
                <a:cs typeface="Consolas" pitchFamily="34" charset="-120"/>
              </a:rPr>
              <a:t>৮</a:t>
            </a:r>
            <a:endParaRPr lang="en-US" sz="1000" dirty="0"/>
          </a:p>
        </p:txBody>
      </p:sp>
      <p:sp>
        <p:nvSpPr>
          <p:cNvPr id="25" name="Text 23"/>
          <p:cNvSpPr txBox="1"/>
          <p:nvPr/>
        </p:nvSpPr>
        <p:spPr>
          <a:xfrm>
            <a:off x="1435608" y="4581144"/>
            <a:ext cx="9692640" cy="256032"/>
          </a:xfrm>
          <a:prstGeom prst="rect">
            <a:avLst/>
          </a:prstGeom>
          <a:noFill/>
          <a:ln/>
        </p:spPr>
        <p:txBody>
          <a:bodyPr wrap="square" lIns="0" tIns="0" rIns="0" bIns="0" rtlCol="0" anchor="ctr"/>
          <a:lstStyle/>
          <a:p>
            <a:pPr indent="0" marL="0">
              <a:buNone/>
            </a:pPr>
            <a:r>
              <a:rPr lang="en-US" sz="1200" b="1" dirty="0">
                <a:solidFill>
                  <a:srgbClr val="E9EDF6"/>
                </a:solidFill>
                <a:latin typeface="Nirmala UI" pitchFamily="34" charset="0"/>
                <a:ea typeface="Nirmala UI" pitchFamily="34" charset="-122"/>
                <a:cs typeface="Nirmala UI" pitchFamily="34" charset="-120"/>
              </a:rPr>
              <a:t>অথ ইউজারের জন্য প্রসেস-লোকাল ছোট LRU</a:t>
            </a:r>
            <a:endParaRPr lang="en-US" sz="1200" dirty="0"/>
          </a:p>
        </p:txBody>
      </p:sp>
      <p:sp>
        <p:nvSpPr>
          <p:cNvPr id="26" name="Text 24"/>
          <p:cNvSpPr txBox="1"/>
          <p:nvPr/>
        </p:nvSpPr>
        <p:spPr>
          <a:xfrm>
            <a:off x="1435608" y="4846320"/>
            <a:ext cx="9692640" cy="402336"/>
          </a:xfrm>
          <a:prstGeom prst="rect">
            <a:avLst/>
          </a:prstGeom>
          <a:noFill/>
          <a:ln/>
        </p:spPr>
        <p:txBody>
          <a:bodyPr wrap="square" lIns="0" tIns="0" rIns="0" bIns="0" rtlCol="0" anchor="t"/>
          <a:lstStyle/>
          <a:p>
            <a:pPr indent="0" marL="0">
              <a:buNone/>
            </a:pPr>
            <a:r>
              <a:rPr lang="en-US" sz="950" dirty="0">
                <a:solidFill>
                  <a:srgbClr val="B4BCCE"/>
                </a:solidFill>
                <a:latin typeface="Nirmala UI" pitchFamily="34" charset="0"/>
                <a:ea typeface="Nirmala UI" pitchFamily="34" charset="-122"/>
                <a:cs typeface="Nirmala UI" pitchFamily="34" charset="-120"/>
              </a:rPr>
              <a:t>getCachedAuthUser প্রতিটা রিকোয়েস্টে চলে — Redis দ্রুত, কিন্তু ০ নয়। ২–৩ সেকেন্ডের ইন-মেমোরি LRU সামনে বসালে Redis রাউন্ড-ট্রিপটাও বাঁচত। ঝুঁকি — ব্যান কার্যকর হতে ওই কয়েক সেকেন্ড বেশি লাগবে।</a:t>
            </a:r>
            <a:endParaRPr lang="en-US" sz="950" dirty="0"/>
          </a:p>
        </p:txBody>
      </p:sp>
      <p:sp>
        <p:nvSpPr>
          <p:cNvPr id="27" name="Shape 25"/>
          <p:cNvSpPr/>
          <p:nvPr/>
        </p:nvSpPr>
        <p:spPr>
          <a:xfrm>
            <a:off x="658368" y="5394960"/>
            <a:ext cx="10874959" cy="804672"/>
          </a:xfrm>
          <a:prstGeom prst="roundRect">
            <a:avLst>
              <a:gd name="adj" fmla="val 6818"/>
            </a:avLst>
          </a:prstGeom>
          <a:solidFill>
            <a:srgbClr val="161B28"/>
          </a:solidFill>
          <a:ln w="12700">
            <a:solidFill>
              <a:srgbClr val="28303F"/>
            </a:solidFill>
            <a:prstDash val="solid"/>
          </a:ln>
        </p:spPr>
      </p:sp>
      <p:sp>
        <p:nvSpPr>
          <p:cNvPr id="28" name="Shape 26"/>
          <p:cNvSpPr/>
          <p:nvPr/>
        </p:nvSpPr>
        <p:spPr>
          <a:xfrm>
            <a:off x="859536" y="5541264"/>
            <a:ext cx="384048" cy="274320"/>
          </a:xfrm>
          <a:prstGeom prst="roundRect">
            <a:avLst>
              <a:gd name="adj" fmla="val 16667"/>
            </a:avLst>
          </a:prstGeom>
          <a:solidFill>
            <a:srgbClr val="0C0F17"/>
          </a:solidFill>
          <a:ln w="12700">
            <a:solidFill>
              <a:srgbClr val="1E6A66"/>
            </a:solidFill>
            <a:prstDash val="solid"/>
          </a:ln>
        </p:spPr>
      </p:sp>
      <p:sp>
        <p:nvSpPr>
          <p:cNvPr id="29" name="Text 27"/>
          <p:cNvSpPr txBox="1"/>
          <p:nvPr/>
        </p:nvSpPr>
        <p:spPr>
          <a:xfrm>
            <a:off x="859536" y="5577840"/>
            <a:ext cx="384048" cy="219456"/>
          </a:xfrm>
          <a:prstGeom prst="rect">
            <a:avLst/>
          </a:prstGeom>
          <a:noFill/>
          <a:ln/>
        </p:spPr>
        <p:txBody>
          <a:bodyPr wrap="square" lIns="0" tIns="0" rIns="0" bIns="0" rtlCol="0" anchor="ctr"/>
          <a:lstStyle/>
          <a:p>
            <a:pPr algn="ctr" indent="0" marL="0">
              <a:buNone/>
            </a:pPr>
            <a:r>
              <a:rPr lang="en-US" sz="1000" b="1" dirty="0">
                <a:solidFill>
                  <a:srgbClr val="3FC9C0"/>
                </a:solidFill>
                <a:latin typeface="Consolas" pitchFamily="34" charset="0"/>
                <a:ea typeface="Consolas" pitchFamily="34" charset="-122"/>
                <a:cs typeface="Consolas" pitchFamily="34" charset="-120"/>
              </a:rPr>
              <a:t>৯</a:t>
            </a:r>
            <a:endParaRPr lang="en-US" sz="1000" dirty="0"/>
          </a:p>
        </p:txBody>
      </p:sp>
      <p:sp>
        <p:nvSpPr>
          <p:cNvPr id="30" name="Text 28"/>
          <p:cNvSpPr txBox="1"/>
          <p:nvPr/>
        </p:nvSpPr>
        <p:spPr>
          <a:xfrm>
            <a:off x="1435608" y="5495544"/>
            <a:ext cx="9692640" cy="256032"/>
          </a:xfrm>
          <a:prstGeom prst="rect">
            <a:avLst/>
          </a:prstGeom>
          <a:noFill/>
          <a:ln/>
        </p:spPr>
        <p:txBody>
          <a:bodyPr wrap="square" lIns="0" tIns="0" rIns="0" bIns="0" rtlCol="0" anchor="ctr"/>
          <a:lstStyle/>
          <a:p>
            <a:pPr indent="0" marL="0">
              <a:buNone/>
            </a:pPr>
            <a:r>
              <a:rPr lang="en-US" sz="1200" b="1" dirty="0">
                <a:solidFill>
                  <a:srgbClr val="E9EDF6"/>
                </a:solidFill>
                <a:latin typeface="Nirmala UI" pitchFamily="34" charset="0"/>
                <a:ea typeface="Nirmala UI" pitchFamily="34" charset="-122"/>
                <a:cs typeface="Nirmala UI" pitchFamily="34" charset="-120"/>
              </a:rPr>
              <a:t>রেপ্লিকা আর স্লো-লগ</a:t>
            </a:r>
            <a:endParaRPr lang="en-US" sz="1200" dirty="0"/>
          </a:p>
        </p:txBody>
      </p:sp>
      <p:sp>
        <p:nvSpPr>
          <p:cNvPr id="31" name="Text 29"/>
          <p:cNvSpPr txBox="1"/>
          <p:nvPr/>
        </p:nvSpPr>
        <p:spPr>
          <a:xfrm>
            <a:off x="1435608" y="5760720"/>
            <a:ext cx="9692640" cy="402336"/>
          </a:xfrm>
          <a:prstGeom prst="rect">
            <a:avLst/>
          </a:prstGeom>
          <a:noFill/>
          <a:ln/>
        </p:spPr>
        <p:txBody>
          <a:bodyPr wrap="square" lIns="0" tIns="0" rIns="0" bIns="0" rtlCol="0" anchor="t"/>
          <a:lstStyle/>
          <a:p>
            <a:pPr indent="0" marL="0">
              <a:buNone/>
            </a:pPr>
            <a:r>
              <a:rPr lang="en-US" sz="950" dirty="0">
                <a:solidFill>
                  <a:srgbClr val="B4BCCE"/>
                </a:solidFill>
                <a:latin typeface="Nirmala UI" pitchFamily="34" charset="0"/>
                <a:ea typeface="Nirmala UI" pitchFamily="34" charset="-122"/>
                <a:cs typeface="Nirmala UI" pitchFamily="34" charset="-120"/>
              </a:rPr>
              <a:t>এখন একটাই Redis ইনস্ট্যান্স — single point of failure। একটা রেপ্লিকা + Sentinel দিলে ফেইলওভার হয়। আর SLOWLOG চালু রাখলে কোন কমান্ড ধীর সেটা ধরা পড়ে সমস্যা হওয়ার আগেই।</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F17"/>
        </a:solidFill>
      </p:bgPr>
    </p:bg>
    <p:spTree>
      <p:nvGrpSpPr>
        <p:cNvPr id="1" name=""/>
        <p:cNvGrpSpPr/>
        <p:nvPr/>
      </p:nvGrpSpPr>
      <p:grpSpPr>
        <a:xfrm>
          <a:off x="0" y="0"/>
          <a:ext cx="0" cy="0"/>
          <a:chOff x="0" y="0"/>
          <a:chExt cx="0" cy="0"/>
        </a:xfrm>
      </p:grpSpPr>
      <p:sp>
        <p:nvSpPr>
          <p:cNvPr id="2" name="Text 0"/>
          <p:cNvSpPr txBox="1"/>
          <p:nvPr/>
        </p:nvSpPr>
        <p:spPr>
          <a:xfrm>
            <a:off x="228600" y="274320"/>
            <a:ext cx="457200" cy="228600"/>
          </a:xfrm>
          <a:prstGeom prst="rect">
            <a:avLst/>
          </a:prstGeom>
          <a:noFill/>
          <a:ln/>
        </p:spPr>
        <p:txBody>
          <a:bodyPr wrap="square" lIns="0" tIns="0" rIns="0" bIns="0" rtlCol="0" anchor="ctr"/>
          <a:lstStyle/>
          <a:p>
            <a:pPr indent="0" marL="0">
              <a:buNone/>
            </a:pPr>
            <a:r>
              <a:rPr lang="en-US" sz="1000" spc="100" kern="0" dirty="0">
                <a:solidFill>
                  <a:srgbClr val="7E8798"/>
                </a:solidFill>
                <a:latin typeface="Consolas" pitchFamily="34" charset="0"/>
                <a:ea typeface="Consolas" pitchFamily="34" charset="-122"/>
                <a:cs typeface="Consolas" pitchFamily="34" charset="-120"/>
              </a:rPr>
              <a:t>22</a:t>
            </a:r>
            <a:endParaRPr lang="en-US" sz="1000" dirty="0"/>
          </a:p>
        </p:txBody>
      </p:sp>
      <p:sp>
        <p:nvSpPr>
          <p:cNvPr id="3" name="Text 1"/>
          <p:cNvSpPr txBox="1"/>
          <p:nvPr/>
        </p:nvSpPr>
        <p:spPr>
          <a:xfrm>
            <a:off x="9448495" y="274320"/>
            <a:ext cx="2514600" cy="228600"/>
          </a:xfrm>
          <a:prstGeom prst="rect">
            <a:avLst/>
          </a:prstGeom>
          <a:noFill/>
          <a:ln/>
        </p:spPr>
        <p:txBody>
          <a:bodyPr wrap="square" lIns="0" tIns="0" rIns="0" bIns="0" rtlCol="0" anchor="ctr"/>
          <a:lstStyle/>
          <a:p>
            <a:pPr algn="r" indent="0" marL="0">
              <a:buNone/>
            </a:pPr>
            <a:r>
              <a:rPr lang="en-US" sz="900" spc="200" kern="0" dirty="0">
                <a:solidFill>
                  <a:srgbClr val="7E8798"/>
                </a:solidFill>
                <a:latin typeface="Consolas" pitchFamily="34" charset="0"/>
                <a:ea typeface="Consolas" pitchFamily="34" charset="-122"/>
                <a:cs typeface="Consolas" pitchFamily="34" charset="-120"/>
              </a:rPr>
              <a:t>REDIS IN PRODUCTION</a:t>
            </a:r>
            <a:endParaRPr lang="en-US" sz="900" dirty="0"/>
          </a:p>
        </p:txBody>
      </p:sp>
      <p:sp>
        <p:nvSpPr>
          <p:cNvPr id="4" name="Shape 2"/>
          <p:cNvSpPr/>
          <p:nvPr/>
        </p:nvSpPr>
        <p:spPr>
          <a:xfrm>
            <a:off x="658368" y="384048"/>
            <a:ext cx="274320" cy="18288"/>
          </a:xfrm>
          <a:prstGeom prst="rect">
            <a:avLst/>
          </a:prstGeom>
          <a:solidFill>
            <a:srgbClr val="3FC9C0"/>
          </a:solidFill>
          <a:ln/>
        </p:spPr>
      </p:sp>
      <p:sp>
        <p:nvSpPr>
          <p:cNvPr id="5" name="Text 3"/>
          <p:cNvSpPr txBox="1"/>
          <p:nvPr/>
        </p:nvSpPr>
        <p:spPr>
          <a:xfrm>
            <a:off x="1042416" y="256032"/>
            <a:ext cx="7315200" cy="274320"/>
          </a:xfrm>
          <a:prstGeom prst="rect">
            <a:avLst/>
          </a:prstGeom>
          <a:noFill/>
          <a:ln/>
        </p:spPr>
        <p:txBody>
          <a:bodyPr wrap="square" lIns="0" tIns="0" rIns="0" bIns="0" rtlCol="0" anchor="ctr"/>
          <a:lstStyle/>
          <a:p>
            <a:pPr indent="0" marL="0">
              <a:buNone/>
            </a:pPr>
            <a:r>
              <a:rPr lang="en-US" sz="1000" spc="200" kern="0" dirty="0">
                <a:solidFill>
                  <a:srgbClr val="3FC9C0"/>
                </a:solidFill>
                <a:latin typeface="Consolas" pitchFamily="34" charset="0"/>
                <a:ea typeface="Consolas" pitchFamily="34" charset="-122"/>
                <a:cs typeface="Consolas" pitchFamily="34" charset="-120"/>
              </a:rPr>
              <a:t>সারসংক্ষেপ</a:t>
            </a:r>
            <a:endParaRPr lang="en-US" sz="1000" dirty="0"/>
          </a:p>
        </p:txBody>
      </p:sp>
      <p:sp>
        <p:nvSpPr>
          <p:cNvPr id="6" name="Shape 4"/>
          <p:cNvSpPr/>
          <p:nvPr/>
        </p:nvSpPr>
        <p:spPr>
          <a:xfrm>
            <a:off x="9692640" y="2011680"/>
            <a:ext cx="50292" cy="2926080"/>
          </a:xfrm>
          <a:prstGeom prst="rect">
            <a:avLst/>
          </a:prstGeom>
          <a:solidFill>
            <a:srgbClr val="3FC9C0"/>
          </a:solidFill>
          <a:ln w="12700">
            <a:solidFill>
              <a:srgbClr val="333333"/>
            </a:solidFill>
            <a:prstDash val="solid"/>
          </a:ln>
        </p:spPr>
      </p:sp>
      <p:sp>
        <p:nvSpPr>
          <p:cNvPr id="7" name="Shape 5"/>
          <p:cNvSpPr/>
          <p:nvPr/>
        </p:nvSpPr>
        <p:spPr>
          <a:xfrm>
            <a:off x="10515600" y="2926080"/>
            <a:ext cx="1188720" cy="1188720"/>
          </a:xfrm>
          <a:prstGeom prst="roundRect">
            <a:avLst>
              <a:gd name="adj" fmla="val 6154"/>
            </a:avLst>
          </a:prstGeom>
          <a:solidFill>
            <a:srgbClr val="161B28"/>
          </a:solidFill>
          <a:ln w="12700">
            <a:solidFill>
              <a:srgbClr val="4A3F86"/>
            </a:solidFill>
            <a:prstDash val="solid"/>
          </a:ln>
        </p:spPr>
      </p:sp>
      <p:sp>
        <p:nvSpPr>
          <p:cNvPr id="8" name="Text 6"/>
          <p:cNvSpPr txBox="1"/>
          <p:nvPr/>
        </p:nvSpPr>
        <p:spPr>
          <a:xfrm>
            <a:off x="10515600" y="3337560"/>
            <a:ext cx="1188720" cy="365760"/>
          </a:xfrm>
          <a:prstGeom prst="rect">
            <a:avLst/>
          </a:prstGeom>
          <a:noFill/>
          <a:ln/>
        </p:spPr>
        <p:txBody>
          <a:bodyPr wrap="square" lIns="0" tIns="0" rIns="0" bIns="0" rtlCol="0" anchor="ctr"/>
          <a:lstStyle/>
          <a:p>
            <a:pPr algn="ctr" indent="0" marL="0">
              <a:buNone/>
            </a:pPr>
            <a:r>
              <a:rPr lang="en-US" sz="1300" spc="200" kern="0" dirty="0">
                <a:solidFill>
                  <a:srgbClr val="9A8CF0"/>
                </a:solidFill>
                <a:latin typeface="Consolas" pitchFamily="34" charset="0"/>
                <a:ea typeface="Consolas" pitchFamily="34" charset="-122"/>
                <a:cs typeface="Consolas" pitchFamily="34" charset="-120"/>
              </a:rPr>
              <a:t>DB</a:t>
            </a:r>
            <a:endParaRPr lang="en-US" sz="1300" dirty="0"/>
          </a:p>
        </p:txBody>
      </p:sp>
      <p:sp>
        <p:nvSpPr>
          <p:cNvPr id="9" name="Text 7"/>
          <p:cNvSpPr txBox="1"/>
          <p:nvPr/>
        </p:nvSpPr>
        <p:spPr>
          <a:xfrm>
            <a:off x="658368" y="1051560"/>
            <a:ext cx="8046720" cy="1371600"/>
          </a:xfrm>
          <a:prstGeom prst="rect">
            <a:avLst/>
          </a:prstGeom>
          <a:noFill/>
          <a:ln/>
        </p:spPr>
        <p:txBody>
          <a:bodyPr wrap="square" lIns="0" tIns="0" rIns="0" bIns="0" rtlCol="0" anchor="t"/>
          <a:lstStyle/>
          <a:p>
            <a:pPr indent="0" marL="0">
              <a:lnSpc>
                <a:spcPts val="4200"/>
              </a:lnSpc>
              <a:buNone/>
            </a:pPr>
            <a:r>
              <a:rPr lang="en-US" sz="3300" b="1" dirty="0">
                <a:solidFill>
                  <a:srgbClr val="E9EDF6"/>
                </a:solidFill>
                <a:latin typeface="Nirmala UI" pitchFamily="34" charset="0"/>
                <a:ea typeface="Nirmala UI" pitchFamily="34" charset="-122"/>
                <a:cs typeface="Nirmala UI" pitchFamily="34" charset="-120"/>
              </a:rPr>
              <a:t>Redis-এর কাজ ডাটাবেজকে</a:t>
            </a:r>
            <a:endParaRPr lang="en-US" sz="3300" dirty="0"/>
          </a:p>
          <a:p>
            <a:pPr indent="0" marL="0">
              <a:lnSpc>
                <a:spcPts val="4200"/>
              </a:lnSpc>
              <a:buNone/>
            </a:pPr>
            <a:r>
              <a:rPr lang="en-US" sz="3300" b="1" dirty="0">
                <a:solidFill>
                  <a:srgbClr val="E9EDF6"/>
                </a:solidFill>
                <a:latin typeface="Nirmala UI" pitchFamily="34" charset="0"/>
                <a:ea typeface="Nirmala UI" pitchFamily="34" charset="-122"/>
                <a:cs typeface="Nirmala UI" pitchFamily="34" charset="-120"/>
              </a:rPr>
              <a:t>বিশ্রাম দেওয়া</a:t>
            </a:r>
            <a:endParaRPr lang="en-US" sz="3300" dirty="0"/>
          </a:p>
        </p:txBody>
      </p:sp>
      <p:sp>
        <p:nvSpPr>
          <p:cNvPr id="10" name="Text 8"/>
          <p:cNvSpPr txBox="1"/>
          <p:nvPr/>
        </p:nvSpPr>
        <p:spPr>
          <a:xfrm>
            <a:off x="658368" y="2651760"/>
            <a:ext cx="2057400" cy="502920"/>
          </a:xfrm>
          <a:prstGeom prst="rect">
            <a:avLst/>
          </a:prstGeom>
          <a:noFill/>
          <a:ln/>
        </p:spPr>
        <p:txBody>
          <a:bodyPr wrap="square" lIns="0" tIns="0" rIns="0" bIns="0" rtlCol="0" anchor="t"/>
          <a:lstStyle/>
          <a:p>
            <a:pPr indent="0" marL="0">
              <a:buNone/>
            </a:pPr>
            <a:r>
              <a:rPr lang="en-US" sz="2700" b="1" dirty="0">
                <a:solidFill>
                  <a:srgbClr val="3FC9C0"/>
                </a:solidFill>
                <a:latin typeface="Consolas" pitchFamily="34" charset="0"/>
                <a:ea typeface="Consolas" pitchFamily="34" charset="-122"/>
                <a:cs typeface="Consolas" pitchFamily="34" charset="-120"/>
              </a:rPr>
              <a:t>৮</a:t>
            </a:r>
            <a:endParaRPr lang="en-US" sz="2700" dirty="0"/>
          </a:p>
        </p:txBody>
      </p:sp>
      <p:sp>
        <p:nvSpPr>
          <p:cNvPr id="11" name="Text 9"/>
          <p:cNvSpPr txBox="1"/>
          <p:nvPr/>
        </p:nvSpPr>
        <p:spPr>
          <a:xfrm>
            <a:off x="658368" y="3154680"/>
            <a:ext cx="205740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আলাদা ভূমিকা</a:t>
            </a:r>
            <a:endParaRPr lang="en-US" sz="1000" dirty="0"/>
          </a:p>
        </p:txBody>
      </p:sp>
      <p:sp>
        <p:nvSpPr>
          <p:cNvPr id="12" name="Text 10"/>
          <p:cNvSpPr txBox="1"/>
          <p:nvPr/>
        </p:nvSpPr>
        <p:spPr>
          <a:xfrm>
            <a:off x="2807208" y="2651760"/>
            <a:ext cx="2057400" cy="502920"/>
          </a:xfrm>
          <a:prstGeom prst="rect">
            <a:avLst/>
          </a:prstGeom>
          <a:noFill/>
          <a:ln/>
        </p:spPr>
        <p:txBody>
          <a:bodyPr wrap="square" lIns="0" tIns="0" rIns="0" bIns="0" rtlCol="0" anchor="t"/>
          <a:lstStyle/>
          <a:p>
            <a:pPr indent="0" marL="0">
              <a:buNone/>
            </a:pPr>
            <a:r>
              <a:rPr lang="en-US" sz="2700" b="1" dirty="0">
                <a:solidFill>
                  <a:srgbClr val="F5A63C"/>
                </a:solidFill>
                <a:latin typeface="Consolas" pitchFamily="34" charset="0"/>
                <a:ea typeface="Consolas" pitchFamily="34" charset="-122"/>
                <a:cs typeface="Consolas" pitchFamily="34" charset="-120"/>
              </a:rPr>
              <a:t>২৩</a:t>
            </a:r>
            <a:endParaRPr lang="en-US" sz="2700" dirty="0"/>
          </a:p>
        </p:txBody>
      </p:sp>
      <p:sp>
        <p:nvSpPr>
          <p:cNvPr id="13" name="Text 11"/>
          <p:cNvSpPr txBox="1"/>
          <p:nvPr/>
        </p:nvSpPr>
        <p:spPr>
          <a:xfrm>
            <a:off x="2807208" y="3154680"/>
            <a:ext cx="205740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ক্যাশড কোয়েরি</a:t>
            </a:r>
            <a:endParaRPr lang="en-US" sz="1000" dirty="0"/>
          </a:p>
        </p:txBody>
      </p:sp>
      <p:sp>
        <p:nvSpPr>
          <p:cNvPr id="14" name="Text 12"/>
          <p:cNvSpPr txBox="1"/>
          <p:nvPr/>
        </p:nvSpPr>
        <p:spPr>
          <a:xfrm>
            <a:off x="4956048" y="2651760"/>
            <a:ext cx="2057400" cy="502920"/>
          </a:xfrm>
          <a:prstGeom prst="rect">
            <a:avLst/>
          </a:prstGeom>
          <a:noFill/>
          <a:ln/>
        </p:spPr>
        <p:txBody>
          <a:bodyPr wrap="square" lIns="0" tIns="0" rIns="0" bIns="0" rtlCol="0" anchor="t"/>
          <a:lstStyle/>
          <a:p>
            <a:pPr indent="0" marL="0">
              <a:buNone/>
            </a:pPr>
            <a:r>
              <a:rPr lang="en-US" sz="2700" b="1" dirty="0">
                <a:solidFill>
                  <a:srgbClr val="7BD88F"/>
                </a:solidFill>
                <a:latin typeface="Consolas" pitchFamily="34" charset="0"/>
                <a:ea typeface="Consolas" pitchFamily="34" charset="-122"/>
                <a:cs typeface="Consolas" pitchFamily="34" charset="-120"/>
              </a:rPr>
              <a:t>৪</a:t>
            </a:r>
            <a:endParaRPr lang="en-US" sz="2700" dirty="0"/>
          </a:p>
        </p:txBody>
      </p:sp>
      <p:sp>
        <p:nvSpPr>
          <p:cNvPr id="15" name="Text 13"/>
          <p:cNvSpPr txBox="1"/>
          <p:nvPr/>
        </p:nvSpPr>
        <p:spPr>
          <a:xfrm>
            <a:off x="4956048" y="3154680"/>
            <a:ext cx="205740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স্তরের stampede রক্ষা</a:t>
            </a:r>
            <a:endParaRPr lang="en-US" sz="1000" dirty="0"/>
          </a:p>
        </p:txBody>
      </p:sp>
      <p:sp>
        <p:nvSpPr>
          <p:cNvPr id="16" name="Text 14"/>
          <p:cNvSpPr txBox="1"/>
          <p:nvPr/>
        </p:nvSpPr>
        <p:spPr>
          <a:xfrm>
            <a:off x="7104888" y="2651760"/>
            <a:ext cx="2057400" cy="502920"/>
          </a:xfrm>
          <a:prstGeom prst="rect">
            <a:avLst/>
          </a:prstGeom>
          <a:noFill/>
          <a:ln/>
        </p:spPr>
        <p:txBody>
          <a:bodyPr wrap="square" lIns="0" tIns="0" rIns="0" bIns="0" rtlCol="0" anchor="t"/>
          <a:lstStyle/>
          <a:p>
            <a:pPr indent="0" marL="0">
              <a:buNone/>
            </a:pPr>
            <a:r>
              <a:rPr lang="en-US" sz="2700" b="1" dirty="0">
                <a:solidFill>
                  <a:srgbClr val="E2607A"/>
                </a:solidFill>
                <a:latin typeface="Consolas" pitchFamily="34" charset="0"/>
                <a:ea typeface="Consolas" pitchFamily="34" charset="-122"/>
                <a:cs typeface="Consolas" pitchFamily="34" charset="-120"/>
              </a:rPr>
              <a:t>৯</a:t>
            </a:r>
            <a:endParaRPr lang="en-US" sz="2700" dirty="0"/>
          </a:p>
        </p:txBody>
      </p:sp>
      <p:sp>
        <p:nvSpPr>
          <p:cNvPr id="17" name="Text 15"/>
          <p:cNvSpPr txBox="1"/>
          <p:nvPr/>
        </p:nvSpPr>
        <p:spPr>
          <a:xfrm>
            <a:off x="7104888" y="3154680"/>
            <a:ext cx="2057400" cy="274320"/>
          </a:xfrm>
          <a:prstGeom prst="rect">
            <a:avLst/>
          </a:prstGeom>
          <a:noFill/>
          <a:ln/>
        </p:spPr>
        <p:txBody>
          <a:bodyPr wrap="square" lIns="0" tIns="0" rIns="0" bIns="0" rtlCol="0" anchor="t"/>
          <a:lstStyle/>
          <a:p>
            <a:pPr indent="0" marL="0">
              <a:buNone/>
            </a:pPr>
            <a:r>
              <a:rPr lang="en-US" sz="1000" dirty="0">
                <a:solidFill>
                  <a:srgbClr val="7E8798"/>
                </a:solidFill>
                <a:latin typeface="Nirmala UI" pitchFamily="34" charset="0"/>
                <a:ea typeface="Nirmala UI" pitchFamily="34" charset="-122"/>
                <a:cs typeface="Nirmala UI" pitchFamily="34" charset="-120"/>
              </a:rPr>
              <a:t>উন্নতির জায়গা</a:t>
            </a:r>
            <a:endParaRPr lang="en-US" sz="1000" dirty="0"/>
          </a:p>
        </p:txBody>
      </p:sp>
      <p:sp>
        <p:nvSpPr>
          <p:cNvPr id="18" name="Text 16"/>
          <p:cNvSpPr txBox="1"/>
          <p:nvPr/>
        </p:nvSpPr>
        <p:spPr>
          <a:xfrm>
            <a:off x="658368" y="3931920"/>
            <a:ext cx="8046720" cy="201168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TTL ঠিক করে গুরুত্ব — ভুল ডেটা দেখালে কতটা ক্ষতি, সেটাই একমাত্র প্রশ্ন</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key জানা থাকলে DELETE, না জানলে INCR — SCAN কখনো নয়</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রাউন্ড-ট্রিপ কমাও — pipeline, Lua, MGET, বাফার</a:t>
            </a:r>
            <a:endParaRPr lang="en-US" sz="1200" dirty="0"/>
          </a:p>
          <a:p>
            <a:pPr marL="342900" indent="-342900">
              <a:spcAft>
                <a:spcPts val="900"/>
              </a:spcAft>
              <a:buSzPct val="100000"/>
              <a:buChar char="–"/>
            </a:pPr>
            <a:r>
              <a:rPr lang="en-US" sz="1200" dirty="0">
                <a:solidFill>
                  <a:srgbClr val="B4BCCE"/>
                </a:solidFill>
                <a:latin typeface="Nirmala UI" pitchFamily="34" charset="0"/>
                <a:ea typeface="Nirmala UI" pitchFamily="34" charset="-122"/>
                <a:cs typeface="Nirmala UI" pitchFamily="34" charset="-120"/>
              </a:rPr>
              <a:t>ক্যাশ ফেল করলে ফিচার ফেল করা উচিত না — কিন্তু কিউ আর স্ট্রিমের জন্য এটা খাটে না</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প্রোডাকশনে Redis</dc:title>
  <dc:subject>PptxGenJS Presentation</dc:subject>
  <dc:creator>ASG Web App Backend</dc:creator>
  <cp:lastModifiedBy>ASG Web App Backend</cp:lastModifiedBy>
  <cp:revision>1</cp:revision>
  <dcterms:created xsi:type="dcterms:W3CDTF">2026-09-03T06:42:33Z</dcterms:created>
  <dcterms:modified xsi:type="dcterms:W3CDTF">2026-09-03T06:42:33Z</dcterms:modified>
</cp:coreProperties>
</file>