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আসসালামু আলাইকুম। আজকে দেখাবো — একটা ব্যাকএন্ড থেকে পাঁচ লাখ ইউজারকে পুশ নোটিফিকেশন পাঠানো যায় কীভাবে, আর সেটা একদম ফ্রিতে। এটা থিওরি না, প্রোডাকশনে চলা কোড। Firebase, BullMQ, Redis আর PostgreSQL — চারটা টুল দিয়ে পুরো পাইপলাইনটা কীভাবে দাঁড়ালো, আর প্রতিটা জায়গায় কেন এই সিদ্ধান্তটা নিলাম, সেটাই বলবো।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শুরু করি সমস্যাটা দিয়ে। প্রায় সবাই প্রথমে এই কোডটাই লেখে — সব ইউজার নিয়ে আসো, লুপ চালাও, পাঠাও। কিন্তু হিসাবটা করো: এক একটা FCM কলে ২০০ মিলিসেকেন্ড ধরলে, ৫ লাখ ইউজারে দাঁড়ায় প্রায় সাতাশ ঘণ্টা। এদিকে Nginx রিকোয়েস্ট ৩০ সেকেন্ডেই কেটে দেবে। তার আগেই findMany ৫ লাখ রো RAM-এ তুলে সার্ভার বসিয়ে দেবে। আর FCM এক কলে ৫০০-র বেশি টোকেন নেবেই না। সবচেয়ে খারাপ — মাঝপথে সার্ভার রিস্টার্ট হলে কে পেয়েছে কে পায়নি, কোনো রেকর্ডই থাকবে 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Firebase কেন? কারণ FCM-এ মেসেজের কোনো বিল নেই। শূন্য। SMS দিয়ে একই ক্যাম্পেইন পাঠাতে গেলে প্রতি SMS ৩০ পয়সা ধরলেও ৫ লাখে দাঁড়ায় দেড় লাখ টাকা — এবং সেটা প্রতিবার। FCM-এ সেটা শূন্য টাকা। তোমার আসল খরচ শুধু একটা VPS আর একটা Redis। শর্ত একটাই — প্রতি কলে ৫০০ টোকেন। এই একটা লিমিটের ওপরেই পুরো ডিজাইনটা দাঁড়িয়ে আছে।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এই যে পুরো আর্কিটেকচার। বাঁ দিক থেকে ডানে পড়ো। অ্যাডমিন প্যানেল থেকে রিকোয়েস্ট আসে API-তে — PM2-তে ছয়টা ইনস্ট্যান্স চলে। API নিজে কিছুই পাঠায় না, শুধু Redis-এ একটা জব ঢুকিয়ে দেয়। BullMQ সেই জব ধরে রাখে। আলাদা ওয়ার্কার প্রসেস সেটা তুলে নেয়, ইউজারদের পেজ পেজ করে বের করে, ৫০০-র ব্যাচ বানায়, থ্রটল করে FCM-এ পাঠায়। নিচে PostgreSQL-এ থাকে কী পাঠানো হলো আর কে দেখলো, আর Redis ক্যাশে ইন-অ্যাপ ফিড। এই ছবিটা মাথায় রাখো।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প্রথম ধাপ — ডিভাইস রেজিস্ট্রেশন। অ্যাপ খুললেই FCM একটা টোকেন দেয়, সেটা সার্ভারে পাঠাই। সবচেয়ে জরুরি সিদ্ধান্ত — token কলামটা unique, আর আমি create না করে upsert করি। কারণ অ্যাপ রিইনস্টল বা টোকেন রিফ্রেশ হলে একই ডিভাইসের জন্য নতুন রো তৈরি হয়ে যেত, আর একজন ইউজার একই নোটিফিকেশন দশবার পেত। আর টোকেন মরে গেলে রো ডিলিট করি না, শুধু isValid ফলস করি — নাহলে জানা যায় না কতজন অ্যাপ ছেড়ে গেছে।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ডাটাবেজ ডিজাইনটা তিন টেবিলে ভাগ করেছি, কারণ তিনটা আলাদা প্রশ্নের উত্তর লাগে। pushNotifications বলে কোন ডিভাইসে পাঠাবো। notificationLogs বলে কী পাঠিয়েছি। notificationUserStatus বলে কে দেখলো, কে ক্লিক করলো। এখানে একটা ট্র্যাপ আছে — এক নোটিফিকেশনের জন্য যদি ৫ লাখ রো বানাও, দশটা নোটিফিকেশনেই ৫০ লাখ রো। তাই ক্যাম্পেইনের রেকর্ড একটাই, আর per-user রো তৈরি হয় শুধু তখনই যখন কেউ আসলেই দেখে।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এখন সিস্টেমের সবচেয়ে গুরুত্বপূর্ণ সিদ্ধান্ত — API কখনোই নোটিফিকেশন পাঠায় না। API চারটা কাজ করে: একটা uuid বানায়, জবটা কিউতে ঢোকায়, ডাটাবেজে একটা লগ রো বানায়, আর 200 OK ফেরত দেয়। পুরোটা ৪০ মিলিসেকেন্ডে। মজার ব্যাপার — একজনকে পাঠাও বা ৫ লাখকে, রেসপন্স টাইম একই, কারণ কাজটা তখনও শুরুই হয়নি। আর এখন সার্ভার ক্র্যাশ করলেও ভয় নেই, জবটা Redis-এ বসে আছে। এটাই কিউ ব্যবহারের আসল কারণ — শুধু স্পিড না, নিরাপত্তা।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কিউ দুইটা রেখেছি। txQueue — একজন ইউজার বা সব ইউজার। campaignQueue — কোর্স বা সাইকেল ভিত্তিক ব্রডকাস্ট। কেন আলাদা? ভাবো, ৫ লাখের একটা ক্যাম্পেইন চলছে, ঠিক তখন একজন স্টুডেন্ট একটা চ্যাট মেসেজ পেল। এক কিউতে থাকলে ওই চ্যাট নোটিফিকেশন ১০০ সেকেন্ড পেছনে আটকে থাকতো। আর PM2 কনফিগে API আর ওয়ার্কার সম্পূর্ণ আলাদা প্রসেস — ওয়ার্কার CPU খেলেও ইউজারের রিকোয়েস্ট স্লো হবে 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ওয়ার্কারের ভেতরে ঢুকি। ৫ লাখ ইউজারকে বের করবো কীভাবে? সাধারণ পেজিনেশন, মানে skip আর take, এখানে ভয়ংকর। কারণ skip 495000 মানে Postgres আসলে ৪ লাখ ৯৫ হাজার রো পড়ে, তারপর ফেলে দেয়। প্রতিটা পরের পেজ আগেরটার চেয়ে ধীর — উপরের লাল বারগুলো সেটাই দেখাচ্ছে। তাই কার্সর পেজিনেশন। শেষ যে আইডিতে ছিলাম, পরের কোয়েরিতে সরাসরি সেই পয়েন্টে ইনডেক্সে বসে পড়ি। শেষ পেজও প্রথম পেজের মতোই দ্রুত। আর এটা একটা generator ফাংশন, তাই মেমোরিতে একসাথে ৫০০০ আইডি থাকে, পুরো ৫ লাখ কখনোই 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৫০০০ আইডি পেলাম, তাদের টোকেন বের করলাম। কিন্তু FCM এক কলে ৫০০-র বেশি নেবে না — Firebase-এর হার্ড লিমিট। তাই chunk ফাংশন দিয়ে ৫০০ করে ভাগ করি। সহজ হিসাব — ৫ লাখ ভাগ ৫০০ সমান ১০০০ API কল। আর sendEachForMulticast ব্যবহার করি কারণ এটা প্রতিটা টোকেনের আলাদা রেজাল্ট ফেরত দেয়। আর notification নয়, data পেলোড পাঠাই, যাতে অ্যাপ ব্যাকগ্রাউন্ডে থাকলেও নোটিফিকেশনটা নিজের মতো আঁকতে পারি।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পাল্টা প্রশ্ন — ১০০০ কল একসাথে ছেড়ে দিলে ১০ সেকেন্ডেই তো শেষ? না, দুই কারণে। এক, FCM-এর কোটা আছে, ছাড়িয়ে গেলে গুগল রিকোয়েস্ট ফিরিয়ে দেবে। দুই, প্রতিটা ব্যাচের আগে ডাটাবেজে টোকেন কোয়েরি করি — একসাথে ছুটলে নিজের Postgres-ই বসে যাবে। তাই একটা ছোট থ্রটল: সেকেন্ডে সর্বোচ্চ ১০ ব্যাচ। ১০ গুণ ৫০০, মানে সেকেন্ডে ৫০০০ নোটিফিকেশন। ৫ লাখ ভাগ ৫০০০ — ১০০ সেকেন্ড। এটাই আমার আসল থ্রুপুট।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এবার সেই জায়গা, যেখানে ভুল করলে ইউজার অ্যাপ আনইনস্টল করে দেয় — ডুপ্লিকেট। তিন রাস্তায় আসতে পারে: অ্যাডমিন ভুলে দুইবার ক্লিক করলো, BullMQ টাইমআউট ভেবে রিট্রাই করলো, বা দুই ওয়ার্কার একই জব তুলে নিলো। সমাধান Redis-এর একটামাত্র কমান্ড — SET key value NX EX। NX মানে key না থাকলেই লিখবে, আর Redis সিঙ্গেল থ্রেডেড বলে এটা পুরোপুরি atomic — ১০০টা রিকোয়েস্ট একসাথে এলেও শুধু প্রথমজনই OK পায়। EX মানে নিজে থেকেই মুছে যাবে, তাই ক্র্যাশ করলেও লক চিরকাল আটকে থাকবে না। আমি দুই স্তরে লাগিয়েছি।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রিট্রাই। BullMQ-কে বলেছি attempts তিন, backoff exponential। ফেল করলে ১০ সেকেন্ড, তারপর ২০, তারপর ৪০। কেন দ্বিগুণ? কারণ FCM সাময়িক ডাউন থাকলে সাথে সাথে আবার হামলা করলে অবস্থা আরও খারাপ হয় — শ্বাস নেওয়ার সময় দিতে হয়। তিন বারে কেন থামি? অসীম রিট্রাই মানে একটা বিষাক্ত জব চিরকাল ওয়ার্কার দখল করে থাকবে। আর removeOnComplete না দিলে Redis-এর মেমোরি ধীরে ধীরে শেষ হয়ে যেত — অনেকে এই জায়গায় ধরা খায়।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প্রতিটা রেসপন্সে FCM বলে দেয় কোন টোকেন আর নেই। দুইটা এরর কোড খুঁজি — registration-token-not-registered আর invalid-registration-token। এগুলো মানে অ্যাপ আনইনস্টল হয়েছে, ডেটা ক্লিয়ার হয়েছে, বা অনেকদিন অ্যাপ খোলা হয়নি। সেগুলো জমিয়ে এক updateMany-তে isValid ফলস করে দিই। ফলাফল — পরের ক্যাম্পেইনে ওই টোকেন কোয়েরিতেই আসবে না। মানে প্রতিটা ক্যাম্পেইন আমার টোকেন টেবিলকে একটু একটু করে সুস্থ করে তোলে।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হিসাব রাখাটাও অটোমেটিক। ওয়ার্কার যখন একটা জব শেষ করে, completed ইভেন্টে ফেরত দেয় কতগুলো গেল, কতগুলো ফেল করলো, কতগুলো ইনভ্যালিড। সেই uuid দিয়ে notificationLogs-এর রো খুঁজে কাউন্টার আপডেট হয়। ছোট কিন্তু জরুরি ডিটেইল — আমি increment ব্যবহার করি, set না, কারণ একটা ক্যাম্পেইনের অনেকগুলো পেজ আলাদা আলাদা সময়ে শেষ হয়, তাই সংখ্যাগুলো যোগ হতে হবে।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এতক্ষণ ছিল পুশ পাঠানো, কিন্তু কাজ শেষ না। ইউজার অ্যাপ খুলে নোটিফিকেশন লিস্টটা দেখবে, স্ক্রল করবে, বারবার রিফ্রেশ করবে — সম্পূর্ণ আলাদা একটা লোড। ক্যাশ লাগবেই, কিন্তু নতুন নোটিফিকেশন এলে ৫ লাখ ইউজারের ক্যাশ key কীভাবে মুছবে? KEYS বা SCAN চালালে Redis আটকে যাবে। তাই আমি মুছিই না — key-এর নামের ভেতরেই একটা ভার্সন নাম্বার বসিয়ে দিয়েছি। নতুন নোটিফিকেশন গেলে শুধু INCR। পুরনো key-গুলো এক মুহূর্তে অনাথ হয়ে যায়, আর TTL শেষ হলে নিজেরাই মরে যায়।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শেষ টেকনিক্যাল অংশ — cache stampede। ধরো ক্যাশ এইমাত্র এক্সপায়ার করলো, আর ঠিক তখন ১০ হাজার ইউজার ফিড খুললো। সবাই মিস পাবে, সবাই ডাটাবেজে যাবে — ১০ হাজার একই কোয়েরি। ডাটাবেজ শেষ। তিন স্তরে আটকেছি। এক, একই প্রসেসের ভেতর singleFlight, একটা promise সবাই শেয়ার করে। দুই, প্রসেসের বাইরে Redis distributed lock — একজনই লক পায়, সেই একজনই DB-তে যায়। তিন, বাকিরা ৪০ থেকে ১০০ মিলিসেকেন্ড পরপর ক্যাশ চেক করতে থাকে। আর Redis পুরো ডাউন হলে সরাসরি DB থেকে পড়ে — ক্যাশ ফেল করলেও ফিচার ফেল করে 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আর একটা ছোট কিন্তু দরকারি জিনিস — প্রতিদিন রাত ১২টা ৫ মিনিটে একটা cron চলে, ৭ দিনের পুরনো নোটিফিকেশন আর তাদের স্ট্যাটাস রো ডিলিট করে দেয়। নোটিফিকেশন ফিড কোনো আর্কাইভ না, এটা সাম্প্রতিক খবরের জায়গা। পুরোটা একটা ট্রানজেকশনে, তাই মাঝপথে ফেল করলে কিছুই মুছবে না। আর ডিলিটের ঠিক পরেই global ভার্সন বাড়িয়ে দিই — নাহলে ক্যাশে এমন নোটিফিকেশন থেকে যেত যেটা ডাটাবেজে আর নেই।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তাহলে দাঁড়ালো কী? ৫ লাখ ডিভাইসে পুরো ব্রডকাস্ট ১০০ সেকেন্ডে। API রেসপন্স ৪০ মিলিসেকেন্ড — একজন হোক বা ৫ লাখ। FCM-এর বিল শূন্য টাকা। সব মিলিয়ে একটা VPS আর একটা Redis। চারটা কথা মনে রাখো: কিউ দেয় নিরাপত্তা, ব্যাচ আর থ্রটল দেয় গতি, Redis লক দেয় বিশ্বাস, আর ভার্সন ক্যাশ দেয় স্কেল। ভিডিওটা ভালো লাগলে লাইক দিও, আর তোমার সিস্টেমে কোথায় আটকে আছো কমেন্টে লিখো। ধন্যবাদ।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01</a:t>
            </a:r>
            <a:endParaRPr lang="en-US" sz="1000" dirty="0"/>
          </a:p>
        </p:txBody>
      </p:sp>
      <p:sp>
        <p:nvSpPr>
          <p:cNvPr id="3" name="Text 1"/>
          <p:cNvSpPr txBox="1"/>
          <p:nvPr/>
        </p:nvSpPr>
        <p:spPr>
          <a:xfrm>
            <a:off x="10088575" y="274320"/>
            <a:ext cx="187452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PUSH PIPELINE</a:t>
            </a:r>
            <a:endParaRPr lang="en-US" sz="900" dirty="0"/>
          </a:p>
        </p:txBody>
      </p:sp>
      <p:sp>
        <p:nvSpPr>
          <p:cNvPr id="4" name="Shape 2"/>
          <p:cNvSpPr/>
          <p:nvPr/>
        </p:nvSpPr>
        <p:spPr>
          <a:xfrm>
            <a:off x="9601200" y="2286000"/>
            <a:ext cx="2011680" cy="2011680"/>
          </a:xfrm>
          <a:prstGeom prst="ellipse">
            <a:avLst/>
          </a:prstGeom>
          <a:solidFill>
            <a:srgbClr val="0C0F17"/>
          </a:solidFill>
          <a:ln w="15875">
            <a:solidFill>
              <a:srgbClr val="3FC9C0"/>
            </a:solidFill>
            <a:prstDash val="solid"/>
          </a:ln>
        </p:spPr>
      </p:sp>
      <p:sp>
        <p:nvSpPr>
          <p:cNvPr id="5" name="Shape 3"/>
          <p:cNvSpPr/>
          <p:nvPr/>
        </p:nvSpPr>
        <p:spPr>
          <a:xfrm>
            <a:off x="10104120" y="2788920"/>
            <a:ext cx="1005840" cy="1005840"/>
          </a:xfrm>
          <a:prstGeom prst="ellipse">
            <a:avLst/>
          </a:prstGeom>
          <a:solidFill>
            <a:srgbClr val="0C0F17"/>
          </a:solidFill>
          <a:ln w="12700">
            <a:solidFill>
              <a:srgbClr val="3FC9C0"/>
            </a:solidFill>
            <a:prstDash val="solid"/>
          </a:ln>
        </p:spPr>
      </p:sp>
      <p:sp>
        <p:nvSpPr>
          <p:cNvPr id="6" name="Shape 4"/>
          <p:cNvSpPr/>
          <p:nvPr/>
        </p:nvSpPr>
        <p:spPr>
          <a:xfrm>
            <a:off x="10332720" y="3017520"/>
            <a:ext cx="548640" cy="548640"/>
          </a:xfrm>
          <a:prstGeom prst="ellipse">
            <a:avLst/>
          </a:prstGeom>
          <a:solidFill>
            <a:srgbClr val="F5A63C"/>
          </a:solidFill>
          <a:ln w="12700">
            <a:solidFill>
              <a:srgbClr val="F5A63C"/>
            </a:solidFill>
            <a:prstDash val="solid"/>
          </a:ln>
        </p:spPr>
      </p:sp>
      <p:sp>
        <p:nvSpPr>
          <p:cNvPr id="7" name="Shape 5"/>
          <p:cNvSpPr/>
          <p:nvPr/>
        </p:nvSpPr>
        <p:spPr>
          <a:xfrm>
            <a:off x="658368" y="1417320"/>
            <a:ext cx="274320" cy="18288"/>
          </a:xfrm>
          <a:prstGeom prst="rect">
            <a:avLst/>
          </a:prstGeom>
          <a:solidFill>
            <a:srgbClr val="3FC9C0"/>
          </a:solidFill>
          <a:ln/>
        </p:spPr>
      </p:sp>
      <p:sp>
        <p:nvSpPr>
          <p:cNvPr id="8" name="Text 6"/>
          <p:cNvSpPr txBox="1"/>
          <p:nvPr/>
        </p:nvSpPr>
        <p:spPr>
          <a:xfrm>
            <a:off x="1042416" y="1280160"/>
            <a:ext cx="6400800" cy="274320"/>
          </a:xfrm>
          <a:prstGeom prst="rect">
            <a:avLst/>
          </a:prstGeom>
          <a:noFill/>
          <a:ln/>
        </p:spPr>
        <p:txBody>
          <a:bodyPr wrap="square" lIns="0" tIns="0" rIns="0" bIns="0" rtlCol="0" anchor="ctr"/>
          <a:lstStyle/>
          <a:p>
            <a:pPr indent="0" marL="0">
              <a:buNone/>
            </a:pPr>
            <a:r>
              <a:rPr lang="en-US" sz="1100" spc="200" kern="0" dirty="0">
                <a:solidFill>
                  <a:srgbClr val="3FC9C0"/>
                </a:solidFill>
                <a:latin typeface="Consolas" pitchFamily="34" charset="0"/>
                <a:ea typeface="Consolas" pitchFamily="34" charset="-122"/>
                <a:cs typeface="Consolas" pitchFamily="34" charset="-120"/>
              </a:rPr>
              <a:t>BACKEND SYSTEM DESIGN · বাংলা</a:t>
            </a:r>
            <a:endParaRPr lang="en-US" sz="1100" dirty="0"/>
          </a:p>
        </p:txBody>
      </p:sp>
      <p:sp>
        <p:nvSpPr>
          <p:cNvPr id="9" name="Text 7"/>
          <p:cNvSpPr txBox="1"/>
          <p:nvPr/>
        </p:nvSpPr>
        <p:spPr>
          <a:xfrm>
            <a:off x="658368" y="1737360"/>
            <a:ext cx="8595360" cy="2240280"/>
          </a:xfrm>
          <a:prstGeom prst="rect">
            <a:avLst/>
          </a:prstGeom>
          <a:noFill/>
          <a:ln/>
        </p:spPr>
        <p:txBody>
          <a:bodyPr wrap="square" lIns="0" tIns="0" rIns="0" bIns="0" rtlCol="0" anchor="t"/>
          <a:lstStyle/>
          <a:p>
            <a:pPr indent="0" marL="0">
              <a:lnSpc>
                <a:spcPts val="4800"/>
              </a:lnSpc>
              <a:buNone/>
            </a:pPr>
            <a:r>
              <a:rPr lang="en-US" sz="4000" b="1" dirty="0">
                <a:solidFill>
                  <a:srgbClr val="E9EDF6"/>
                </a:solidFill>
                <a:latin typeface="Nirmala UI" pitchFamily="34" charset="0"/>
                <a:ea typeface="Nirmala UI" pitchFamily="34" charset="-122"/>
                <a:cs typeface="Nirmala UI" pitchFamily="34" charset="-120"/>
              </a:rPr>
              <a:t>লাখ লাখ ইউজারকে</a:t>
            </a:r>
            <a:endParaRPr lang="en-US" sz="4000" dirty="0"/>
          </a:p>
          <a:p>
            <a:pPr indent="0" marL="0">
              <a:lnSpc>
                <a:spcPts val="4800"/>
              </a:lnSpc>
              <a:buNone/>
            </a:pPr>
            <a:r>
              <a:rPr lang="en-US" sz="4000" b="1" dirty="0">
                <a:solidFill>
                  <a:srgbClr val="E9EDF6"/>
                </a:solidFill>
                <a:latin typeface="Nirmala UI" pitchFamily="34" charset="0"/>
                <a:ea typeface="Nirmala UI" pitchFamily="34" charset="-122"/>
                <a:cs typeface="Nirmala UI" pitchFamily="34" charset="-120"/>
              </a:rPr>
              <a:t>পুশ নোটিফিকেশন — </a:t>
            </a:r>
            <a:endParaRPr lang="en-US" sz="4000" dirty="0"/>
          </a:p>
          <a:p>
            <a:pPr indent="0" marL="0">
              <a:lnSpc>
                <a:spcPts val="4800"/>
              </a:lnSpc>
              <a:buNone/>
            </a:pPr>
            <a:r>
              <a:rPr lang="en-US" sz="4000" b="1" dirty="0">
                <a:solidFill>
                  <a:srgbClr val="F5A63C"/>
                </a:solidFill>
                <a:latin typeface="Nirmala UI" pitchFamily="34" charset="0"/>
                <a:ea typeface="Nirmala UI" pitchFamily="34" charset="-122"/>
                <a:cs typeface="Nirmala UI" pitchFamily="34" charset="-120"/>
              </a:rPr>
              <a:t>একদম ফ্রিতে</a:t>
            </a:r>
            <a:endParaRPr lang="en-US" sz="4000" dirty="0"/>
          </a:p>
        </p:txBody>
      </p:sp>
      <p:sp>
        <p:nvSpPr>
          <p:cNvPr id="10" name="Text 8"/>
          <p:cNvSpPr txBox="1"/>
          <p:nvPr/>
        </p:nvSpPr>
        <p:spPr>
          <a:xfrm>
            <a:off x="658368" y="4114800"/>
            <a:ext cx="8046720" cy="777240"/>
          </a:xfrm>
          <a:prstGeom prst="rect">
            <a:avLst/>
          </a:prstGeom>
          <a:noFill/>
          <a:ln/>
        </p:spPr>
        <p:txBody>
          <a:bodyPr wrap="square" lIns="0" tIns="0" rIns="0" bIns="0" rtlCol="0" anchor="t"/>
          <a:lstStyle/>
          <a:p>
            <a:pPr indent="0" marL="0">
              <a:buNone/>
            </a:pPr>
            <a:r>
              <a:rPr lang="en-US" sz="1400" dirty="0">
                <a:solidFill>
                  <a:srgbClr val="B4BCCE"/>
                </a:solidFill>
                <a:latin typeface="Nirmala UI" pitchFamily="34" charset="0"/>
                <a:ea typeface="Nirmala UI" pitchFamily="34" charset="-122"/>
                <a:cs typeface="Nirmala UI" pitchFamily="34" charset="-120"/>
              </a:rPr>
              <a:t>Firebase FCM + BullMQ + Redis + PostgreSQL দিয়ে বানানো একটা প্রোডাকশন পাইপলাইন।</a:t>
            </a:r>
            <a:endParaRPr lang="en-US" sz="1400" dirty="0"/>
          </a:p>
          <a:p>
            <a:pPr indent="0" marL="0">
              <a:buNone/>
            </a:pPr>
            <a:r>
              <a:rPr lang="en-US" sz="1400" dirty="0">
                <a:solidFill>
                  <a:srgbClr val="B4BCCE"/>
                </a:solidFill>
                <a:latin typeface="Nirmala UI" pitchFamily="34" charset="0"/>
                <a:ea typeface="Nirmala UI" pitchFamily="34" charset="-122"/>
                <a:cs typeface="Nirmala UI" pitchFamily="34" charset="-120"/>
              </a:rPr>
              <a:t>কোড, আর্কিটেকচার আর প্রতিটা সিদ্ধান্তের পেছনের কারণ।</a:t>
            </a:r>
            <a:endParaRPr lang="en-US" sz="1400" dirty="0"/>
          </a:p>
        </p:txBody>
      </p:sp>
      <p:sp>
        <p:nvSpPr>
          <p:cNvPr id="11" name="Text 9"/>
          <p:cNvSpPr txBox="1"/>
          <p:nvPr/>
        </p:nvSpPr>
        <p:spPr>
          <a:xfrm>
            <a:off x="658368" y="5120640"/>
            <a:ext cx="2514600" cy="438912"/>
          </a:xfrm>
          <a:prstGeom prst="rect">
            <a:avLst/>
          </a:prstGeom>
          <a:noFill/>
          <a:ln/>
        </p:spPr>
        <p:txBody>
          <a:bodyPr wrap="square" lIns="0" tIns="0" rIns="0" bIns="0" rtlCol="0" anchor="t"/>
          <a:lstStyle/>
          <a:p>
            <a:pPr indent="0" marL="0">
              <a:buNone/>
            </a:pPr>
            <a:r>
              <a:rPr lang="en-US" sz="2200" b="1" dirty="0">
                <a:solidFill>
                  <a:srgbClr val="F5A63C"/>
                </a:solidFill>
                <a:latin typeface="Consolas" pitchFamily="34" charset="0"/>
                <a:ea typeface="Consolas" pitchFamily="34" charset="-122"/>
                <a:cs typeface="Consolas" pitchFamily="34" charset="-120"/>
              </a:rPr>
              <a:t>৫,০০,০০০+</a:t>
            </a:r>
            <a:endParaRPr lang="en-US" sz="2200" dirty="0"/>
          </a:p>
        </p:txBody>
      </p:sp>
      <p:sp>
        <p:nvSpPr>
          <p:cNvPr id="12" name="Text 10"/>
          <p:cNvSpPr txBox="1"/>
          <p:nvPr/>
        </p:nvSpPr>
        <p:spPr>
          <a:xfrm>
            <a:off x="658368" y="5559552"/>
            <a:ext cx="2514600" cy="274320"/>
          </a:xfrm>
          <a:prstGeom prst="rect">
            <a:avLst/>
          </a:prstGeom>
          <a:noFill/>
          <a:ln/>
        </p:spPr>
        <p:txBody>
          <a:bodyPr wrap="square" lIns="0" tIns="0" rIns="0" bIns="0" rtlCol="0" anchor="t"/>
          <a:lstStyle/>
          <a:p>
            <a:pPr indent="0" marL="0">
              <a:buNone/>
            </a:pPr>
            <a:r>
              <a:rPr lang="en-US" sz="1000" dirty="0">
                <a:solidFill>
                  <a:srgbClr val="7E8798"/>
                </a:solidFill>
                <a:latin typeface="Nirmala UI" pitchFamily="34" charset="0"/>
                <a:ea typeface="Nirmala UI" pitchFamily="34" charset="-122"/>
                <a:cs typeface="Nirmala UI" pitchFamily="34" charset="-120"/>
              </a:rPr>
              <a:t>ডিভাইস টোকেন</a:t>
            </a:r>
            <a:endParaRPr lang="en-US" sz="1000" dirty="0"/>
          </a:p>
        </p:txBody>
      </p:sp>
      <p:sp>
        <p:nvSpPr>
          <p:cNvPr id="13" name="Text 11"/>
          <p:cNvSpPr txBox="1"/>
          <p:nvPr/>
        </p:nvSpPr>
        <p:spPr>
          <a:xfrm>
            <a:off x="3264408" y="5120640"/>
            <a:ext cx="2514600" cy="438912"/>
          </a:xfrm>
          <a:prstGeom prst="rect">
            <a:avLst/>
          </a:prstGeom>
          <a:noFill/>
          <a:ln/>
        </p:spPr>
        <p:txBody>
          <a:bodyPr wrap="square" lIns="0" tIns="0" rIns="0" bIns="0" rtlCol="0" anchor="t"/>
          <a:lstStyle/>
          <a:p>
            <a:pPr indent="0" marL="0">
              <a:buNone/>
            </a:pPr>
            <a:r>
              <a:rPr lang="en-US" sz="2200" b="1" dirty="0">
                <a:solidFill>
                  <a:srgbClr val="3FC9C0"/>
                </a:solidFill>
                <a:latin typeface="Consolas" pitchFamily="34" charset="0"/>
                <a:ea typeface="Consolas" pitchFamily="34" charset="-122"/>
                <a:cs typeface="Consolas" pitchFamily="34" charset="-120"/>
              </a:rPr>
              <a:t>~১০০ সেকেন্ড</a:t>
            </a:r>
            <a:endParaRPr lang="en-US" sz="2200" dirty="0"/>
          </a:p>
        </p:txBody>
      </p:sp>
      <p:sp>
        <p:nvSpPr>
          <p:cNvPr id="14" name="Text 12"/>
          <p:cNvSpPr txBox="1"/>
          <p:nvPr/>
        </p:nvSpPr>
        <p:spPr>
          <a:xfrm>
            <a:off x="3264408" y="5559552"/>
            <a:ext cx="2514600" cy="274320"/>
          </a:xfrm>
          <a:prstGeom prst="rect">
            <a:avLst/>
          </a:prstGeom>
          <a:noFill/>
          <a:ln/>
        </p:spPr>
        <p:txBody>
          <a:bodyPr wrap="square" lIns="0" tIns="0" rIns="0" bIns="0" rtlCol="0" anchor="t"/>
          <a:lstStyle/>
          <a:p>
            <a:pPr indent="0" marL="0">
              <a:buNone/>
            </a:pPr>
            <a:r>
              <a:rPr lang="en-US" sz="1000" dirty="0">
                <a:solidFill>
                  <a:srgbClr val="7E8798"/>
                </a:solidFill>
                <a:latin typeface="Nirmala UI" pitchFamily="34" charset="0"/>
                <a:ea typeface="Nirmala UI" pitchFamily="34" charset="-122"/>
                <a:cs typeface="Nirmala UI" pitchFamily="34" charset="-120"/>
              </a:rPr>
              <a:t>ফুল ব্রডকাস্ট</a:t>
            </a:r>
            <a:endParaRPr lang="en-US" sz="1000" dirty="0"/>
          </a:p>
        </p:txBody>
      </p:sp>
      <p:sp>
        <p:nvSpPr>
          <p:cNvPr id="15" name="Text 13"/>
          <p:cNvSpPr txBox="1"/>
          <p:nvPr/>
        </p:nvSpPr>
        <p:spPr>
          <a:xfrm>
            <a:off x="5870448" y="5120640"/>
            <a:ext cx="2514600" cy="438912"/>
          </a:xfrm>
          <a:prstGeom prst="rect">
            <a:avLst/>
          </a:prstGeom>
          <a:noFill/>
          <a:ln/>
        </p:spPr>
        <p:txBody>
          <a:bodyPr wrap="square" lIns="0" tIns="0" rIns="0" bIns="0" rtlCol="0" anchor="t"/>
          <a:lstStyle/>
          <a:p>
            <a:pPr indent="0" marL="0">
              <a:buNone/>
            </a:pPr>
            <a:r>
              <a:rPr lang="en-US" sz="2200" b="1" dirty="0">
                <a:solidFill>
                  <a:srgbClr val="7BD88F"/>
                </a:solidFill>
                <a:latin typeface="Consolas" pitchFamily="34" charset="0"/>
                <a:ea typeface="Consolas" pitchFamily="34" charset="-122"/>
                <a:cs typeface="Consolas" pitchFamily="34" charset="-120"/>
              </a:rPr>
              <a:t>৳০</a:t>
            </a:r>
            <a:endParaRPr lang="en-US" sz="2200" dirty="0"/>
          </a:p>
        </p:txBody>
      </p:sp>
      <p:sp>
        <p:nvSpPr>
          <p:cNvPr id="16" name="Text 14"/>
          <p:cNvSpPr txBox="1"/>
          <p:nvPr/>
        </p:nvSpPr>
        <p:spPr>
          <a:xfrm>
            <a:off x="5870448" y="5559552"/>
            <a:ext cx="2514600" cy="274320"/>
          </a:xfrm>
          <a:prstGeom prst="rect">
            <a:avLst/>
          </a:prstGeom>
          <a:noFill/>
          <a:ln/>
        </p:spPr>
        <p:txBody>
          <a:bodyPr wrap="square" lIns="0" tIns="0" rIns="0" bIns="0" rtlCol="0" anchor="t"/>
          <a:lstStyle/>
          <a:p>
            <a:pPr indent="0" marL="0">
              <a:buNone/>
            </a:pPr>
            <a:r>
              <a:rPr lang="en-US" sz="1000" dirty="0">
                <a:solidFill>
                  <a:srgbClr val="7E8798"/>
                </a:solidFill>
                <a:latin typeface="Nirmala UI" pitchFamily="34" charset="0"/>
                <a:ea typeface="Nirmala UI" pitchFamily="34" charset="-122"/>
                <a:cs typeface="Nirmala UI" pitchFamily="34" charset="-120"/>
              </a:rPr>
              <a:t>FCM খরচ</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02</a:t>
            </a:r>
            <a:endParaRPr lang="en-US" sz="1000" dirty="0"/>
          </a:p>
        </p:txBody>
      </p:sp>
      <p:sp>
        <p:nvSpPr>
          <p:cNvPr id="3" name="Text 1"/>
          <p:cNvSpPr txBox="1"/>
          <p:nvPr/>
        </p:nvSpPr>
        <p:spPr>
          <a:xfrm>
            <a:off x="10088575" y="274320"/>
            <a:ext cx="187452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PUSH PIPELINE</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সমস্যা</a:t>
            </a:r>
            <a:endParaRPr lang="en-US" sz="1000" dirty="0"/>
          </a:p>
        </p:txBody>
      </p:sp>
      <p:sp>
        <p:nvSpPr>
          <p:cNvPr id="6" name="Text 4"/>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000" b="1" dirty="0">
                <a:solidFill>
                  <a:srgbClr val="E9EDF6"/>
                </a:solidFill>
                <a:latin typeface="Nirmala UI" pitchFamily="34" charset="0"/>
                <a:ea typeface="Nirmala UI" pitchFamily="34" charset="-122"/>
                <a:cs typeface="Nirmala UI" pitchFamily="34" charset="-120"/>
              </a:rPr>
              <a:t>সহজ কোডটা কেন কাজ করে না</a:t>
            </a:r>
            <a:endParaRPr lang="en-US" sz="3000" dirty="0"/>
          </a:p>
        </p:txBody>
      </p:sp>
      <p:sp>
        <p:nvSpPr>
          <p:cNvPr id="7" name="Shape 5"/>
          <p:cNvSpPr/>
          <p:nvPr/>
        </p:nvSpPr>
        <p:spPr>
          <a:xfrm>
            <a:off x="658368" y="1600200"/>
            <a:ext cx="5394960" cy="2286000"/>
          </a:xfrm>
          <a:prstGeom prst="roundRect">
            <a:avLst>
              <a:gd name="adj" fmla="val 2400"/>
            </a:avLst>
          </a:prstGeom>
          <a:solidFill>
            <a:srgbClr val="090C13"/>
          </a:solidFill>
          <a:ln w="12700">
            <a:solidFill>
              <a:srgbClr val="28303F"/>
            </a:solidFill>
            <a:prstDash val="solid"/>
          </a:ln>
        </p:spPr>
      </p:sp>
      <p:sp>
        <p:nvSpPr>
          <p:cNvPr id="8" name="Shape 6"/>
          <p:cNvSpPr/>
          <p:nvPr/>
        </p:nvSpPr>
        <p:spPr>
          <a:xfrm>
            <a:off x="658368" y="1655064"/>
            <a:ext cx="32004" cy="2176272"/>
          </a:xfrm>
          <a:prstGeom prst="rect">
            <a:avLst/>
          </a:prstGeom>
          <a:solidFill>
            <a:srgbClr val="E2607A"/>
          </a:solidFill>
          <a:ln/>
        </p:spPr>
      </p:sp>
      <p:sp>
        <p:nvSpPr>
          <p:cNvPr id="9" name="Text 7"/>
          <p:cNvSpPr txBox="1"/>
          <p:nvPr/>
        </p:nvSpPr>
        <p:spPr>
          <a:xfrm>
            <a:off x="859536" y="1746504"/>
            <a:ext cx="5029200" cy="1993392"/>
          </a:xfrm>
          <a:prstGeom prst="rect">
            <a:avLst/>
          </a:prstGeom>
          <a:noFill/>
          <a:ln/>
        </p:spPr>
        <p:txBody>
          <a:bodyPr wrap="square" lIns="0" tIns="0" rIns="0" bIns="0" rtlCol="0" anchor="t"/>
          <a:lstStyle/>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what everyone writes first</a:t>
            </a:r>
            <a:endParaRPr lang="en-US" sz="1050" dirty="0"/>
          </a:p>
          <a:p>
            <a:pPr indent="0" marL="0">
              <a:lnSpc>
                <a:spcPts val="1628"/>
              </a:lnSpc>
              <a:buNone/>
            </a:pP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const users = await prisma.student.findMany();</a:t>
            </a:r>
            <a:endParaRPr lang="en-US" sz="1050" dirty="0"/>
          </a:p>
          <a:p>
            <a:pPr indent="0" marL="0">
              <a:lnSpc>
                <a:spcPts val="1628"/>
              </a:lnSpc>
              <a:buNone/>
            </a:pP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for (const u of users) {</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await sendNotification(u.token);</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a:t>
            </a:r>
            <a:endParaRPr lang="en-US" sz="1050" dirty="0"/>
          </a:p>
          <a:p>
            <a:pPr indent="0" marL="0">
              <a:lnSpc>
                <a:spcPts val="1628"/>
              </a:lnSpc>
              <a:buNone/>
            </a:pP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res.json({ success: true });</a:t>
            </a:r>
            <a:endParaRPr lang="en-US" sz="1050" dirty="0"/>
          </a:p>
        </p:txBody>
      </p:sp>
      <p:sp>
        <p:nvSpPr>
          <p:cNvPr id="10" name="Shape 8"/>
          <p:cNvSpPr/>
          <p:nvPr/>
        </p:nvSpPr>
        <p:spPr>
          <a:xfrm>
            <a:off x="658368" y="4069080"/>
            <a:ext cx="5394960" cy="384048"/>
          </a:xfrm>
          <a:prstGeom prst="roundRect">
            <a:avLst>
              <a:gd name="adj" fmla="val 47619"/>
            </a:avLst>
          </a:prstGeom>
          <a:solidFill>
            <a:srgbClr val="1C2231"/>
          </a:solidFill>
          <a:ln w="12700">
            <a:solidFill>
              <a:srgbClr val="28303F"/>
            </a:solidFill>
            <a:prstDash val="solid"/>
          </a:ln>
        </p:spPr>
      </p:sp>
      <p:sp>
        <p:nvSpPr>
          <p:cNvPr id="11" name="Shape 9"/>
          <p:cNvSpPr/>
          <p:nvPr/>
        </p:nvSpPr>
        <p:spPr>
          <a:xfrm>
            <a:off x="658368" y="4069080"/>
            <a:ext cx="457200" cy="384048"/>
          </a:xfrm>
          <a:prstGeom prst="roundRect">
            <a:avLst>
              <a:gd name="adj" fmla="val 47619"/>
            </a:avLst>
          </a:prstGeom>
          <a:solidFill>
            <a:srgbClr val="E2607A"/>
          </a:solidFill>
          <a:ln w="12700">
            <a:solidFill>
              <a:srgbClr val="333333"/>
            </a:solidFill>
            <a:prstDash val="solid"/>
          </a:ln>
        </p:spPr>
      </p:sp>
      <p:sp>
        <p:nvSpPr>
          <p:cNvPr id="12" name="Text 10"/>
          <p:cNvSpPr txBox="1"/>
          <p:nvPr/>
        </p:nvSpPr>
        <p:spPr>
          <a:xfrm>
            <a:off x="658368" y="4572000"/>
            <a:ext cx="5394960" cy="320040"/>
          </a:xfrm>
          <a:prstGeom prst="rect">
            <a:avLst/>
          </a:prstGeom>
          <a:noFill/>
          <a:ln/>
        </p:spPr>
        <p:txBody>
          <a:bodyPr wrap="square" lIns="0" tIns="0" rIns="0" bIns="0" rtlCol="0" anchor="ctr"/>
          <a:lstStyle/>
          <a:p>
            <a:pPr indent="0" marL="0">
              <a:buNone/>
            </a:pPr>
            <a:r>
              <a:rPr lang="en-US" sz="1100" spc="100" kern="0" dirty="0">
                <a:solidFill>
                  <a:srgbClr val="E2607A"/>
                </a:solidFill>
                <a:latin typeface="Consolas" pitchFamily="34" charset="0"/>
                <a:ea typeface="Consolas" pitchFamily="34" charset="-122"/>
                <a:cs typeface="Consolas" pitchFamily="34" charset="-120"/>
              </a:rPr>
              <a:t>REQUEST TIMEOUT — ৩০ সেকেন্ডে কানেকশন কাটা</a:t>
            </a:r>
            <a:endParaRPr lang="en-US" sz="1100" dirty="0"/>
          </a:p>
        </p:txBody>
      </p:sp>
      <p:sp>
        <p:nvSpPr>
          <p:cNvPr id="13" name="Text 11"/>
          <p:cNvSpPr txBox="1"/>
          <p:nvPr/>
        </p:nvSpPr>
        <p:spPr>
          <a:xfrm>
            <a:off x="6492240" y="1600200"/>
            <a:ext cx="5029200" cy="356616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২৭ ঘণ্টা — ৫ লাখ ইউজার × ২০০ms, একটার পর একটা</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HTTP টাইমআউট — Nginx ৩০ সেকেন্ডেই কেটে দেবে</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মেমোরি শেষ — findMany() ৫ লাখ রো একসাথে RAM-এ তোলে</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FCM লিমিট — এক কলে সর্বোচ্চ ৫০০ টোকেন</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সার্ভার রিস্টার্ট = সব শেষ — কে পেয়েছে, কোনো রেকর্ড নেই</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রিট্রাই নেই — একটা নেটওয়ার্ক এরর মানেই ওই ইউজার বাদ</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03</a:t>
            </a:r>
            <a:endParaRPr lang="en-US" sz="1000" dirty="0"/>
          </a:p>
        </p:txBody>
      </p:sp>
      <p:sp>
        <p:nvSpPr>
          <p:cNvPr id="3" name="Text 1"/>
          <p:cNvSpPr txBox="1"/>
          <p:nvPr/>
        </p:nvSpPr>
        <p:spPr>
          <a:xfrm>
            <a:off x="10088575" y="274320"/>
            <a:ext cx="187452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PUSH PIPELINE</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কেন Firebase</a:t>
            </a:r>
            <a:endParaRPr lang="en-US" sz="1000" dirty="0"/>
          </a:p>
        </p:txBody>
      </p:sp>
      <p:sp>
        <p:nvSpPr>
          <p:cNvPr id="6" name="Text 4"/>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000" b="1" dirty="0">
                <a:solidFill>
                  <a:srgbClr val="E9EDF6"/>
                </a:solidFill>
                <a:latin typeface="Nirmala UI" pitchFamily="34" charset="0"/>
                <a:ea typeface="Nirmala UI" pitchFamily="34" charset="-122"/>
                <a:cs typeface="Nirmala UI" pitchFamily="34" charset="-120"/>
              </a:rPr>
              <a:t>FCM-এ মেসেজের কোনো খরচ নেই</a:t>
            </a:r>
            <a:endParaRPr lang="en-US" sz="3000" dirty="0"/>
          </a:p>
        </p:txBody>
      </p:sp>
      <p:sp>
        <p:nvSpPr>
          <p:cNvPr id="7" name="Shape 5"/>
          <p:cNvSpPr/>
          <p:nvPr/>
        </p:nvSpPr>
        <p:spPr>
          <a:xfrm>
            <a:off x="658368" y="1645920"/>
            <a:ext cx="5852160" cy="1371600"/>
          </a:xfrm>
          <a:prstGeom prst="roundRect">
            <a:avLst>
              <a:gd name="adj" fmla="val 4000"/>
            </a:avLst>
          </a:prstGeom>
          <a:solidFill>
            <a:srgbClr val="161B28"/>
          </a:solidFill>
          <a:ln w="12700">
            <a:solidFill>
              <a:srgbClr val="28303F"/>
            </a:solidFill>
            <a:prstDash val="solid"/>
          </a:ln>
        </p:spPr>
      </p:sp>
      <p:sp>
        <p:nvSpPr>
          <p:cNvPr id="8" name="Text 6"/>
          <p:cNvSpPr txBox="1"/>
          <p:nvPr/>
        </p:nvSpPr>
        <p:spPr>
          <a:xfrm>
            <a:off x="886968" y="1828800"/>
            <a:ext cx="3200400" cy="274320"/>
          </a:xfrm>
          <a:prstGeom prst="rect">
            <a:avLst/>
          </a:prstGeom>
          <a:noFill/>
          <a:ln/>
        </p:spPr>
        <p:txBody>
          <a:bodyPr wrap="square" lIns="0" tIns="0" rIns="0" bIns="0" rtlCol="0" anchor="ctr"/>
          <a:lstStyle/>
          <a:p>
            <a:pPr indent="0" marL="0">
              <a:buNone/>
            </a:pPr>
            <a:r>
              <a:rPr lang="en-US" sz="1250" b="1" dirty="0">
                <a:solidFill>
                  <a:srgbClr val="E9EDF6"/>
                </a:solidFill>
                <a:latin typeface="Nirmala UI" pitchFamily="34" charset="0"/>
                <a:ea typeface="Nirmala UI" pitchFamily="34" charset="-122"/>
                <a:cs typeface="Nirmala UI" pitchFamily="34" charset="-120"/>
              </a:rPr>
              <a:t>SMS দিয়ে একটা ক্যাম্পেইন</a:t>
            </a:r>
            <a:endParaRPr lang="en-US" sz="1250" dirty="0"/>
          </a:p>
        </p:txBody>
      </p:sp>
      <p:sp>
        <p:nvSpPr>
          <p:cNvPr id="9" name="Text 7"/>
          <p:cNvSpPr txBox="1"/>
          <p:nvPr/>
        </p:nvSpPr>
        <p:spPr>
          <a:xfrm>
            <a:off x="4133088" y="1783080"/>
            <a:ext cx="2194560" cy="457200"/>
          </a:xfrm>
          <a:prstGeom prst="rect">
            <a:avLst/>
          </a:prstGeom>
          <a:noFill/>
          <a:ln/>
        </p:spPr>
        <p:txBody>
          <a:bodyPr wrap="square" lIns="0" tIns="0" rIns="0" bIns="0" rtlCol="0" anchor="ctr"/>
          <a:lstStyle/>
          <a:p>
            <a:pPr algn="r" indent="0" marL="0">
              <a:buNone/>
            </a:pPr>
            <a:r>
              <a:rPr lang="en-US" sz="2400" b="1" dirty="0">
                <a:solidFill>
                  <a:srgbClr val="E2607A"/>
                </a:solidFill>
                <a:latin typeface="Consolas" pitchFamily="34" charset="0"/>
                <a:ea typeface="Consolas" pitchFamily="34" charset="-122"/>
                <a:cs typeface="Consolas" pitchFamily="34" charset="-120"/>
              </a:rPr>
              <a:t>৳ ১,৫০,০০০</a:t>
            </a:r>
            <a:endParaRPr lang="en-US" sz="2400" dirty="0"/>
          </a:p>
        </p:txBody>
      </p:sp>
      <p:sp>
        <p:nvSpPr>
          <p:cNvPr id="10" name="Shape 8"/>
          <p:cNvSpPr/>
          <p:nvPr/>
        </p:nvSpPr>
        <p:spPr>
          <a:xfrm>
            <a:off x="886968" y="2395728"/>
            <a:ext cx="5394960" cy="182880"/>
          </a:xfrm>
          <a:prstGeom prst="roundRect">
            <a:avLst>
              <a:gd name="adj" fmla="val 50000"/>
            </a:avLst>
          </a:prstGeom>
          <a:solidFill>
            <a:srgbClr val="1C2231"/>
          </a:solidFill>
          <a:ln w="12700">
            <a:solidFill>
              <a:srgbClr val="333333"/>
            </a:solidFill>
            <a:prstDash val="solid"/>
          </a:ln>
        </p:spPr>
      </p:sp>
      <p:sp>
        <p:nvSpPr>
          <p:cNvPr id="11" name="Shape 9"/>
          <p:cNvSpPr/>
          <p:nvPr/>
        </p:nvSpPr>
        <p:spPr>
          <a:xfrm>
            <a:off x="886968" y="2395728"/>
            <a:ext cx="5394960" cy="182880"/>
          </a:xfrm>
          <a:prstGeom prst="roundRect">
            <a:avLst>
              <a:gd name="adj" fmla="val 50000"/>
            </a:avLst>
          </a:prstGeom>
          <a:solidFill>
            <a:srgbClr val="E2607A"/>
          </a:solidFill>
          <a:ln w="12700">
            <a:solidFill>
              <a:srgbClr val="333333"/>
            </a:solidFill>
            <a:prstDash val="solid"/>
          </a:ln>
        </p:spPr>
      </p:sp>
      <p:sp>
        <p:nvSpPr>
          <p:cNvPr id="12" name="Text 10"/>
          <p:cNvSpPr txBox="1"/>
          <p:nvPr/>
        </p:nvSpPr>
        <p:spPr>
          <a:xfrm>
            <a:off x="886968" y="2651760"/>
            <a:ext cx="5394960" cy="256032"/>
          </a:xfrm>
          <a:prstGeom prst="rect">
            <a:avLst/>
          </a:prstGeom>
          <a:noFill/>
          <a:ln/>
        </p:spPr>
        <p:txBody>
          <a:bodyPr wrap="square" lIns="0" tIns="0" rIns="0" bIns="0" rtlCol="0" anchor="ctr"/>
          <a:lstStyle/>
          <a:p>
            <a:pPr indent="0" marL="0">
              <a:buNone/>
            </a:pPr>
            <a:r>
              <a:rPr lang="en-US" sz="1000" dirty="0">
                <a:solidFill>
                  <a:srgbClr val="7E8798"/>
                </a:solidFill>
                <a:latin typeface="Nirmala UI" pitchFamily="34" charset="0"/>
                <a:ea typeface="Nirmala UI" pitchFamily="34" charset="-122"/>
                <a:cs typeface="Nirmala UI" pitchFamily="34" charset="-120"/>
              </a:rPr>
              <a:t>প্রতিবার। ৫,০০,০০০ × ৳০.৩০ (আনুমানিক বাজারদর)</a:t>
            </a:r>
            <a:endParaRPr lang="en-US" sz="1000" dirty="0"/>
          </a:p>
        </p:txBody>
      </p:sp>
      <p:sp>
        <p:nvSpPr>
          <p:cNvPr id="13" name="Shape 11"/>
          <p:cNvSpPr/>
          <p:nvPr/>
        </p:nvSpPr>
        <p:spPr>
          <a:xfrm>
            <a:off x="658368" y="3200400"/>
            <a:ext cx="5852160" cy="1371600"/>
          </a:xfrm>
          <a:prstGeom prst="roundRect">
            <a:avLst>
              <a:gd name="adj" fmla="val 4000"/>
            </a:avLst>
          </a:prstGeom>
          <a:solidFill>
            <a:srgbClr val="161B28"/>
          </a:solidFill>
          <a:ln w="12700">
            <a:solidFill>
              <a:srgbClr val="2E6B44"/>
            </a:solidFill>
            <a:prstDash val="solid"/>
          </a:ln>
        </p:spPr>
      </p:sp>
      <p:sp>
        <p:nvSpPr>
          <p:cNvPr id="14" name="Text 12"/>
          <p:cNvSpPr txBox="1"/>
          <p:nvPr/>
        </p:nvSpPr>
        <p:spPr>
          <a:xfrm>
            <a:off x="886968" y="3383280"/>
            <a:ext cx="3200400" cy="274320"/>
          </a:xfrm>
          <a:prstGeom prst="rect">
            <a:avLst/>
          </a:prstGeom>
          <a:noFill/>
          <a:ln/>
        </p:spPr>
        <p:txBody>
          <a:bodyPr wrap="square" lIns="0" tIns="0" rIns="0" bIns="0" rtlCol="0" anchor="ctr"/>
          <a:lstStyle/>
          <a:p>
            <a:pPr indent="0" marL="0">
              <a:buNone/>
            </a:pPr>
            <a:r>
              <a:rPr lang="en-US" sz="1250" b="1" dirty="0">
                <a:solidFill>
                  <a:srgbClr val="E9EDF6"/>
                </a:solidFill>
                <a:latin typeface="Nirmala UI" pitchFamily="34" charset="0"/>
                <a:ea typeface="Nirmala UI" pitchFamily="34" charset="-122"/>
                <a:cs typeface="Nirmala UI" pitchFamily="34" charset="-120"/>
              </a:rPr>
              <a:t>FCM দিয়ে একই ক্যাম্পেইন</a:t>
            </a:r>
            <a:endParaRPr lang="en-US" sz="1250" dirty="0"/>
          </a:p>
        </p:txBody>
      </p:sp>
      <p:sp>
        <p:nvSpPr>
          <p:cNvPr id="15" name="Text 13"/>
          <p:cNvSpPr txBox="1"/>
          <p:nvPr/>
        </p:nvSpPr>
        <p:spPr>
          <a:xfrm>
            <a:off x="4133088" y="3337560"/>
            <a:ext cx="2194560" cy="457200"/>
          </a:xfrm>
          <a:prstGeom prst="rect">
            <a:avLst/>
          </a:prstGeom>
          <a:noFill/>
          <a:ln/>
        </p:spPr>
        <p:txBody>
          <a:bodyPr wrap="square" lIns="0" tIns="0" rIns="0" bIns="0" rtlCol="0" anchor="ctr"/>
          <a:lstStyle/>
          <a:p>
            <a:pPr algn="r" indent="0" marL="0">
              <a:buNone/>
            </a:pPr>
            <a:r>
              <a:rPr lang="en-US" sz="2400" b="1" dirty="0">
                <a:solidFill>
                  <a:srgbClr val="7BD88F"/>
                </a:solidFill>
                <a:latin typeface="Consolas" pitchFamily="34" charset="0"/>
                <a:ea typeface="Consolas" pitchFamily="34" charset="-122"/>
                <a:cs typeface="Consolas" pitchFamily="34" charset="-120"/>
              </a:rPr>
              <a:t>৳ ০</a:t>
            </a:r>
            <a:endParaRPr lang="en-US" sz="2400" dirty="0"/>
          </a:p>
        </p:txBody>
      </p:sp>
      <p:sp>
        <p:nvSpPr>
          <p:cNvPr id="16" name="Shape 14"/>
          <p:cNvSpPr/>
          <p:nvPr/>
        </p:nvSpPr>
        <p:spPr>
          <a:xfrm>
            <a:off x="886968" y="3950208"/>
            <a:ext cx="5394960" cy="182880"/>
          </a:xfrm>
          <a:prstGeom prst="roundRect">
            <a:avLst>
              <a:gd name="adj" fmla="val 50000"/>
            </a:avLst>
          </a:prstGeom>
          <a:solidFill>
            <a:srgbClr val="1C2231"/>
          </a:solidFill>
          <a:ln w="12700">
            <a:solidFill>
              <a:srgbClr val="333333"/>
            </a:solidFill>
            <a:prstDash val="solid"/>
          </a:ln>
        </p:spPr>
      </p:sp>
      <p:sp>
        <p:nvSpPr>
          <p:cNvPr id="17" name="Shape 15"/>
          <p:cNvSpPr/>
          <p:nvPr/>
        </p:nvSpPr>
        <p:spPr>
          <a:xfrm>
            <a:off x="886968" y="3950208"/>
            <a:ext cx="182880" cy="182880"/>
          </a:xfrm>
          <a:prstGeom prst="roundRect">
            <a:avLst>
              <a:gd name="adj" fmla="val 50000"/>
            </a:avLst>
          </a:prstGeom>
          <a:solidFill>
            <a:srgbClr val="7BD88F"/>
          </a:solidFill>
          <a:ln w="12700">
            <a:solidFill>
              <a:srgbClr val="333333"/>
            </a:solidFill>
            <a:prstDash val="solid"/>
          </a:ln>
        </p:spPr>
      </p:sp>
      <p:sp>
        <p:nvSpPr>
          <p:cNvPr id="18" name="Text 16"/>
          <p:cNvSpPr txBox="1"/>
          <p:nvPr/>
        </p:nvSpPr>
        <p:spPr>
          <a:xfrm>
            <a:off x="886968" y="4206240"/>
            <a:ext cx="5394960" cy="256032"/>
          </a:xfrm>
          <a:prstGeom prst="rect">
            <a:avLst/>
          </a:prstGeom>
          <a:noFill/>
          <a:ln/>
        </p:spPr>
        <p:txBody>
          <a:bodyPr wrap="square" lIns="0" tIns="0" rIns="0" bIns="0" rtlCol="0" anchor="ctr"/>
          <a:lstStyle/>
          <a:p>
            <a:pPr indent="0" marL="0">
              <a:buNone/>
            </a:pPr>
            <a:r>
              <a:rPr lang="en-US" sz="1000" dirty="0">
                <a:solidFill>
                  <a:srgbClr val="7E8798"/>
                </a:solidFill>
                <a:latin typeface="Nirmala UI" pitchFamily="34" charset="0"/>
                <a:ea typeface="Nirmala UI" pitchFamily="34" charset="-122"/>
                <a:cs typeface="Nirmala UI" pitchFamily="34" charset="-120"/>
              </a:rPr>
              <a:t>যত খুশি। Android, iOS আর ওয়েব — তিনটাই।</a:t>
            </a:r>
            <a:endParaRPr lang="en-US" sz="1000" dirty="0"/>
          </a:p>
        </p:txBody>
      </p:sp>
      <p:sp>
        <p:nvSpPr>
          <p:cNvPr id="19" name="Text 17"/>
          <p:cNvSpPr txBox="1"/>
          <p:nvPr/>
        </p:nvSpPr>
        <p:spPr>
          <a:xfrm>
            <a:off x="6949440" y="1691640"/>
            <a:ext cx="4572000" cy="329184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মেসেজ আনলিমিটেড, দাম শূন্য — per-message চার্জ নেই</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তোমার আসল খরচ — একটা VPS আর একটা Redis</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তিন প্ল্যাটফর্ম, এক API — android, apns, webpush</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ডেলিভারি গুগলের দায়িত্ব — ফোন অফলাইনে থাকলে ধরে রাখে</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শর্ত একটাই — প্রতি কলে ৫০০ টোকেন</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04</a:t>
            </a:r>
            <a:endParaRPr lang="en-US" sz="1000" dirty="0"/>
          </a:p>
        </p:txBody>
      </p:sp>
      <p:sp>
        <p:nvSpPr>
          <p:cNvPr id="3" name="Text 1"/>
          <p:cNvSpPr txBox="1"/>
          <p:nvPr/>
        </p:nvSpPr>
        <p:spPr>
          <a:xfrm>
            <a:off x="10088575" y="274320"/>
            <a:ext cx="187452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PUSH PIPELINE</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আর্কিটেকচার</a:t>
            </a:r>
            <a:endParaRPr lang="en-US" sz="1000" dirty="0"/>
          </a:p>
        </p:txBody>
      </p:sp>
      <p:sp>
        <p:nvSpPr>
          <p:cNvPr id="6" name="Text 4"/>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000" b="1" dirty="0">
                <a:solidFill>
                  <a:srgbClr val="E9EDF6"/>
                </a:solidFill>
                <a:latin typeface="Nirmala UI" pitchFamily="34" charset="0"/>
                <a:ea typeface="Nirmala UI" pitchFamily="34" charset="-122"/>
                <a:cs typeface="Nirmala UI" pitchFamily="34" charset="-120"/>
              </a:rPr>
              <a:t>পুরো পাইপলাইন — এক নজরে</a:t>
            </a:r>
            <a:endParaRPr lang="en-US" sz="3000" dirty="0"/>
          </a:p>
        </p:txBody>
      </p:sp>
      <p:sp>
        <p:nvSpPr>
          <p:cNvPr id="7" name="Shape 5"/>
          <p:cNvSpPr/>
          <p:nvPr/>
        </p:nvSpPr>
        <p:spPr>
          <a:xfrm>
            <a:off x="658368" y="1828800"/>
            <a:ext cx="1572768" cy="1691640"/>
          </a:xfrm>
          <a:prstGeom prst="roundRect">
            <a:avLst>
              <a:gd name="adj" fmla="val 3488"/>
            </a:avLst>
          </a:prstGeom>
          <a:solidFill>
            <a:srgbClr val="161B28"/>
          </a:solidFill>
          <a:ln w="12700">
            <a:solidFill>
              <a:srgbClr val="28303F"/>
            </a:solidFill>
            <a:prstDash val="solid"/>
          </a:ln>
        </p:spPr>
      </p:sp>
      <p:sp>
        <p:nvSpPr>
          <p:cNvPr id="8" name="Text 6"/>
          <p:cNvSpPr txBox="1"/>
          <p:nvPr/>
        </p:nvSpPr>
        <p:spPr>
          <a:xfrm>
            <a:off x="822960" y="1975104"/>
            <a:ext cx="1243584" cy="201168"/>
          </a:xfrm>
          <a:prstGeom prst="rect">
            <a:avLst/>
          </a:prstGeom>
          <a:noFill/>
          <a:ln/>
        </p:spPr>
        <p:txBody>
          <a:bodyPr wrap="square" lIns="0" tIns="0" rIns="0" bIns="0" rtlCol="0" anchor="ctr"/>
          <a:lstStyle/>
          <a:p>
            <a:pPr indent="0" marL="0">
              <a:buNone/>
            </a:pPr>
            <a:r>
              <a:rPr lang="en-US" sz="900" spc="150" kern="0" dirty="0">
                <a:solidFill>
                  <a:srgbClr val="7E8798"/>
                </a:solidFill>
                <a:latin typeface="Consolas" pitchFamily="34" charset="0"/>
                <a:ea typeface="Consolas" pitchFamily="34" charset="-122"/>
                <a:cs typeface="Consolas" pitchFamily="34" charset="-120"/>
              </a:rPr>
              <a:t>SOURCE</a:t>
            </a:r>
            <a:endParaRPr lang="en-US" sz="900" dirty="0"/>
          </a:p>
        </p:txBody>
      </p:sp>
      <p:sp>
        <p:nvSpPr>
          <p:cNvPr id="9" name="Text 7"/>
          <p:cNvSpPr txBox="1"/>
          <p:nvPr/>
        </p:nvSpPr>
        <p:spPr>
          <a:xfrm>
            <a:off x="822960" y="2212848"/>
            <a:ext cx="1243584" cy="566928"/>
          </a:xfrm>
          <a:prstGeom prst="rect">
            <a:avLst/>
          </a:prstGeom>
          <a:noFill/>
          <a:ln/>
        </p:spPr>
        <p:txBody>
          <a:bodyPr wrap="square" lIns="0" tIns="0" rIns="0" bIns="0" rtlCol="0" anchor="t"/>
          <a:lstStyle/>
          <a:p>
            <a:pPr indent="0" marL="0">
              <a:buNone/>
            </a:pPr>
            <a:r>
              <a:rPr lang="en-US" sz="1150" b="1" dirty="0">
                <a:solidFill>
                  <a:srgbClr val="E9EDF6"/>
                </a:solidFill>
                <a:latin typeface="Nirmala UI" pitchFamily="34" charset="0"/>
                <a:ea typeface="Nirmala UI" pitchFamily="34" charset="-122"/>
                <a:cs typeface="Nirmala UI" pitchFamily="34" charset="-120"/>
              </a:rPr>
              <a:t>অ্যাডমিন প্যানেল</a:t>
            </a:r>
            <a:endParaRPr lang="en-US" sz="1150" dirty="0"/>
          </a:p>
        </p:txBody>
      </p:sp>
      <p:sp>
        <p:nvSpPr>
          <p:cNvPr id="10" name="Text 8"/>
          <p:cNvSpPr txBox="1"/>
          <p:nvPr/>
        </p:nvSpPr>
        <p:spPr>
          <a:xfrm>
            <a:off x="822960" y="2779776"/>
            <a:ext cx="1243584" cy="566928"/>
          </a:xfrm>
          <a:prstGeom prst="rect">
            <a:avLst/>
          </a:prstGeom>
          <a:noFill/>
          <a:ln/>
        </p:spPr>
        <p:txBody>
          <a:bodyPr wrap="square" lIns="0" tIns="0" rIns="0" bIns="0" rtlCol="0" anchor="t"/>
          <a:lstStyle/>
          <a:p>
            <a:pPr indent="0" marL="0">
              <a:buNone/>
            </a:pPr>
            <a:r>
              <a:rPr lang="en-US" sz="1050" dirty="0">
                <a:solidFill>
                  <a:srgbClr val="B4BCCE"/>
                </a:solidFill>
                <a:latin typeface="Nirmala UI" pitchFamily="34" charset="0"/>
                <a:ea typeface="Nirmala UI" pitchFamily="34" charset="-122"/>
                <a:cs typeface="Nirmala UI" pitchFamily="34" charset="-120"/>
              </a:rPr>
              <a:t>অথবা লাইভ ক্লাস ইভেন্ট</a:t>
            </a:r>
            <a:endParaRPr lang="en-US" sz="1050" dirty="0"/>
          </a:p>
        </p:txBody>
      </p:sp>
      <p:sp>
        <p:nvSpPr>
          <p:cNvPr id="11" name="Shape 9"/>
          <p:cNvSpPr/>
          <p:nvPr/>
        </p:nvSpPr>
        <p:spPr>
          <a:xfrm>
            <a:off x="2267712" y="2606040"/>
            <a:ext cx="274320" cy="146304"/>
          </a:xfrm>
          <a:prstGeom prst="rightArrow">
            <a:avLst/>
          </a:prstGeom>
          <a:solidFill>
            <a:srgbClr val="F5A63C"/>
          </a:solidFill>
          <a:ln w="12700">
            <a:solidFill>
              <a:srgbClr val="F5A63C"/>
            </a:solidFill>
            <a:prstDash val="solid"/>
          </a:ln>
        </p:spPr>
      </p:sp>
      <p:sp>
        <p:nvSpPr>
          <p:cNvPr id="12" name="Shape 10"/>
          <p:cNvSpPr/>
          <p:nvPr/>
        </p:nvSpPr>
        <p:spPr>
          <a:xfrm>
            <a:off x="2578608" y="1828800"/>
            <a:ext cx="1572768" cy="1691640"/>
          </a:xfrm>
          <a:prstGeom prst="roundRect">
            <a:avLst>
              <a:gd name="adj" fmla="val 3488"/>
            </a:avLst>
          </a:prstGeom>
          <a:solidFill>
            <a:srgbClr val="161B28"/>
          </a:solidFill>
          <a:ln w="12700">
            <a:solidFill>
              <a:srgbClr val="8A5F22"/>
            </a:solidFill>
            <a:prstDash val="solid"/>
          </a:ln>
        </p:spPr>
      </p:sp>
      <p:sp>
        <p:nvSpPr>
          <p:cNvPr id="13" name="Text 11"/>
          <p:cNvSpPr txBox="1"/>
          <p:nvPr/>
        </p:nvSpPr>
        <p:spPr>
          <a:xfrm>
            <a:off x="2743200" y="1975104"/>
            <a:ext cx="1243584" cy="201168"/>
          </a:xfrm>
          <a:prstGeom prst="rect">
            <a:avLst/>
          </a:prstGeom>
          <a:noFill/>
          <a:ln/>
        </p:spPr>
        <p:txBody>
          <a:bodyPr wrap="square" lIns="0" tIns="0" rIns="0" bIns="0" rtlCol="0" anchor="ctr"/>
          <a:lstStyle/>
          <a:p>
            <a:pPr indent="0" marL="0">
              <a:buNone/>
            </a:pPr>
            <a:r>
              <a:rPr lang="en-US" sz="900" spc="150" kern="0" dirty="0">
                <a:solidFill>
                  <a:srgbClr val="F5A63C"/>
                </a:solidFill>
                <a:latin typeface="Consolas" pitchFamily="34" charset="0"/>
                <a:ea typeface="Consolas" pitchFamily="34" charset="-122"/>
                <a:cs typeface="Consolas" pitchFamily="34" charset="-120"/>
              </a:rPr>
              <a:t>API · ৬ INSTANCE</a:t>
            </a:r>
            <a:endParaRPr lang="en-US" sz="900" dirty="0"/>
          </a:p>
        </p:txBody>
      </p:sp>
      <p:sp>
        <p:nvSpPr>
          <p:cNvPr id="14" name="Text 12"/>
          <p:cNvSpPr txBox="1"/>
          <p:nvPr/>
        </p:nvSpPr>
        <p:spPr>
          <a:xfrm>
            <a:off x="2743200" y="2212848"/>
            <a:ext cx="1243584" cy="566928"/>
          </a:xfrm>
          <a:prstGeom prst="rect">
            <a:avLst/>
          </a:prstGeom>
          <a:noFill/>
          <a:ln/>
        </p:spPr>
        <p:txBody>
          <a:bodyPr wrap="square" lIns="0" tIns="0" rIns="0" bIns="0" rtlCol="0" anchor="t"/>
          <a:lstStyle/>
          <a:p>
            <a:pPr indent="0" marL="0">
              <a:buNone/>
            </a:pPr>
            <a:r>
              <a:rPr lang="en-US" sz="1150" b="1" dirty="0">
                <a:solidFill>
                  <a:srgbClr val="E9EDF6"/>
                </a:solidFill>
                <a:latin typeface="Nirmala UI" pitchFamily="34" charset="0"/>
                <a:ea typeface="Nirmala UI" pitchFamily="34" charset="-122"/>
                <a:cs typeface="Nirmala UI" pitchFamily="34" charset="-120"/>
              </a:rPr>
              <a:t>Express + PM2</a:t>
            </a:r>
            <a:endParaRPr lang="en-US" sz="1150" dirty="0"/>
          </a:p>
        </p:txBody>
      </p:sp>
      <p:sp>
        <p:nvSpPr>
          <p:cNvPr id="15" name="Text 13"/>
          <p:cNvSpPr txBox="1"/>
          <p:nvPr/>
        </p:nvSpPr>
        <p:spPr>
          <a:xfrm>
            <a:off x="2743200" y="2779776"/>
            <a:ext cx="1243584" cy="566928"/>
          </a:xfrm>
          <a:prstGeom prst="rect">
            <a:avLst/>
          </a:prstGeom>
          <a:noFill/>
          <a:ln/>
        </p:spPr>
        <p:txBody>
          <a:bodyPr wrap="square" lIns="0" tIns="0" rIns="0" bIns="0" rtlCol="0" anchor="t"/>
          <a:lstStyle/>
          <a:p>
            <a:pPr indent="0" marL="0">
              <a:buNone/>
            </a:pPr>
            <a:r>
              <a:rPr lang="en-US" sz="1050" dirty="0">
                <a:solidFill>
                  <a:srgbClr val="B4BCCE"/>
                </a:solidFill>
                <a:latin typeface="Nirmala UI" pitchFamily="34" charset="0"/>
                <a:ea typeface="Nirmala UI" pitchFamily="34" charset="-122"/>
                <a:cs typeface="Nirmala UI" pitchFamily="34" charset="-120"/>
              </a:rPr>
              <a:t>শুধু জব ঢোকায়, পাঠায় না</a:t>
            </a:r>
            <a:endParaRPr lang="en-US" sz="1050" dirty="0"/>
          </a:p>
        </p:txBody>
      </p:sp>
      <p:sp>
        <p:nvSpPr>
          <p:cNvPr id="16" name="Shape 14"/>
          <p:cNvSpPr/>
          <p:nvPr/>
        </p:nvSpPr>
        <p:spPr>
          <a:xfrm>
            <a:off x="4187952" y="2606040"/>
            <a:ext cx="274320" cy="146304"/>
          </a:xfrm>
          <a:prstGeom prst="rightArrow">
            <a:avLst/>
          </a:prstGeom>
          <a:solidFill>
            <a:srgbClr val="F5A63C"/>
          </a:solidFill>
          <a:ln w="12700">
            <a:solidFill>
              <a:srgbClr val="F5A63C"/>
            </a:solidFill>
            <a:prstDash val="solid"/>
          </a:ln>
        </p:spPr>
      </p:sp>
      <p:sp>
        <p:nvSpPr>
          <p:cNvPr id="17" name="Shape 15"/>
          <p:cNvSpPr/>
          <p:nvPr/>
        </p:nvSpPr>
        <p:spPr>
          <a:xfrm>
            <a:off x="4498848" y="1828800"/>
            <a:ext cx="1572768" cy="1691640"/>
          </a:xfrm>
          <a:prstGeom prst="roundRect">
            <a:avLst>
              <a:gd name="adj" fmla="val 3488"/>
            </a:avLst>
          </a:prstGeom>
          <a:solidFill>
            <a:srgbClr val="161B28"/>
          </a:solidFill>
          <a:ln w="12700">
            <a:solidFill>
              <a:srgbClr val="1E6A66"/>
            </a:solidFill>
            <a:prstDash val="solid"/>
          </a:ln>
        </p:spPr>
      </p:sp>
      <p:sp>
        <p:nvSpPr>
          <p:cNvPr id="18" name="Text 16"/>
          <p:cNvSpPr txBox="1"/>
          <p:nvPr/>
        </p:nvSpPr>
        <p:spPr>
          <a:xfrm>
            <a:off x="4663440" y="1975104"/>
            <a:ext cx="1243584" cy="201168"/>
          </a:xfrm>
          <a:prstGeom prst="rect">
            <a:avLst/>
          </a:prstGeom>
          <a:noFill/>
          <a:ln/>
        </p:spPr>
        <p:txBody>
          <a:bodyPr wrap="square" lIns="0" tIns="0" rIns="0" bIns="0" rtlCol="0" anchor="ctr"/>
          <a:lstStyle/>
          <a:p>
            <a:pPr indent="0" marL="0">
              <a:buNone/>
            </a:pPr>
            <a:r>
              <a:rPr lang="en-US" sz="900" spc="150" kern="0" dirty="0">
                <a:solidFill>
                  <a:srgbClr val="3FC9C0"/>
                </a:solidFill>
                <a:latin typeface="Consolas" pitchFamily="34" charset="0"/>
                <a:ea typeface="Consolas" pitchFamily="34" charset="-122"/>
                <a:cs typeface="Consolas" pitchFamily="34" charset="-120"/>
              </a:rPr>
              <a:t>QUEUE · REDIS</a:t>
            </a:r>
            <a:endParaRPr lang="en-US" sz="900" dirty="0"/>
          </a:p>
        </p:txBody>
      </p:sp>
      <p:sp>
        <p:nvSpPr>
          <p:cNvPr id="19" name="Text 17"/>
          <p:cNvSpPr txBox="1"/>
          <p:nvPr/>
        </p:nvSpPr>
        <p:spPr>
          <a:xfrm>
            <a:off x="4663440" y="2212848"/>
            <a:ext cx="1243584" cy="566928"/>
          </a:xfrm>
          <a:prstGeom prst="rect">
            <a:avLst/>
          </a:prstGeom>
          <a:noFill/>
          <a:ln/>
        </p:spPr>
        <p:txBody>
          <a:bodyPr wrap="square" lIns="0" tIns="0" rIns="0" bIns="0" rtlCol="0" anchor="t"/>
          <a:lstStyle/>
          <a:p>
            <a:pPr indent="0" marL="0">
              <a:buNone/>
            </a:pPr>
            <a:r>
              <a:rPr lang="en-US" sz="1150" b="1" dirty="0">
                <a:solidFill>
                  <a:srgbClr val="E9EDF6"/>
                </a:solidFill>
                <a:latin typeface="Nirmala UI" pitchFamily="34" charset="0"/>
                <a:ea typeface="Nirmala UI" pitchFamily="34" charset="-122"/>
                <a:cs typeface="Nirmala UI" pitchFamily="34" charset="-120"/>
              </a:rPr>
              <a:t>BullMQ</a:t>
            </a:r>
            <a:endParaRPr lang="en-US" sz="1150" dirty="0"/>
          </a:p>
        </p:txBody>
      </p:sp>
      <p:sp>
        <p:nvSpPr>
          <p:cNvPr id="20" name="Text 18"/>
          <p:cNvSpPr txBox="1"/>
          <p:nvPr/>
        </p:nvSpPr>
        <p:spPr>
          <a:xfrm>
            <a:off x="4663440" y="2779776"/>
            <a:ext cx="1243584" cy="566928"/>
          </a:xfrm>
          <a:prstGeom prst="rect">
            <a:avLst/>
          </a:prstGeom>
          <a:noFill/>
          <a:ln/>
        </p:spPr>
        <p:txBody>
          <a:bodyPr wrap="square" lIns="0" tIns="0" rIns="0" bIns="0" rtlCol="0" anchor="t"/>
          <a:lstStyle/>
          <a:p>
            <a:pPr indent="0" marL="0">
              <a:buNone/>
            </a:pPr>
            <a:r>
              <a:rPr lang="en-US" sz="1050" dirty="0">
                <a:solidFill>
                  <a:srgbClr val="B4BCCE"/>
                </a:solidFill>
                <a:latin typeface="Nirmala UI" pitchFamily="34" charset="0"/>
                <a:ea typeface="Nirmala UI" pitchFamily="34" charset="-122"/>
                <a:cs typeface="Nirmala UI" pitchFamily="34" charset="-120"/>
              </a:rPr>
              <a:t>txQueue · campaignQueue</a:t>
            </a:r>
            <a:endParaRPr lang="en-US" sz="1050" dirty="0"/>
          </a:p>
        </p:txBody>
      </p:sp>
      <p:sp>
        <p:nvSpPr>
          <p:cNvPr id="21" name="Shape 19"/>
          <p:cNvSpPr/>
          <p:nvPr/>
        </p:nvSpPr>
        <p:spPr>
          <a:xfrm>
            <a:off x="6108192" y="2606040"/>
            <a:ext cx="274320" cy="146304"/>
          </a:xfrm>
          <a:prstGeom prst="rightArrow">
            <a:avLst/>
          </a:prstGeom>
          <a:solidFill>
            <a:srgbClr val="F5A63C"/>
          </a:solidFill>
          <a:ln w="12700">
            <a:solidFill>
              <a:srgbClr val="F5A63C"/>
            </a:solidFill>
            <a:prstDash val="solid"/>
          </a:ln>
        </p:spPr>
      </p:sp>
      <p:sp>
        <p:nvSpPr>
          <p:cNvPr id="22" name="Shape 20"/>
          <p:cNvSpPr/>
          <p:nvPr/>
        </p:nvSpPr>
        <p:spPr>
          <a:xfrm>
            <a:off x="6419088" y="1828800"/>
            <a:ext cx="1572768" cy="1691640"/>
          </a:xfrm>
          <a:prstGeom prst="roundRect">
            <a:avLst>
              <a:gd name="adj" fmla="val 3488"/>
            </a:avLst>
          </a:prstGeom>
          <a:solidFill>
            <a:srgbClr val="161B28"/>
          </a:solidFill>
          <a:ln w="12700">
            <a:solidFill>
              <a:srgbClr val="1E6A66"/>
            </a:solidFill>
            <a:prstDash val="solid"/>
          </a:ln>
        </p:spPr>
      </p:sp>
      <p:sp>
        <p:nvSpPr>
          <p:cNvPr id="23" name="Text 21"/>
          <p:cNvSpPr txBox="1"/>
          <p:nvPr/>
        </p:nvSpPr>
        <p:spPr>
          <a:xfrm>
            <a:off x="6583680" y="1975104"/>
            <a:ext cx="1243584" cy="201168"/>
          </a:xfrm>
          <a:prstGeom prst="rect">
            <a:avLst/>
          </a:prstGeom>
          <a:noFill/>
          <a:ln/>
        </p:spPr>
        <p:txBody>
          <a:bodyPr wrap="square" lIns="0" tIns="0" rIns="0" bIns="0" rtlCol="0" anchor="ctr"/>
          <a:lstStyle/>
          <a:p>
            <a:pPr indent="0" marL="0">
              <a:buNone/>
            </a:pPr>
            <a:r>
              <a:rPr lang="en-US" sz="900" spc="150" kern="0" dirty="0">
                <a:solidFill>
                  <a:srgbClr val="3FC9C0"/>
                </a:solidFill>
                <a:latin typeface="Consolas" pitchFamily="34" charset="0"/>
                <a:ea typeface="Consolas" pitchFamily="34" charset="-122"/>
                <a:cs typeface="Consolas" pitchFamily="34" charset="-120"/>
              </a:rPr>
              <a:t>WORKER</a:t>
            </a:r>
            <a:endParaRPr lang="en-US" sz="900" dirty="0"/>
          </a:p>
        </p:txBody>
      </p:sp>
      <p:sp>
        <p:nvSpPr>
          <p:cNvPr id="24" name="Text 22"/>
          <p:cNvSpPr txBox="1"/>
          <p:nvPr/>
        </p:nvSpPr>
        <p:spPr>
          <a:xfrm>
            <a:off x="6583680" y="2212848"/>
            <a:ext cx="1243584" cy="566928"/>
          </a:xfrm>
          <a:prstGeom prst="rect">
            <a:avLst/>
          </a:prstGeom>
          <a:noFill/>
          <a:ln/>
        </p:spPr>
        <p:txBody>
          <a:bodyPr wrap="square" lIns="0" tIns="0" rIns="0" bIns="0" rtlCol="0" anchor="t"/>
          <a:lstStyle/>
          <a:p>
            <a:pPr indent="0" marL="0">
              <a:buNone/>
            </a:pPr>
            <a:r>
              <a:rPr lang="en-US" sz="1150" b="1" dirty="0">
                <a:solidFill>
                  <a:srgbClr val="E9EDF6"/>
                </a:solidFill>
                <a:latin typeface="Nirmala UI" pitchFamily="34" charset="0"/>
                <a:ea typeface="Nirmala UI" pitchFamily="34" charset="-122"/>
                <a:cs typeface="Nirmala UI" pitchFamily="34" charset="-120"/>
              </a:rPr>
              <a:t>concurrency ৩০</a:t>
            </a:r>
            <a:endParaRPr lang="en-US" sz="1150" dirty="0"/>
          </a:p>
        </p:txBody>
      </p:sp>
      <p:sp>
        <p:nvSpPr>
          <p:cNvPr id="25" name="Text 23"/>
          <p:cNvSpPr txBox="1"/>
          <p:nvPr/>
        </p:nvSpPr>
        <p:spPr>
          <a:xfrm>
            <a:off x="6583680" y="2779776"/>
            <a:ext cx="1243584" cy="566928"/>
          </a:xfrm>
          <a:prstGeom prst="rect">
            <a:avLst/>
          </a:prstGeom>
          <a:noFill/>
          <a:ln/>
        </p:spPr>
        <p:txBody>
          <a:bodyPr wrap="square" lIns="0" tIns="0" rIns="0" bIns="0" rtlCol="0" anchor="t"/>
          <a:lstStyle/>
          <a:p>
            <a:pPr indent="0" marL="0">
              <a:buNone/>
            </a:pPr>
            <a:r>
              <a:rPr lang="en-US" sz="1050" dirty="0">
                <a:solidFill>
                  <a:srgbClr val="B4BCCE"/>
                </a:solidFill>
                <a:latin typeface="Nirmala UI" pitchFamily="34" charset="0"/>
                <a:ea typeface="Nirmala UI" pitchFamily="34" charset="-122"/>
                <a:cs typeface="Nirmala UI" pitchFamily="34" charset="-120"/>
              </a:rPr>
              <a:t>পেজিনেশন · ব্যাচ · থ্রটল</a:t>
            </a:r>
            <a:endParaRPr lang="en-US" sz="1050" dirty="0"/>
          </a:p>
        </p:txBody>
      </p:sp>
      <p:sp>
        <p:nvSpPr>
          <p:cNvPr id="26" name="Shape 24"/>
          <p:cNvSpPr/>
          <p:nvPr/>
        </p:nvSpPr>
        <p:spPr>
          <a:xfrm>
            <a:off x="8028432" y="2606040"/>
            <a:ext cx="274320" cy="146304"/>
          </a:xfrm>
          <a:prstGeom prst="rightArrow">
            <a:avLst/>
          </a:prstGeom>
          <a:solidFill>
            <a:srgbClr val="F5A63C"/>
          </a:solidFill>
          <a:ln w="12700">
            <a:solidFill>
              <a:srgbClr val="F5A63C"/>
            </a:solidFill>
            <a:prstDash val="solid"/>
          </a:ln>
        </p:spPr>
      </p:sp>
      <p:sp>
        <p:nvSpPr>
          <p:cNvPr id="27" name="Shape 25"/>
          <p:cNvSpPr/>
          <p:nvPr/>
        </p:nvSpPr>
        <p:spPr>
          <a:xfrm>
            <a:off x="8339328" y="1828800"/>
            <a:ext cx="1572768" cy="1691640"/>
          </a:xfrm>
          <a:prstGeom prst="roundRect">
            <a:avLst>
              <a:gd name="adj" fmla="val 3488"/>
            </a:avLst>
          </a:prstGeom>
          <a:solidFill>
            <a:srgbClr val="161B28"/>
          </a:solidFill>
          <a:ln w="12700">
            <a:solidFill>
              <a:srgbClr val="28303F"/>
            </a:solidFill>
            <a:prstDash val="solid"/>
          </a:ln>
        </p:spPr>
      </p:sp>
      <p:sp>
        <p:nvSpPr>
          <p:cNvPr id="28" name="Text 26"/>
          <p:cNvSpPr txBox="1"/>
          <p:nvPr/>
        </p:nvSpPr>
        <p:spPr>
          <a:xfrm>
            <a:off x="8503920" y="1975104"/>
            <a:ext cx="1243584" cy="201168"/>
          </a:xfrm>
          <a:prstGeom prst="rect">
            <a:avLst/>
          </a:prstGeom>
          <a:noFill/>
          <a:ln/>
        </p:spPr>
        <p:txBody>
          <a:bodyPr wrap="square" lIns="0" tIns="0" rIns="0" bIns="0" rtlCol="0" anchor="ctr"/>
          <a:lstStyle/>
          <a:p>
            <a:pPr indent="0" marL="0">
              <a:buNone/>
            </a:pPr>
            <a:r>
              <a:rPr lang="en-US" sz="900" spc="150" kern="0" dirty="0">
                <a:solidFill>
                  <a:srgbClr val="7E8798"/>
                </a:solidFill>
                <a:latin typeface="Consolas" pitchFamily="34" charset="0"/>
                <a:ea typeface="Consolas" pitchFamily="34" charset="-122"/>
                <a:cs typeface="Consolas" pitchFamily="34" charset="-120"/>
              </a:rPr>
              <a:t>GOOGLE</a:t>
            </a:r>
            <a:endParaRPr lang="en-US" sz="900" dirty="0"/>
          </a:p>
        </p:txBody>
      </p:sp>
      <p:sp>
        <p:nvSpPr>
          <p:cNvPr id="29" name="Text 27"/>
          <p:cNvSpPr txBox="1"/>
          <p:nvPr/>
        </p:nvSpPr>
        <p:spPr>
          <a:xfrm>
            <a:off x="8503920" y="2212848"/>
            <a:ext cx="1243584" cy="566928"/>
          </a:xfrm>
          <a:prstGeom prst="rect">
            <a:avLst/>
          </a:prstGeom>
          <a:noFill/>
          <a:ln/>
        </p:spPr>
        <p:txBody>
          <a:bodyPr wrap="square" lIns="0" tIns="0" rIns="0" bIns="0" rtlCol="0" anchor="t"/>
          <a:lstStyle/>
          <a:p>
            <a:pPr indent="0" marL="0">
              <a:buNone/>
            </a:pPr>
            <a:r>
              <a:rPr lang="en-US" sz="1150" b="1" dirty="0">
                <a:solidFill>
                  <a:srgbClr val="E9EDF6"/>
                </a:solidFill>
                <a:latin typeface="Nirmala UI" pitchFamily="34" charset="0"/>
                <a:ea typeface="Nirmala UI" pitchFamily="34" charset="-122"/>
                <a:cs typeface="Nirmala UI" pitchFamily="34" charset="-120"/>
              </a:rPr>
              <a:t>Firebase FCM</a:t>
            </a:r>
            <a:endParaRPr lang="en-US" sz="1150" dirty="0"/>
          </a:p>
        </p:txBody>
      </p:sp>
      <p:sp>
        <p:nvSpPr>
          <p:cNvPr id="30" name="Text 28"/>
          <p:cNvSpPr txBox="1"/>
          <p:nvPr/>
        </p:nvSpPr>
        <p:spPr>
          <a:xfrm>
            <a:off x="8503920" y="2779776"/>
            <a:ext cx="1243584" cy="566928"/>
          </a:xfrm>
          <a:prstGeom prst="rect">
            <a:avLst/>
          </a:prstGeom>
          <a:noFill/>
          <a:ln/>
        </p:spPr>
        <p:txBody>
          <a:bodyPr wrap="square" lIns="0" tIns="0" rIns="0" bIns="0" rtlCol="0" anchor="t"/>
          <a:lstStyle/>
          <a:p>
            <a:pPr indent="0" marL="0">
              <a:buNone/>
            </a:pPr>
            <a:r>
              <a:rPr lang="en-US" sz="1050" dirty="0">
                <a:solidFill>
                  <a:srgbClr val="B4BCCE"/>
                </a:solidFill>
                <a:latin typeface="Nirmala UI" pitchFamily="34" charset="0"/>
                <a:ea typeface="Nirmala UI" pitchFamily="34" charset="-122"/>
                <a:cs typeface="Nirmala UI" pitchFamily="34" charset="-120"/>
              </a:rPr>
              <a:t>৫০০ টোকেন / কল</a:t>
            </a:r>
            <a:endParaRPr lang="en-US" sz="1050" dirty="0"/>
          </a:p>
        </p:txBody>
      </p:sp>
      <p:sp>
        <p:nvSpPr>
          <p:cNvPr id="31" name="Shape 29"/>
          <p:cNvSpPr/>
          <p:nvPr/>
        </p:nvSpPr>
        <p:spPr>
          <a:xfrm>
            <a:off x="9948672" y="2606040"/>
            <a:ext cx="274320" cy="146304"/>
          </a:xfrm>
          <a:prstGeom prst="rightArrow">
            <a:avLst/>
          </a:prstGeom>
          <a:solidFill>
            <a:srgbClr val="F5A63C"/>
          </a:solidFill>
          <a:ln w="12700">
            <a:solidFill>
              <a:srgbClr val="F5A63C"/>
            </a:solidFill>
            <a:prstDash val="solid"/>
          </a:ln>
        </p:spPr>
      </p:sp>
      <p:sp>
        <p:nvSpPr>
          <p:cNvPr id="32" name="Shape 30"/>
          <p:cNvSpPr/>
          <p:nvPr/>
        </p:nvSpPr>
        <p:spPr>
          <a:xfrm>
            <a:off x="10259568" y="1828800"/>
            <a:ext cx="1572768" cy="1691640"/>
          </a:xfrm>
          <a:prstGeom prst="roundRect">
            <a:avLst>
              <a:gd name="adj" fmla="val 3488"/>
            </a:avLst>
          </a:prstGeom>
          <a:solidFill>
            <a:srgbClr val="161B28"/>
          </a:solidFill>
          <a:ln w="12700">
            <a:solidFill>
              <a:srgbClr val="28303F"/>
            </a:solidFill>
            <a:prstDash val="solid"/>
          </a:ln>
        </p:spPr>
      </p:sp>
      <p:sp>
        <p:nvSpPr>
          <p:cNvPr id="33" name="Text 31"/>
          <p:cNvSpPr txBox="1"/>
          <p:nvPr/>
        </p:nvSpPr>
        <p:spPr>
          <a:xfrm>
            <a:off x="10424160" y="1975104"/>
            <a:ext cx="1243584" cy="201168"/>
          </a:xfrm>
          <a:prstGeom prst="rect">
            <a:avLst/>
          </a:prstGeom>
          <a:noFill/>
          <a:ln/>
        </p:spPr>
        <p:txBody>
          <a:bodyPr wrap="square" lIns="0" tIns="0" rIns="0" bIns="0" rtlCol="0" anchor="ctr"/>
          <a:lstStyle/>
          <a:p>
            <a:pPr indent="0" marL="0">
              <a:buNone/>
            </a:pPr>
            <a:r>
              <a:rPr lang="en-US" sz="900" spc="150" kern="0" dirty="0">
                <a:solidFill>
                  <a:srgbClr val="7E8798"/>
                </a:solidFill>
                <a:latin typeface="Consolas" pitchFamily="34" charset="0"/>
                <a:ea typeface="Consolas" pitchFamily="34" charset="-122"/>
                <a:cs typeface="Consolas" pitchFamily="34" charset="-120"/>
              </a:rPr>
              <a:t>DEVICES</a:t>
            </a:r>
            <a:endParaRPr lang="en-US" sz="900" dirty="0"/>
          </a:p>
        </p:txBody>
      </p:sp>
      <p:sp>
        <p:nvSpPr>
          <p:cNvPr id="34" name="Text 32"/>
          <p:cNvSpPr txBox="1"/>
          <p:nvPr/>
        </p:nvSpPr>
        <p:spPr>
          <a:xfrm>
            <a:off x="10424160" y="2212848"/>
            <a:ext cx="1243584" cy="566928"/>
          </a:xfrm>
          <a:prstGeom prst="rect">
            <a:avLst/>
          </a:prstGeom>
          <a:noFill/>
          <a:ln/>
        </p:spPr>
        <p:txBody>
          <a:bodyPr wrap="square" lIns="0" tIns="0" rIns="0" bIns="0" rtlCol="0" anchor="t"/>
          <a:lstStyle/>
          <a:p>
            <a:pPr indent="0" marL="0">
              <a:buNone/>
            </a:pPr>
            <a:r>
              <a:rPr lang="en-US" sz="1150" b="1" dirty="0">
                <a:solidFill>
                  <a:srgbClr val="E9EDF6"/>
                </a:solidFill>
                <a:latin typeface="Nirmala UI" pitchFamily="34" charset="0"/>
                <a:ea typeface="Nirmala UI" pitchFamily="34" charset="-122"/>
                <a:cs typeface="Nirmala UI" pitchFamily="34" charset="-120"/>
              </a:rPr>
              <a:t>৫ লাখ ফোন</a:t>
            </a:r>
            <a:endParaRPr lang="en-US" sz="1150" dirty="0"/>
          </a:p>
        </p:txBody>
      </p:sp>
      <p:sp>
        <p:nvSpPr>
          <p:cNvPr id="35" name="Text 33"/>
          <p:cNvSpPr txBox="1"/>
          <p:nvPr/>
        </p:nvSpPr>
        <p:spPr>
          <a:xfrm>
            <a:off x="10424160" y="2779776"/>
            <a:ext cx="1243584" cy="566928"/>
          </a:xfrm>
          <a:prstGeom prst="rect">
            <a:avLst/>
          </a:prstGeom>
          <a:noFill/>
          <a:ln/>
        </p:spPr>
        <p:txBody>
          <a:bodyPr wrap="square" lIns="0" tIns="0" rIns="0" bIns="0" rtlCol="0" anchor="t"/>
          <a:lstStyle/>
          <a:p>
            <a:pPr indent="0" marL="0">
              <a:buNone/>
            </a:pPr>
            <a:r>
              <a:rPr lang="en-US" sz="1050" dirty="0">
                <a:solidFill>
                  <a:srgbClr val="B4BCCE"/>
                </a:solidFill>
                <a:latin typeface="Nirmala UI" pitchFamily="34" charset="0"/>
                <a:ea typeface="Nirmala UI" pitchFamily="34" charset="-122"/>
                <a:cs typeface="Nirmala UI" pitchFamily="34" charset="-120"/>
              </a:rPr>
              <a:t>Android · iOS · Web</a:t>
            </a:r>
            <a:endParaRPr lang="en-US" sz="1050" dirty="0"/>
          </a:p>
        </p:txBody>
      </p:sp>
      <p:sp>
        <p:nvSpPr>
          <p:cNvPr id="36" name="Shape 34"/>
          <p:cNvSpPr/>
          <p:nvPr/>
        </p:nvSpPr>
        <p:spPr>
          <a:xfrm>
            <a:off x="658368" y="3977640"/>
            <a:ext cx="5486400" cy="1325880"/>
          </a:xfrm>
          <a:prstGeom prst="roundRect">
            <a:avLst>
              <a:gd name="adj" fmla="val 4138"/>
            </a:avLst>
          </a:prstGeom>
          <a:solidFill>
            <a:srgbClr val="161B28"/>
          </a:solidFill>
          <a:ln w="12700">
            <a:solidFill>
              <a:srgbClr val="4A3F86"/>
            </a:solidFill>
            <a:prstDash val="solid"/>
          </a:ln>
        </p:spPr>
      </p:sp>
      <p:sp>
        <p:nvSpPr>
          <p:cNvPr id="37" name="Text 35"/>
          <p:cNvSpPr txBox="1"/>
          <p:nvPr/>
        </p:nvSpPr>
        <p:spPr>
          <a:xfrm>
            <a:off x="822960" y="4123944"/>
            <a:ext cx="5157216" cy="201168"/>
          </a:xfrm>
          <a:prstGeom prst="rect">
            <a:avLst/>
          </a:prstGeom>
          <a:noFill/>
          <a:ln/>
        </p:spPr>
        <p:txBody>
          <a:bodyPr wrap="square" lIns="0" tIns="0" rIns="0" bIns="0" rtlCol="0" anchor="ctr"/>
          <a:lstStyle/>
          <a:p>
            <a:pPr indent="0" marL="0">
              <a:buNone/>
            </a:pPr>
            <a:r>
              <a:rPr lang="en-US" sz="900" spc="150" kern="0" dirty="0">
                <a:solidFill>
                  <a:srgbClr val="9A8CF0"/>
                </a:solidFill>
                <a:latin typeface="Consolas" pitchFamily="34" charset="0"/>
                <a:ea typeface="Consolas" pitchFamily="34" charset="-122"/>
                <a:cs typeface="Consolas" pitchFamily="34" charset="-120"/>
              </a:rPr>
              <a:t>POSTGRESQL</a:t>
            </a:r>
            <a:endParaRPr lang="en-US" sz="900" dirty="0"/>
          </a:p>
        </p:txBody>
      </p:sp>
      <p:sp>
        <p:nvSpPr>
          <p:cNvPr id="38" name="Text 36"/>
          <p:cNvSpPr txBox="1"/>
          <p:nvPr/>
        </p:nvSpPr>
        <p:spPr>
          <a:xfrm>
            <a:off x="822960" y="4361688"/>
            <a:ext cx="5157216" cy="475488"/>
          </a:xfrm>
          <a:prstGeom prst="rect">
            <a:avLst/>
          </a:prstGeom>
          <a:noFill/>
          <a:ln/>
        </p:spPr>
        <p:txBody>
          <a:bodyPr wrap="square" lIns="0" tIns="0" rIns="0" bIns="0" rtlCol="0" anchor="t"/>
          <a:lstStyle/>
          <a:p>
            <a:pPr indent="0" marL="0">
              <a:buNone/>
            </a:pPr>
            <a:r>
              <a:rPr lang="en-US" sz="1150" b="1" dirty="0">
                <a:solidFill>
                  <a:srgbClr val="E9EDF6"/>
                </a:solidFill>
                <a:latin typeface="Nirmala UI" pitchFamily="34" charset="0"/>
                <a:ea typeface="Nirmala UI" pitchFamily="34" charset="-122"/>
                <a:cs typeface="Nirmala UI" pitchFamily="34" charset="-120"/>
              </a:rPr>
              <a:t>notificationLogs · pushNotifications · notificationUserStatus</a:t>
            </a:r>
            <a:endParaRPr lang="en-US" sz="1150" dirty="0"/>
          </a:p>
        </p:txBody>
      </p:sp>
      <p:sp>
        <p:nvSpPr>
          <p:cNvPr id="39" name="Text 37"/>
          <p:cNvSpPr txBox="1"/>
          <p:nvPr/>
        </p:nvSpPr>
        <p:spPr>
          <a:xfrm>
            <a:off x="822960" y="4837176"/>
            <a:ext cx="5157216" cy="365760"/>
          </a:xfrm>
          <a:prstGeom prst="rect">
            <a:avLst/>
          </a:prstGeom>
          <a:noFill/>
          <a:ln/>
        </p:spPr>
        <p:txBody>
          <a:bodyPr wrap="square" lIns="0" tIns="0" rIns="0" bIns="0" rtlCol="0" anchor="t"/>
          <a:lstStyle/>
          <a:p>
            <a:pPr indent="0" marL="0">
              <a:buNone/>
            </a:pPr>
            <a:r>
              <a:rPr lang="en-US" sz="1050" dirty="0">
                <a:solidFill>
                  <a:srgbClr val="B4BCCE"/>
                </a:solidFill>
                <a:latin typeface="Nirmala UI" pitchFamily="34" charset="0"/>
                <a:ea typeface="Nirmala UI" pitchFamily="34" charset="-122"/>
                <a:cs typeface="Nirmala UI" pitchFamily="34" charset="-120"/>
              </a:rPr>
              <a:t>কী পাঠানো হলো, কে পেল, কে দেখল — সবই এখানে</a:t>
            </a:r>
            <a:endParaRPr lang="en-US" sz="1050" dirty="0"/>
          </a:p>
        </p:txBody>
      </p:sp>
      <p:sp>
        <p:nvSpPr>
          <p:cNvPr id="40" name="Shape 38"/>
          <p:cNvSpPr/>
          <p:nvPr/>
        </p:nvSpPr>
        <p:spPr>
          <a:xfrm>
            <a:off x="6510528" y="3977640"/>
            <a:ext cx="5029200" cy="1325880"/>
          </a:xfrm>
          <a:prstGeom prst="roundRect">
            <a:avLst>
              <a:gd name="adj" fmla="val 4138"/>
            </a:avLst>
          </a:prstGeom>
          <a:solidFill>
            <a:srgbClr val="161B28"/>
          </a:solidFill>
          <a:ln w="12700">
            <a:solidFill>
              <a:srgbClr val="1E6A66"/>
            </a:solidFill>
            <a:prstDash val="solid"/>
          </a:ln>
        </p:spPr>
      </p:sp>
      <p:sp>
        <p:nvSpPr>
          <p:cNvPr id="41" name="Text 39"/>
          <p:cNvSpPr txBox="1"/>
          <p:nvPr/>
        </p:nvSpPr>
        <p:spPr>
          <a:xfrm>
            <a:off x="6675120" y="4123944"/>
            <a:ext cx="4700016" cy="201168"/>
          </a:xfrm>
          <a:prstGeom prst="rect">
            <a:avLst/>
          </a:prstGeom>
          <a:noFill/>
          <a:ln/>
        </p:spPr>
        <p:txBody>
          <a:bodyPr wrap="square" lIns="0" tIns="0" rIns="0" bIns="0" rtlCol="0" anchor="ctr"/>
          <a:lstStyle/>
          <a:p>
            <a:pPr indent="0" marL="0">
              <a:buNone/>
            </a:pPr>
            <a:r>
              <a:rPr lang="en-US" sz="900" spc="150" kern="0" dirty="0">
                <a:solidFill>
                  <a:srgbClr val="3FC9C0"/>
                </a:solidFill>
                <a:latin typeface="Consolas" pitchFamily="34" charset="0"/>
                <a:ea typeface="Consolas" pitchFamily="34" charset="-122"/>
                <a:cs typeface="Consolas" pitchFamily="34" charset="-120"/>
              </a:rPr>
              <a:t>REDIS CACHE</a:t>
            </a:r>
            <a:endParaRPr lang="en-US" sz="900" dirty="0"/>
          </a:p>
        </p:txBody>
      </p:sp>
      <p:sp>
        <p:nvSpPr>
          <p:cNvPr id="42" name="Text 40"/>
          <p:cNvSpPr txBox="1"/>
          <p:nvPr/>
        </p:nvSpPr>
        <p:spPr>
          <a:xfrm>
            <a:off x="6675120" y="4361688"/>
            <a:ext cx="4700016" cy="475488"/>
          </a:xfrm>
          <a:prstGeom prst="rect">
            <a:avLst/>
          </a:prstGeom>
          <a:noFill/>
          <a:ln/>
        </p:spPr>
        <p:txBody>
          <a:bodyPr wrap="square" lIns="0" tIns="0" rIns="0" bIns="0" rtlCol="0" anchor="t"/>
          <a:lstStyle/>
          <a:p>
            <a:pPr indent="0" marL="0">
              <a:buNone/>
            </a:pPr>
            <a:r>
              <a:rPr lang="en-US" sz="1150" b="1" dirty="0">
                <a:solidFill>
                  <a:srgbClr val="E9EDF6"/>
                </a:solidFill>
                <a:latin typeface="Nirmala UI" pitchFamily="34" charset="0"/>
                <a:ea typeface="Nirmala UI" pitchFamily="34" charset="-122"/>
                <a:cs typeface="Nirmala UI" pitchFamily="34" charset="-120"/>
              </a:rPr>
              <a:t>ইন-অ্যাপ ফিড · ভার্সন-ভিত্তিক ইনভ্যালিডেশন</a:t>
            </a:r>
            <a:endParaRPr lang="en-US" sz="1150" dirty="0"/>
          </a:p>
        </p:txBody>
      </p:sp>
      <p:sp>
        <p:nvSpPr>
          <p:cNvPr id="43" name="Text 41"/>
          <p:cNvSpPr txBox="1"/>
          <p:nvPr/>
        </p:nvSpPr>
        <p:spPr>
          <a:xfrm>
            <a:off x="6675120" y="4837176"/>
            <a:ext cx="4700016" cy="365760"/>
          </a:xfrm>
          <a:prstGeom prst="rect">
            <a:avLst/>
          </a:prstGeom>
          <a:noFill/>
          <a:ln/>
        </p:spPr>
        <p:txBody>
          <a:bodyPr wrap="square" lIns="0" tIns="0" rIns="0" bIns="0" rtlCol="0" anchor="t"/>
          <a:lstStyle/>
          <a:p>
            <a:pPr indent="0" marL="0">
              <a:buNone/>
            </a:pPr>
            <a:r>
              <a:rPr lang="en-US" sz="1050" dirty="0">
                <a:solidFill>
                  <a:srgbClr val="B4BCCE"/>
                </a:solidFill>
                <a:latin typeface="Nirmala UI" pitchFamily="34" charset="0"/>
                <a:ea typeface="Nirmala UI" pitchFamily="34" charset="-122"/>
                <a:cs typeface="Nirmala UI" pitchFamily="34" charset="-120"/>
              </a:rPr>
              <a:t>অ্যাপ খুললে লিস্টটা DB থেকে না, ক্যাশ থেকে আসে</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05</a:t>
            </a:r>
            <a:endParaRPr lang="en-US" sz="1000" dirty="0"/>
          </a:p>
        </p:txBody>
      </p:sp>
      <p:sp>
        <p:nvSpPr>
          <p:cNvPr id="3" name="Text 1"/>
          <p:cNvSpPr txBox="1"/>
          <p:nvPr/>
        </p:nvSpPr>
        <p:spPr>
          <a:xfrm>
            <a:off x="10088575" y="274320"/>
            <a:ext cx="187452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PUSH PIPELINE</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ধাপ ১</a:t>
            </a:r>
            <a:endParaRPr lang="en-US" sz="1000" dirty="0"/>
          </a:p>
        </p:txBody>
      </p:sp>
      <p:sp>
        <p:nvSpPr>
          <p:cNvPr id="6" name="Text 4"/>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000" b="1" dirty="0">
                <a:solidFill>
                  <a:srgbClr val="E9EDF6"/>
                </a:solidFill>
                <a:latin typeface="Nirmala UI" pitchFamily="34" charset="0"/>
                <a:ea typeface="Nirmala UI" pitchFamily="34" charset="-122"/>
                <a:cs typeface="Nirmala UI" pitchFamily="34" charset="-120"/>
              </a:rPr>
              <a:t>ডিভাইস রেজিস্ট্রেশন — টোকেন জমা</a:t>
            </a:r>
            <a:endParaRPr lang="en-US" sz="3000" dirty="0"/>
          </a:p>
        </p:txBody>
      </p:sp>
      <p:sp>
        <p:nvSpPr>
          <p:cNvPr id="7" name="Shape 5"/>
          <p:cNvSpPr/>
          <p:nvPr/>
        </p:nvSpPr>
        <p:spPr>
          <a:xfrm>
            <a:off x="658368" y="1645920"/>
            <a:ext cx="5577840" cy="2286000"/>
          </a:xfrm>
          <a:prstGeom prst="roundRect">
            <a:avLst>
              <a:gd name="adj" fmla="val 2400"/>
            </a:avLst>
          </a:prstGeom>
          <a:solidFill>
            <a:srgbClr val="090C13"/>
          </a:solidFill>
          <a:ln w="12700">
            <a:solidFill>
              <a:srgbClr val="28303F"/>
            </a:solidFill>
            <a:prstDash val="solid"/>
          </a:ln>
        </p:spPr>
      </p:sp>
      <p:sp>
        <p:nvSpPr>
          <p:cNvPr id="8" name="Shape 6"/>
          <p:cNvSpPr/>
          <p:nvPr/>
        </p:nvSpPr>
        <p:spPr>
          <a:xfrm>
            <a:off x="658368" y="1700784"/>
            <a:ext cx="32004" cy="2176272"/>
          </a:xfrm>
          <a:prstGeom prst="rect">
            <a:avLst/>
          </a:prstGeom>
          <a:solidFill>
            <a:srgbClr val="F5A63C"/>
          </a:solidFill>
          <a:ln/>
        </p:spPr>
      </p:sp>
      <p:sp>
        <p:nvSpPr>
          <p:cNvPr id="9" name="Text 7"/>
          <p:cNvSpPr txBox="1"/>
          <p:nvPr/>
        </p:nvSpPr>
        <p:spPr>
          <a:xfrm>
            <a:off x="859536" y="1792224"/>
            <a:ext cx="5212080" cy="1993392"/>
          </a:xfrm>
          <a:prstGeom prst="rect">
            <a:avLst/>
          </a:prstGeom>
          <a:noFill/>
          <a:ln/>
        </p:spPr>
        <p:txBody>
          <a:bodyPr wrap="square" lIns="0" tIns="0" rIns="0" bIns="0" rtlCol="0" anchor="t"/>
          <a:lstStyle/>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POST /push/register</a:t>
            </a:r>
            <a:endParaRPr lang="en-US" sz="1050" dirty="0"/>
          </a:p>
          <a:p>
            <a:pPr indent="0" marL="0">
              <a:lnSpc>
                <a:spcPts val="1628"/>
              </a:lnSpc>
              <a:buNone/>
            </a:pP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prisma.pushNotification.upsert({</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where:  { token },          // token @unique</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update: { studentId, platform, isValid: true,</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lastSeenAt: now },</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create: { token, studentId, adminId, userType,</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platform, isValid: true }</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a:t>
            </a:r>
            <a:endParaRPr lang="en-US" sz="1050" dirty="0"/>
          </a:p>
        </p:txBody>
      </p:sp>
      <p:sp>
        <p:nvSpPr>
          <p:cNvPr id="10" name="Shape 8"/>
          <p:cNvSpPr/>
          <p:nvPr/>
        </p:nvSpPr>
        <p:spPr>
          <a:xfrm>
            <a:off x="658368" y="4114800"/>
            <a:ext cx="5577840" cy="402336"/>
          </a:xfrm>
          <a:prstGeom prst="roundRect">
            <a:avLst>
              <a:gd name="adj" fmla="val 13636"/>
            </a:avLst>
          </a:prstGeom>
          <a:solidFill>
            <a:srgbClr val="161B28"/>
          </a:solidFill>
          <a:ln w="12700">
            <a:solidFill>
              <a:srgbClr val="28303F"/>
            </a:solidFill>
            <a:prstDash val="solid"/>
          </a:ln>
        </p:spPr>
      </p:sp>
      <p:sp>
        <p:nvSpPr>
          <p:cNvPr id="11" name="Shape 9"/>
          <p:cNvSpPr/>
          <p:nvPr/>
        </p:nvSpPr>
        <p:spPr>
          <a:xfrm>
            <a:off x="822960" y="4261104"/>
            <a:ext cx="109728" cy="109728"/>
          </a:xfrm>
          <a:prstGeom prst="ellipse">
            <a:avLst/>
          </a:prstGeom>
          <a:solidFill>
            <a:srgbClr val="7BD88F"/>
          </a:solidFill>
          <a:ln w="12700">
            <a:solidFill>
              <a:srgbClr val="333333"/>
            </a:solidFill>
            <a:prstDash val="solid"/>
          </a:ln>
        </p:spPr>
      </p:sp>
      <p:sp>
        <p:nvSpPr>
          <p:cNvPr id="12" name="Text 10"/>
          <p:cNvSpPr txBox="1"/>
          <p:nvPr/>
        </p:nvSpPr>
        <p:spPr>
          <a:xfrm>
            <a:off x="1042416" y="4206240"/>
            <a:ext cx="822960" cy="237744"/>
          </a:xfrm>
          <a:prstGeom prst="rect">
            <a:avLst/>
          </a:prstGeom>
          <a:noFill/>
          <a:ln/>
        </p:spPr>
        <p:txBody>
          <a:bodyPr wrap="square" lIns="0" tIns="0" rIns="0" bIns="0" rtlCol="0" anchor="ctr"/>
          <a:lstStyle/>
          <a:p>
            <a:pPr indent="0" marL="0">
              <a:buNone/>
            </a:pPr>
            <a:r>
              <a:rPr lang="en-US" sz="900" dirty="0">
                <a:solidFill>
                  <a:srgbClr val="3FC9C0"/>
                </a:solidFill>
                <a:latin typeface="Consolas" pitchFamily="34" charset="0"/>
                <a:ea typeface="Consolas" pitchFamily="34" charset="-122"/>
                <a:cs typeface="Consolas" pitchFamily="34" charset="-120"/>
              </a:rPr>
              <a:t>ANDROID</a:t>
            </a:r>
            <a:endParaRPr lang="en-US" sz="900" dirty="0"/>
          </a:p>
        </p:txBody>
      </p:sp>
      <p:sp>
        <p:nvSpPr>
          <p:cNvPr id="13" name="Text 11"/>
          <p:cNvSpPr txBox="1"/>
          <p:nvPr/>
        </p:nvSpPr>
        <p:spPr>
          <a:xfrm>
            <a:off x="1938528" y="4187952"/>
            <a:ext cx="4206240" cy="256032"/>
          </a:xfrm>
          <a:prstGeom prst="rect">
            <a:avLst/>
          </a:prstGeom>
          <a:noFill/>
          <a:ln/>
        </p:spPr>
        <p:txBody>
          <a:bodyPr wrap="square" lIns="0" tIns="0" rIns="0" bIns="0" rtlCol="0" anchor="ctr"/>
          <a:lstStyle/>
          <a:p>
            <a:pPr indent="0" marL="0">
              <a:buNone/>
            </a:pPr>
            <a:r>
              <a:rPr lang="en-US" sz="1100" dirty="0">
                <a:solidFill>
                  <a:srgbClr val="B4BCCE"/>
                </a:solidFill>
                <a:latin typeface="Nirmala UI" pitchFamily="34" charset="0"/>
                <a:ea typeface="Nirmala UI" pitchFamily="34" charset="-122"/>
                <a:cs typeface="Nirmala UI" pitchFamily="34" charset="-120"/>
              </a:rPr>
              <a:t>fT9x…8kQ2 → student · valid</a:t>
            </a:r>
            <a:endParaRPr lang="en-US" sz="1100" dirty="0"/>
          </a:p>
        </p:txBody>
      </p:sp>
      <p:sp>
        <p:nvSpPr>
          <p:cNvPr id="14" name="Shape 12"/>
          <p:cNvSpPr/>
          <p:nvPr/>
        </p:nvSpPr>
        <p:spPr>
          <a:xfrm>
            <a:off x="658368" y="4617720"/>
            <a:ext cx="5577840" cy="402336"/>
          </a:xfrm>
          <a:prstGeom prst="roundRect">
            <a:avLst>
              <a:gd name="adj" fmla="val 13636"/>
            </a:avLst>
          </a:prstGeom>
          <a:solidFill>
            <a:srgbClr val="161B28"/>
          </a:solidFill>
          <a:ln w="12700">
            <a:solidFill>
              <a:srgbClr val="28303F"/>
            </a:solidFill>
            <a:prstDash val="solid"/>
          </a:ln>
        </p:spPr>
      </p:sp>
      <p:sp>
        <p:nvSpPr>
          <p:cNvPr id="15" name="Shape 13"/>
          <p:cNvSpPr/>
          <p:nvPr/>
        </p:nvSpPr>
        <p:spPr>
          <a:xfrm>
            <a:off x="822960" y="4764024"/>
            <a:ext cx="109728" cy="109728"/>
          </a:xfrm>
          <a:prstGeom prst="ellipse">
            <a:avLst/>
          </a:prstGeom>
          <a:solidFill>
            <a:srgbClr val="7BD88F"/>
          </a:solidFill>
          <a:ln w="12700">
            <a:solidFill>
              <a:srgbClr val="333333"/>
            </a:solidFill>
            <a:prstDash val="solid"/>
          </a:ln>
        </p:spPr>
      </p:sp>
      <p:sp>
        <p:nvSpPr>
          <p:cNvPr id="16" name="Text 14"/>
          <p:cNvSpPr txBox="1"/>
          <p:nvPr/>
        </p:nvSpPr>
        <p:spPr>
          <a:xfrm>
            <a:off x="1042416" y="4709160"/>
            <a:ext cx="822960" cy="237744"/>
          </a:xfrm>
          <a:prstGeom prst="rect">
            <a:avLst/>
          </a:prstGeom>
          <a:noFill/>
          <a:ln/>
        </p:spPr>
        <p:txBody>
          <a:bodyPr wrap="square" lIns="0" tIns="0" rIns="0" bIns="0" rtlCol="0" anchor="ctr"/>
          <a:lstStyle/>
          <a:p>
            <a:pPr indent="0" marL="0">
              <a:buNone/>
            </a:pPr>
            <a:r>
              <a:rPr lang="en-US" sz="900" dirty="0">
                <a:solidFill>
                  <a:srgbClr val="3FC9C0"/>
                </a:solidFill>
                <a:latin typeface="Consolas" pitchFamily="34" charset="0"/>
                <a:ea typeface="Consolas" pitchFamily="34" charset="-122"/>
                <a:cs typeface="Consolas" pitchFamily="34" charset="-120"/>
              </a:rPr>
              <a:t>WEB</a:t>
            </a:r>
            <a:endParaRPr lang="en-US" sz="900" dirty="0"/>
          </a:p>
        </p:txBody>
      </p:sp>
      <p:sp>
        <p:nvSpPr>
          <p:cNvPr id="17" name="Text 15"/>
          <p:cNvSpPr txBox="1"/>
          <p:nvPr/>
        </p:nvSpPr>
        <p:spPr>
          <a:xfrm>
            <a:off x="1938528" y="4690872"/>
            <a:ext cx="4206240" cy="256032"/>
          </a:xfrm>
          <a:prstGeom prst="rect">
            <a:avLst/>
          </a:prstGeom>
          <a:noFill/>
          <a:ln/>
        </p:spPr>
        <p:txBody>
          <a:bodyPr wrap="square" lIns="0" tIns="0" rIns="0" bIns="0" rtlCol="0" anchor="ctr"/>
          <a:lstStyle/>
          <a:p>
            <a:pPr indent="0" marL="0">
              <a:buNone/>
            </a:pPr>
            <a:r>
              <a:rPr lang="en-US" sz="1100" dirty="0">
                <a:solidFill>
                  <a:srgbClr val="B4BCCE"/>
                </a:solidFill>
                <a:latin typeface="Nirmala UI" pitchFamily="34" charset="0"/>
                <a:ea typeface="Nirmala UI" pitchFamily="34" charset="-122"/>
                <a:cs typeface="Nirmala UI" pitchFamily="34" charset="-120"/>
              </a:rPr>
              <a:t>cM4p…1rZ7 → student · valid</a:t>
            </a:r>
            <a:endParaRPr lang="en-US" sz="1100" dirty="0"/>
          </a:p>
        </p:txBody>
      </p:sp>
      <p:sp>
        <p:nvSpPr>
          <p:cNvPr id="18" name="Shape 16"/>
          <p:cNvSpPr/>
          <p:nvPr/>
        </p:nvSpPr>
        <p:spPr>
          <a:xfrm>
            <a:off x="658368" y="5120640"/>
            <a:ext cx="5577840" cy="402336"/>
          </a:xfrm>
          <a:prstGeom prst="roundRect">
            <a:avLst>
              <a:gd name="adj" fmla="val 13636"/>
            </a:avLst>
          </a:prstGeom>
          <a:solidFill>
            <a:srgbClr val="161B28"/>
          </a:solidFill>
          <a:ln w="12700">
            <a:solidFill>
              <a:srgbClr val="28303F"/>
            </a:solidFill>
            <a:prstDash val="solid"/>
          </a:ln>
        </p:spPr>
      </p:sp>
      <p:sp>
        <p:nvSpPr>
          <p:cNvPr id="19" name="Shape 17"/>
          <p:cNvSpPr/>
          <p:nvPr/>
        </p:nvSpPr>
        <p:spPr>
          <a:xfrm>
            <a:off x="822960" y="5266944"/>
            <a:ext cx="109728" cy="109728"/>
          </a:xfrm>
          <a:prstGeom prst="ellipse">
            <a:avLst/>
          </a:prstGeom>
          <a:solidFill>
            <a:srgbClr val="E2607A"/>
          </a:solidFill>
          <a:ln w="12700">
            <a:solidFill>
              <a:srgbClr val="333333"/>
            </a:solidFill>
            <a:prstDash val="solid"/>
          </a:ln>
        </p:spPr>
      </p:sp>
      <p:sp>
        <p:nvSpPr>
          <p:cNvPr id="20" name="Text 18"/>
          <p:cNvSpPr txBox="1"/>
          <p:nvPr/>
        </p:nvSpPr>
        <p:spPr>
          <a:xfrm>
            <a:off x="1042416" y="5212080"/>
            <a:ext cx="822960" cy="237744"/>
          </a:xfrm>
          <a:prstGeom prst="rect">
            <a:avLst/>
          </a:prstGeom>
          <a:noFill/>
          <a:ln/>
        </p:spPr>
        <p:txBody>
          <a:bodyPr wrap="square" lIns="0" tIns="0" rIns="0" bIns="0" rtlCol="0" anchor="ctr"/>
          <a:lstStyle/>
          <a:p>
            <a:pPr indent="0" marL="0">
              <a:buNone/>
            </a:pPr>
            <a:r>
              <a:rPr lang="en-US" sz="900" dirty="0">
                <a:solidFill>
                  <a:srgbClr val="3FC9C0"/>
                </a:solidFill>
                <a:latin typeface="Consolas" pitchFamily="34" charset="0"/>
                <a:ea typeface="Consolas" pitchFamily="34" charset="-122"/>
                <a:cs typeface="Consolas" pitchFamily="34" charset="-120"/>
              </a:rPr>
              <a:t>IOS</a:t>
            </a:r>
            <a:endParaRPr lang="en-US" sz="900" dirty="0"/>
          </a:p>
        </p:txBody>
      </p:sp>
      <p:sp>
        <p:nvSpPr>
          <p:cNvPr id="21" name="Text 19"/>
          <p:cNvSpPr txBox="1"/>
          <p:nvPr/>
        </p:nvSpPr>
        <p:spPr>
          <a:xfrm>
            <a:off x="1938528" y="5193792"/>
            <a:ext cx="4206240" cy="256032"/>
          </a:xfrm>
          <a:prstGeom prst="rect">
            <a:avLst/>
          </a:prstGeom>
          <a:noFill/>
          <a:ln/>
        </p:spPr>
        <p:txBody>
          <a:bodyPr wrap="square" lIns="0" tIns="0" rIns="0" bIns="0" rtlCol="0" anchor="ctr"/>
          <a:lstStyle/>
          <a:p>
            <a:pPr indent="0" marL="0">
              <a:buNone/>
            </a:pPr>
            <a:r>
              <a:rPr lang="en-US" sz="1100" dirty="0">
                <a:solidFill>
                  <a:srgbClr val="B4BCCE"/>
                </a:solidFill>
                <a:latin typeface="Nirmala UI" pitchFamily="34" charset="0"/>
                <a:ea typeface="Nirmala UI" pitchFamily="34" charset="-122"/>
                <a:cs typeface="Nirmala UI" pitchFamily="34" charset="-120"/>
              </a:rPr>
              <a:t>aB2n…5vL9 → অ্যাপ আনইনস্টল · invalid</a:t>
            </a:r>
            <a:endParaRPr lang="en-US" sz="1100" dirty="0"/>
          </a:p>
        </p:txBody>
      </p:sp>
      <p:sp>
        <p:nvSpPr>
          <p:cNvPr id="22" name="Text 20"/>
          <p:cNvSpPr txBox="1"/>
          <p:nvPr/>
        </p:nvSpPr>
        <p:spPr>
          <a:xfrm>
            <a:off x="6675120" y="1691640"/>
            <a:ext cx="4846320" cy="384048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একজন ইউজার = অনেক টোকেন — ফোন, ট্যাব, ব্রাউজার সবই আলাদা রো</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upsert কেন — রিইনস্টল বা টোকেন রিফ্রেশে ডুপ্লিকেট রো নয়</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token কে unique রাখা — রেস কন্ডিশনেও ডুপ্লিকেট ঢুকতে পারে না</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isValid ফ্ল্যাগ — মরা টোকেন ডিলিট না, শুধু নিভিয়ে দেওয়া</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studentId অথবা adminId — ঠিক একটা, দুটো হলে রিজেক্ট</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06</a:t>
            </a:r>
            <a:endParaRPr lang="en-US" sz="1000" dirty="0"/>
          </a:p>
        </p:txBody>
      </p:sp>
      <p:sp>
        <p:nvSpPr>
          <p:cNvPr id="3" name="Text 1"/>
          <p:cNvSpPr txBox="1"/>
          <p:nvPr/>
        </p:nvSpPr>
        <p:spPr>
          <a:xfrm>
            <a:off x="10088575" y="274320"/>
            <a:ext cx="187452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PUSH PIPELINE</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ডাটাবেজ</a:t>
            </a:r>
            <a:endParaRPr lang="en-US" sz="1000" dirty="0"/>
          </a:p>
        </p:txBody>
      </p:sp>
      <p:sp>
        <p:nvSpPr>
          <p:cNvPr id="6" name="Text 4"/>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000" b="1" dirty="0">
                <a:solidFill>
                  <a:srgbClr val="E9EDF6"/>
                </a:solidFill>
                <a:latin typeface="Nirmala UI" pitchFamily="34" charset="0"/>
                <a:ea typeface="Nirmala UI" pitchFamily="34" charset="-122"/>
                <a:cs typeface="Nirmala UI" pitchFamily="34" charset="-120"/>
              </a:rPr>
              <a:t>তিনটা টেবিল, তিনটা আলাদা প্রশ্নের উত্তর</a:t>
            </a:r>
            <a:endParaRPr lang="en-US" sz="3000" dirty="0"/>
          </a:p>
        </p:txBody>
      </p:sp>
      <p:sp>
        <p:nvSpPr>
          <p:cNvPr id="7" name="Shape 5"/>
          <p:cNvSpPr/>
          <p:nvPr/>
        </p:nvSpPr>
        <p:spPr>
          <a:xfrm>
            <a:off x="658368" y="1691640"/>
            <a:ext cx="3429000" cy="3200400"/>
          </a:xfrm>
          <a:prstGeom prst="roundRect">
            <a:avLst>
              <a:gd name="adj" fmla="val 1714"/>
            </a:avLst>
          </a:prstGeom>
          <a:solidFill>
            <a:srgbClr val="161B28"/>
          </a:solidFill>
          <a:ln w="12700">
            <a:solidFill>
              <a:srgbClr val="28303F"/>
            </a:solidFill>
            <a:prstDash val="solid"/>
          </a:ln>
        </p:spPr>
      </p:sp>
      <p:sp>
        <p:nvSpPr>
          <p:cNvPr id="8" name="Text 6"/>
          <p:cNvSpPr txBox="1"/>
          <p:nvPr/>
        </p:nvSpPr>
        <p:spPr>
          <a:xfrm>
            <a:off x="859536" y="1874520"/>
            <a:ext cx="3026664" cy="256032"/>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pushNotifications</a:t>
            </a:r>
            <a:endParaRPr lang="en-US" sz="1000" dirty="0"/>
          </a:p>
        </p:txBody>
      </p:sp>
      <p:sp>
        <p:nvSpPr>
          <p:cNvPr id="9" name="Text 7"/>
          <p:cNvSpPr txBox="1"/>
          <p:nvPr/>
        </p:nvSpPr>
        <p:spPr>
          <a:xfrm>
            <a:off x="859536" y="2176272"/>
            <a:ext cx="3026664" cy="457200"/>
          </a:xfrm>
          <a:prstGeom prst="rect">
            <a:avLst/>
          </a:prstGeom>
          <a:noFill/>
          <a:ln/>
        </p:spPr>
        <p:txBody>
          <a:bodyPr wrap="square" lIns="0" tIns="0" rIns="0" bIns="0" rtlCol="0" anchor="ctr"/>
          <a:lstStyle/>
          <a:p>
            <a:pPr indent="0" marL="0">
              <a:buNone/>
            </a:pPr>
            <a:r>
              <a:rPr lang="en-US" sz="2400" b="1" dirty="0">
                <a:solidFill>
                  <a:srgbClr val="3FC9C0"/>
                </a:solidFill>
                <a:latin typeface="Nirmala UI" pitchFamily="34" charset="0"/>
                <a:ea typeface="Nirmala UI" pitchFamily="34" charset="-122"/>
                <a:cs typeface="Nirmala UI" pitchFamily="34" charset="-120"/>
              </a:rPr>
              <a:t>কোথায়?</a:t>
            </a:r>
            <a:endParaRPr lang="en-US" sz="2400" dirty="0"/>
          </a:p>
        </p:txBody>
      </p:sp>
      <p:sp>
        <p:nvSpPr>
          <p:cNvPr id="10" name="Text 8"/>
          <p:cNvSpPr txBox="1"/>
          <p:nvPr/>
        </p:nvSpPr>
        <p:spPr>
          <a:xfrm>
            <a:off x="859536" y="2670048"/>
            <a:ext cx="3026664" cy="219456"/>
          </a:xfrm>
          <a:prstGeom prst="rect">
            <a:avLst/>
          </a:prstGeom>
          <a:noFill/>
          <a:ln/>
        </p:spPr>
        <p:txBody>
          <a:bodyPr wrap="square" lIns="0" tIns="0" rIns="0" bIns="0" rtlCol="0" anchor="ctr"/>
          <a:lstStyle/>
          <a:p>
            <a:pPr indent="0" marL="0">
              <a:buNone/>
            </a:pPr>
            <a:r>
              <a:rPr lang="en-US" sz="850" spc="150" kern="0" dirty="0">
                <a:solidFill>
                  <a:srgbClr val="7E8798"/>
                </a:solidFill>
                <a:latin typeface="Consolas" pitchFamily="34" charset="0"/>
                <a:ea typeface="Consolas" pitchFamily="34" charset="-122"/>
                <a:cs typeface="Consolas" pitchFamily="34" charset="-120"/>
              </a:rPr>
              <a:t>DEVICE TOKENS</a:t>
            </a:r>
            <a:endParaRPr lang="en-US" sz="850" dirty="0"/>
          </a:p>
        </p:txBody>
      </p:sp>
      <p:sp>
        <p:nvSpPr>
          <p:cNvPr id="11" name="Text 9"/>
          <p:cNvSpPr txBox="1"/>
          <p:nvPr/>
        </p:nvSpPr>
        <p:spPr>
          <a:xfrm>
            <a:off x="859536" y="3017520"/>
            <a:ext cx="3026664" cy="173736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B4BCCE"/>
                </a:solidFill>
                <a:latin typeface="Nirmala UI" pitchFamily="34" charset="0"/>
                <a:ea typeface="Nirmala UI" pitchFamily="34" charset="-122"/>
                <a:cs typeface="Nirmala UI" pitchFamily="34" charset="-120"/>
              </a:rPr>
              <a:t>token · unique</a:t>
            </a:r>
            <a:endParaRPr lang="en-US" sz="1050" dirty="0"/>
          </a:p>
          <a:p>
            <a:pPr marL="342900" indent="-342900">
              <a:spcAft>
                <a:spcPts val="700"/>
              </a:spcAft>
              <a:buSzPct val="100000"/>
              <a:buChar char="–"/>
            </a:pPr>
            <a:r>
              <a:rPr lang="en-US" sz="1050" dirty="0">
                <a:solidFill>
                  <a:srgbClr val="B4BCCE"/>
                </a:solidFill>
                <a:latin typeface="Nirmala UI" pitchFamily="34" charset="0"/>
                <a:ea typeface="Nirmala UI" pitchFamily="34" charset="-122"/>
                <a:cs typeface="Nirmala UI" pitchFamily="34" charset="-120"/>
              </a:rPr>
              <a:t>platform · WEB / ANDROID / IOS</a:t>
            </a:r>
            <a:endParaRPr lang="en-US" sz="1050" dirty="0"/>
          </a:p>
          <a:p>
            <a:pPr marL="342900" indent="-342900">
              <a:spcAft>
                <a:spcPts val="700"/>
              </a:spcAft>
              <a:buSzPct val="100000"/>
              <a:buChar char="–"/>
            </a:pPr>
            <a:r>
              <a:rPr lang="en-US" sz="1050" dirty="0">
                <a:solidFill>
                  <a:srgbClr val="B4BCCE"/>
                </a:solidFill>
                <a:latin typeface="Nirmala UI" pitchFamily="34" charset="0"/>
                <a:ea typeface="Nirmala UI" pitchFamily="34" charset="-122"/>
                <a:cs typeface="Nirmala UI" pitchFamily="34" charset="-120"/>
              </a:rPr>
              <a:t>isValid · lastSeenAt</a:t>
            </a:r>
            <a:endParaRPr lang="en-US" sz="1050" dirty="0"/>
          </a:p>
          <a:p>
            <a:pPr marL="342900" indent="-342900">
              <a:spcAft>
                <a:spcPts val="700"/>
              </a:spcAft>
              <a:buSzPct val="100000"/>
              <a:buChar char="–"/>
            </a:pPr>
            <a:r>
              <a:rPr lang="en-US" sz="1050" dirty="0">
                <a:solidFill>
                  <a:srgbClr val="B4BCCE"/>
                </a:solidFill>
                <a:latin typeface="Nirmala UI" pitchFamily="34" charset="0"/>
                <a:ea typeface="Nirmala UI" pitchFamily="34" charset="-122"/>
                <a:cs typeface="Nirmala UI" pitchFamily="34" charset="-120"/>
              </a:rPr>
              <a:t>@@index([studentId, isValid])</a:t>
            </a:r>
            <a:endParaRPr lang="en-US" sz="1050" dirty="0"/>
          </a:p>
        </p:txBody>
      </p:sp>
      <p:sp>
        <p:nvSpPr>
          <p:cNvPr id="12" name="Shape 10"/>
          <p:cNvSpPr/>
          <p:nvPr/>
        </p:nvSpPr>
        <p:spPr>
          <a:xfrm>
            <a:off x="4389120" y="1691640"/>
            <a:ext cx="3429000" cy="3200400"/>
          </a:xfrm>
          <a:prstGeom prst="roundRect">
            <a:avLst>
              <a:gd name="adj" fmla="val 1714"/>
            </a:avLst>
          </a:prstGeom>
          <a:solidFill>
            <a:srgbClr val="161B28"/>
          </a:solidFill>
          <a:ln w="12700">
            <a:solidFill>
              <a:srgbClr val="28303F"/>
            </a:solidFill>
            <a:prstDash val="solid"/>
          </a:ln>
        </p:spPr>
      </p:sp>
      <p:sp>
        <p:nvSpPr>
          <p:cNvPr id="13" name="Text 11"/>
          <p:cNvSpPr txBox="1"/>
          <p:nvPr/>
        </p:nvSpPr>
        <p:spPr>
          <a:xfrm>
            <a:off x="4590288" y="1874520"/>
            <a:ext cx="3026664" cy="256032"/>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notificationLogs</a:t>
            </a:r>
            <a:endParaRPr lang="en-US" sz="1000" dirty="0"/>
          </a:p>
        </p:txBody>
      </p:sp>
      <p:sp>
        <p:nvSpPr>
          <p:cNvPr id="14" name="Text 12"/>
          <p:cNvSpPr txBox="1"/>
          <p:nvPr/>
        </p:nvSpPr>
        <p:spPr>
          <a:xfrm>
            <a:off x="4590288" y="2176272"/>
            <a:ext cx="3026664" cy="457200"/>
          </a:xfrm>
          <a:prstGeom prst="rect">
            <a:avLst/>
          </a:prstGeom>
          <a:noFill/>
          <a:ln/>
        </p:spPr>
        <p:txBody>
          <a:bodyPr wrap="square" lIns="0" tIns="0" rIns="0" bIns="0" rtlCol="0" anchor="ctr"/>
          <a:lstStyle/>
          <a:p>
            <a:pPr indent="0" marL="0">
              <a:buNone/>
            </a:pPr>
            <a:r>
              <a:rPr lang="en-US" sz="2400" b="1" dirty="0">
                <a:solidFill>
                  <a:srgbClr val="F5A63C"/>
                </a:solidFill>
                <a:latin typeface="Nirmala UI" pitchFamily="34" charset="0"/>
                <a:ea typeface="Nirmala UI" pitchFamily="34" charset="-122"/>
                <a:cs typeface="Nirmala UI" pitchFamily="34" charset="-120"/>
              </a:rPr>
              <a:t>কী?</a:t>
            </a:r>
            <a:endParaRPr lang="en-US" sz="2400" dirty="0"/>
          </a:p>
        </p:txBody>
      </p:sp>
      <p:sp>
        <p:nvSpPr>
          <p:cNvPr id="15" name="Text 13"/>
          <p:cNvSpPr txBox="1"/>
          <p:nvPr/>
        </p:nvSpPr>
        <p:spPr>
          <a:xfrm>
            <a:off x="4590288" y="2670048"/>
            <a:ext cx="3026664" cy="219456"/>
          </a:xfrm>
          <a:prstGeom prst="rect">
            <a:avLst/>
          </a:prstGeom>
          <a:noFill/>
          <a:ln/>
        </p:spPr>
        <p:txBody>
          <a:bodyPr wrap="square" lIns="0" tIns="0" rIns="0" bIns="0" rtlCol="0" anchor="ctr"/>
          <a:lstStyle/>
          <a:p>
            <a:pPr indent="0" marL="0">
              <a:buNone/>
            </a:pPr>
            <a:r>
              <a:rPr lang="en-US" sz="850" spc="150" kern="0" dirty="0">
                <a:solidFill>
                  <a:srgbClr val="7E8798"/>
                </a:solidFill>
                <a:latin typeface="Consolas" pitchFamily="34" charset="0"/>
                <a:ea typeface="Consolas" pitchFamily="34" charset="-122"/>
                <a:cs typeface="Consolas" pitchFamily="34" charset="-120"/>
              </a:rPr>
              <a:t>CAMPAIGN RECORD</a:t>
            </a:r>
            <a:endParaRPr lang="en-US" sz="850" dirty="0"/>
          </a:p>
        </p:txBody>
      </p:sp>
      <p:sp>
        <p:nvSpPr>
          <p:cNvPr id="16" name="Text 14"/>
          <p:cNvSpPr txBox="1"/>
          <p:nvPr/>
        </p:nvSpPr>
        <p:spPr>
          <a:xfrm>
            <a:off x="4590288" y="3017520"/>
            <a:ext cx="3026664" cy="173736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B4BCCE"/>
                </a:solidFill>
                <a:latin typeface="Nirmala UI" pitchFamily="34" charset="0"/>
                <a:ea typeface="Nirmala UI" pitchFamily="34" charset="-122"/>
                <a:cs typeface="Nirmala UI" pitchFamily="34" charset="-120"/>
              </a:rPr>
              <a:t>uniqueId · জব আর লগের সেতু</a:t>
            </a:r>
            <a:endParaRPr lang="en-US" sz="1050" dirty="0"/>
          </a:p>
          <a:p>
            <a:pPr marL="342900" indent="-342900">
              <a:spcAft>
                <a:spcPts val="700"/>
              </a:spcAft>
              <a:buSzPct val="100000"/>
              <a:buChar char="–"/>
            </a:pPr>
            <a:r>
              <a:rPr lang="en-US" sz="1050" dirty="0">
                <a:solidFill>
                  <a:srgbClr val="B4BCCE"/>
                </a:solidFill>
                <a:latin typeface="Nirmala UI" pitchFamily="34" charset="0"/>
                <a:ea typeface="Nirmala UI" pitchFamily="34" charset="-122"/>
                <a:cs typeface="Nirmala UI" pitchFamily="34" charset="-120"/>
              </a:rPr>
              <a:t>title · body · image · deepLink</a:t>
            </a:r>
            <a:endParaRPr lang="en-US" sz="1050" dirty="0"/>
          </a:p>
          <a:p>
            <a:pPr marL="342900" indent="-342900">
              <a:spcAft>
                <a:spcPts val="700"/>
              </a:spcAft>
              <a:buSzPct val="100000"/>
              <a:buChar char="–"/>
            </a:pPr>
            <a:r>
              <a:rPr lang="en-US" sz="1050" dirty="0">
                <a:solidFill>
                  <a:srgbClr val="B4BCCE"/>
                </a:solidFill>
                <a:latin typeface="Nirmala UI" pitchFamily="34" charset="0"/>
                <a:ea typeface="Nirmala UI" pitchFamily="34" charset="-122"/>
                <a:cs typeface="Nirmala UI" pitchFamily="34" charset="-120"/>
              </a:rPr>
              <a:t>sendCount / failedCount / invalidCount</a:t>
            </a:r>
            <a:endParaRPr lang="en-US" sz="1050" dirty="0"/>
          </a:p>
          <a:p>
            <a:pPr marL="342900" indent="-342900">
              <a:spcAft>
                <a:spcPts val="700"/>
              </a:spcAft>
              <a:buSzPct val="100000"/>
              <a:buChar char="–"/>
            </a:pPr>
            <a:r>
              <a:rPr lang="en-US" sz="1050" dirty="0">
                <a:solidFill>
                  <a:srgbClr val="B4BCCE"/>
                </a:solidFill>
                <a:latin typeface="Nirmala UI" pitchFamily="34" charset="0"/>
                <a:ea typeface="Nirmala UI" pitchFamily="34" charset="-122"/>
                <a:cs typeface="Nirmala UI" pitchFamily="34" charset="-120"/>
              </a:rPr>
              <a:t>courseId · cycleId · senderType</a:t>
            </a:r>
            <a:endParaRPr lang="en-US" sz="1050" dirty="0"/>
          </a:p>
        </p:txBody>
      </p:sp>
      <p:sp>
        <p:nvSpPr>
          <p:cNvPr id="17" name="Shape 15"/>
          <p:cNvSpPr/>
          <p:nvPr/>
        </p:nvSpPr>
        <p:spPr>
          <a:xfrm>
            <a:off x="8119872" y="1691640"/>
            <a:ext cx="3429000" cy="3200400"/>
          </a:xfrm>
          <a:prstGeom prst="roundRect">
            <a:avLst>
              <a:gd name="adj" fmla="val 1714"/>
            </a:avLst>
          </a:prstGeom>
          <a:solidFill>
            <a:srgbClr val="161B28"/>
          </a:solidFill>
          <a:ln w="12700">
            <a:solidFill>
              <a:srgbClr val="28303F"/>
            </a:solidFill>
            <a:prstDash val="solid"/>
          </a:ln>
        </p:spPr>
      </p:sp>
      <p:sp>
        <p:nvSpPr>
          <p:cNvPr id="18" name="Text 16"/>
          <p:cNvSpPr txBox="1"/>
          <p:nvPr/>
        </p:nvSpPr>
        <p:spPr>
          <a:xfrm>
            <a:off x="8321040" y="1874520"/>
            <a:ext cx="3026664" cy="256032"/>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notificationUserStatus</a:t>
            </a:r>
            <a:endParaRPr lang="en-US" sz="1000" dirty="0"/>
          </a:p>
        </p:txBody>
      </p:sp>
      <p:sp>
        <p:nvSpPr>
          <p:cNvPr id="19" name="Text 17"/>
          <p:cNvSpPr txBox="1"/>
          <p:nvPr/>
        </p:nvSpPr>
        <p:spPr>
          <a:xfrm>
            <a:off x="8321040" y="2176272"/>
            <a:ext cx="3026664" cy="457200"/>
          </a:xfrm>
          <a:prstGeom prst="rect">
            <a:avLst/>
          </a:prstGeom>
          <a:noFill/>
          <a:ln/>
        </p:spPr>
        <p:txBody>
          <a:bodyPr wrap="square" lIns="0" tIns="0" rIns="0" bIns="0" rtlCol="0" anchor="ctr"/>
          <a:lstStyle/>
          <a:p>
            <a:pPr indent="0" marL="0">
              <a:buNone/>
            </a:pPr>
            <a:r>
              <a:rPr lang="en-US" sz="2400" b="1" dirty="0">
                <a:solidFill>
                  <a:srgbClr val="7BD88F"/>
                </a:solidFill>
                <a:latin typeface="Nirmala UI" pitchFamily="34" charset="0"/>
                <a:ea typeface="Nirmala UI" pitchFamily="34" charset="-122"/>
                <a:cs typeface="Nirmala UI" pitchFamily="34" charset="-120"/>
              </a:rPr>
              <a:t>কে দেখল?</a:t>
            </a:r>
            <a:endParaRPr lang="en-US" sz="2400" dirty="0"/>
          </a:p>
        </p:txBody>
      </p:sp>
      <p:sp>
        <p:nvSpPr>
          <p:cNvPr id="20" name="Text 18"/>
          <p:cNvSpPr txBox="1"/>
          <p:nvPr/>
        </p:nvSpPr>
        <p:spPr>
          <a:xfrm>
            <a:off x="8321040" y="2670048"/>
            <a:ext cx="3026664" cy="219456"/>
          </a:xfrm>
          <a:prstGeom prst="rect">
            <a:avLst/>
          </a:prstGeom>
          <a:noFill/>
          <a:ln/>
        </p:spPr>
        <p:txBody>
          <a:bodyPr wrap="square" lIns="0" tIns="0" rIns="0" bIns="0" rtlCol="0" anchor="ctr"/>
          <a:lstStyle/>
          <a:p>
            <a:pPr indent="0" marL="0">
              <a:buNone/>
            </a:pPr>
            <a:r>
              <a:rPr lang="en-US" sz="850" spc="150" kern="0" dirty="0">
                <a:solidFill>
                  <a:srgbClr val="7E8798"/>
                </a:solidFill>
                <a:latin typeface="Consolas" pitchFamily="34" charset="0"/>
                <a:ea typeface="Consolas" pitchFamily="34" charset="-122"/>
                <a:cs typeface="Consolas" pitchFamily="34" charset="-120"/>
              </a:rPr>
              <a:t>PER-USER STATE</a:t>
            </a:r>
            <a:endParaRPr lang="en-US" sz="850" dirty="0"/>
          </a:p>
        </p:txBody>
      </p:sp>
      <p:sp>
        <p:nvSpPr>
          <p:cNvPr id="21" name="Text 19"/>
          <p:cNvSpPr txBox="1"/>
          <p:nvPr/>
        </p:nvSpPr>
        <p:spPr>
          <a:xfrm>
            <a:off x="8321040" y="3017520"/>
            <a:ext cx="3026664" cy="173736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B4BCCE"/>
                </a:solidFill>
                <a:latin typeface="Nirmala UI" pitchFamily="34" charset="0"/>
                <a:ea typeface="Nirmala UI" pitchFamily="34" charset="-122"/>
                <a:cs typeface="Nirmala UI" pitchFamily="34" charset="-120"/>
              </a:rPr>
              <a:t>isViewed · viewedAt</a:t>
            </a:r>
            <a:endParaRPr lang="en-US" sz="1050" dirty="0"/>
          </a:p>
          <a:p>
            <a:pPr marL="342900" indent="-342900">
              <a:spcAft>
                <a:spcPts val="700"/>
              </a:spcAft>
              <a:buSzPct val="100000"/>
              <a:buChar char="–"/>
            </a:pPr>
            <a:r>
              <a:rPr lang="en-US" sz="1050" dirty="0">
                <a:solidFill>
                  <a:srgbClr val="B4BCCE"/>
                </a:solidFill>
                <a:latin typeface="Nirmala UI" pitchFamily="34" charset="0"/>
                <a:ea typeface="Nirmala UI" pitchFamily="34" charset="-122"/>
                <a:cs typeface="Nirmala UI" pitchFamily="34" charset="-120"/>
              </a:rPr>
              <a:t>isClicked · clickedAt</a:t>
            </a:r>
            <a:endParaRPr lang="en-US" sz="1050" dirty="0"/>
          </a:p>
          <a:p>
            <a:pPr marL="342900" indent="-342900">
              <a:spcAft>
                <a:spcPts val="700"/>
              </a:spcAft>
              <a:buSzPct val="100000"/>
              <a:buChar char="–"/>
            </a:pPr>
            <a:r>
              <a:rPr lang="en-US" sz="1050" dirty="0">
                <a:solidFill>
                  <a:srgbClr val="B4BCCE"/>
                </a:solidFill>
                <a:latin typeface="Nirmala UI" pitchFamily="34" charset="0"/>
                <a:ea typeface="Nirmala UI" pitchFamily="34" charset="-122"/>
                <a:cs typeface="Nirmala UI" pitchFamily="34" charset="-120"/>
              </a:rPr>
              <a:t>@@unique([notificationId, studentId])</a:t>
            </a:r>
            <a:endParaRPr lang="en-US" sz="1050" dirty="0"/>
          </a:p>
          <a:p>
            <a:pPr marL="342900" indent="-342900">
              <a:spcAft>
                <a:spcPts val="700"/>
              </a:spcAft>
              <a:buSzPct val="100000"/>
              <a:buChar char="–"/>
            </a:pPr>
            <a:r>
              <a:rPr lang="en-US" sz="1050" dirty="0">
                <a:solidFill>
                  <a:srgbClr val="B4BCCE"/>
                </a:solidFill>
                <a:latin typeface="Nirmala UI" pitchFamily="34" charset="0"/>
                <a:ea typeface="Nirmala UI" pitchFamily="34" charset="-122"/>
                <a:cs typeface="Nirmala UI" pitchFamily="34" charset="-120"/>
              </a:rPr>
              <a:t>আনরিড ব্যাজের হিসাব এখান থেকেই</a:t>
            </a:r>
            <a:endParaRPr lang="en-US" sz="1050" dirty="0"/>
          </a:p>
        </p:txBody>
      </p:sp>
      <p:sp>
        <p:nvSpPr>
          <p:cNvPr id="22" name="Text 20"/>
          <p:cNvSpPr txBox="1"/>
          <p:nvPr/>
        </p:nvSpPr>
        <p:spPr>
          <a:xfrm>
            <a:off x="658368" y="5120640"/>
            <a:ext cx="10874959" cy="548640"/>
          </a:xfrm>
          <a:prstGeom prst="rect">
            <a:avLst/>
          </a:prstGeom>
          <a:noFill/>
          <a:ln/>
        </p:spPr>
        <p:txBody>
          <a:bodyPr wrap="square" lIns="0" tIns="0" rIns="0" bIns="0" rtlCol="0" anchor="t"/>
          <a:lstStyle/>
          <a:p>
            <a:pPr indent="0" marL="0">
              <a:buNone/>
            </a:pPr>
            <a:r>
              <a:rPr lang="en-US" sz="1200" dirty="0">
                <a:solidFill>
                  <a:srgbClr val="B4BCCE"/>
                </a:solidFill>
                <a:latin typeface="Nirmala UI" pitchFamily="34" charset="0"/>
                <a:ea typeface="Nirmala UI" pitchFamily="34" charset="-122"/>
                <a:cs typeface="Nirmala UI" pitchFamily="34" charset="-120"/>
              </a:rPr>
              <a:t>এক টেবিলে সব রাখলে ৫ লাখ ইউজার × প্রতিটা নোটিফিকেশন = কোটি কোটি রো। তাই ক্যাম্পেইনের রেকর্ড একটাই, আর per-user স্ট্যাটাস রো তৈরি হয় শুধু তখনই যখন কেউ আসলেই দেখে বা ক্লিক করে।</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07</a:t>
            </a:r>
            <a:endParaRPr lang="en-US" sz="1000" dirty="0"/>
          </a:p>
        </p:txBody>
      </p:sp>
      <p:sp>
        <p:nvSpPr>
          <p:cNvPr id="3" name="Text 1"/>
          <p:cNvSpPr txBox="1"/>
          <p:nvPr/>
        </p:nvSpPr>
        <p:spPr>
          <a:xfrm>
            <a:off x="10088575" y="274320"/>
            <a:ext cx="187452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PUSH PIPELINE</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ধাপ ২ · মূল কৌশল</a:t>
            </a:r>
            <a:endParaRPr lang="en-US" sz="1000" dirty="0"/>
          </a:p>
        </p:txBody>
      </p:sp>
      <p:sp>
        <p:nvSpPr>
          <p:cNvPr id="6" name="Text 4"/>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000" b="1" dirty="0">
                <a:solidFill>
                  <a:srgbClr val="E9EDF6"/>
                </a:solidFill>
                <a:latin typeface="Nirmala UI" pitchFamily="34" charset="0"/>
                <a:ea typeface="Nirmala UI" pitchFamily="34" charset="-122"/>
                <a:cs typeface="Nirmala UI" pitchFamily="34" charset="-120"/>
              </a:rPr>
              <a:t>API কখনোই নোটিফিকেশন পাঠায় না</a:t>
            </a:r>
            <a:endParaRPr lang="en-US" sz="3000" dirty="0"/>
          </a:p>
        </p:txBody>
      </p:sp>
      <p:sp>
        <p:nvSpPr>
          <p:cNvPr id="7" name="Shape 5"/>
          <p:cNvSpPr/>
          <p:nvPr/>
        </p:nvSpPr>
        <p:spPr>
          <a:xfrm>
            <a:off x="658368" y="1645920"/>
            <a:ext cx="5577840" cy="2331720"/>
          </a:xfrm>
          <a:prstGeom prst="roundRect">
            <a:avLst>
              <a:gd name="adj" fmla="val 2353"/>
            </a:avLst>
          </a:prstGeom>
          <a:solidFill>
            <a:srgbClr val="090C13"/>
          </a:solidFill>
          <a:ln w="12700">
            <a:solidFill>
              <a:srgbClr val="28303F"/>
            </a:solidFill>
            <a:prstDash val="solid"/>
          </a:ln>
        </p:spPr>
      </p:sp>
      <p:sp>
        <p:nvSpPr>
          <p:cNvPr id="8" name="Shape 6"/>
          <p:cNvSpPr/>
          <p:nvPr/>
        </p:nvSpPr>
        <p:spPr>
          <a:xfrm>
            <a:off x="658368" y="1700784"/>
            <a:ext cx="32004" cy="2221992"/>
          </a:xfrm>
          <a:prstGeom prst="rect">
            <a:avLst/>
          </a:prstGeom>
          <a:solidFill>
            <a:srgbClr val="F5A63C"/>
          </a:solidFill>
          <a:ln/>
        </p:spPr>
      </p:sp>
      <p:sp>
        <p:nvSpPr>
          <p:cNvPr id="9" name="Text 7"/>
          <p:cNvSpPr txBox="1"/>
          <p:nvPr/>
        </p:nvSpPr>
        <p:spPr>
          <a:xfrm>
            <a:off x="859536" y="1792224"/>
            <a:ext cx="5212080" cy="2039112"/>
          </a:xfrm>
          <a:prstGeom prst="rect">
            <a:avLst/>
          </a:prstGeom>
          <a:noFill/>
          <a:ln/>
        </p:spPr>
        <p:txBody>
          <a:bodyPr wrap="square" lIns="0" tIns="0" rIns="0" bIns="0" rtlCol="0" anchor="t"/>
          <a:lstStyle/>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pushMessaging.services.js</a:t>
            </a:r>
            <a:endParaRPr lang="en-US" sz="1050" dirty="0"/>
          </a:p>
          <a:p>
            <a:pPr indent="0" marL="0">
              <a:lnSpc>
                <a:spcPts val="1628"/>
              </a:lnSpc>
              <a:buNone/>
            </a:pP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const uuid = uuidv4();</a:t>
            </a:r>
            <a:endParaRPr lang="en-US" sz="1050" dirty="0"/>
          </a:p>
          <a:p>
            <a:pPr indent="0" marL="0">
              <a:lnSpc>
                <a:spcPts val="1628"/>
              </a:lnSpc>
              <a:buNone/>
            </a:pP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await campaignQueue.add("broadcast", {</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uuid, type, id, title, body, data</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a:t>
            </a:r>
            <a:endParaRPr lang="en-US" sz="1050" dirty="0"/>
          </a:p>
          <a:p>
            <a:pPr indent="0" marL="0">
              <a:lnSpc>
                <a:spcPts val="1628"/>
              </a:lnSpc>
              <a:buNone/>
            </a:pP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await prisma.notificationLog.create({ ... });</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return result;   // ~40ms -&gt; 200 OK</a:t>
            </a:r>
            <a:endParaRPr lang="en-US" sz="1050" dirty="0"/>
          </a:p>
        </p:txBody>
      </p:sp>
      <p:sp>
        <p:nvSpPr>
          <p:cNvPr id="10" name="Text 8"/>
          <p:cNvSpPr txBox="1"/>
          <p:nvPr/>
        </p:nvSpPr>
        <p:spPr>
          <a:xfrm>
            <a:off x="658368" y="4160520"/>
            <a:ext cx="2651760" cy="868680"/>
          </a:xfrm>
          <a:prstGeom prst="rect">
            <a:avLst/>
          </a:prstGeom>
          <a:noFill/>
          <a:ln/>
        </p:spPr>
        <p:txBody>
          <a:bodyPr wrap="square" lIns="0" tIns="0" rIns="0" bIns="0" rtlCol="0" anchor="t"/>
          <a:lstStyle/>
          <a:p>
            <a:pPr indent="0" marL="0">
              <a:buNone/>
            </a:pPr>
            <a:r>
              <a:rPr lang="en-US" sz="2200" b="1" dirty="0">
                <a:solidFill>
                  <a:srgbClr val="F5A63C"/>
                </a:solidFill>
                <a:latin typeface="Consolas" pitchFamily="34" charset="0"/>
                <a:ea typeface="Consolas" pitchFamily="34" charset="-122"/>
                <a:cs typeface="Consolas" pitchFamily="34" charset="-120"/>
              </a:rPr>
              <a:t>~৪০ms</a:t>
            </a:r>
            <a:endParaRPr lang="en-US" sz="2200" dirty="0"/>
          </a:p>
        </p:txBody>
      </p:sp>
      <p:sp>
        <p:nvSpPr>
          <p:cNvPr id="11" name="Text 9"/>
          <p:cNvSpPr txBox="1"/>
          <p:nvPr/>
        </p:nvSpPr>
        <p:spPr>
          <a:xfrm>
            <a:off x="658368" y="5029200"/>
            <a:ext cx="2651760" cy="274320"/>
          </a:xfrm>
          <a:prstGeom prst="rect">
            <a:avLst/>
          </a:prstGeom>
          <a:noFill/>
          <a:ln/>
        </p:spPr>
        <p:txBody>
          <a:bodyPr wrap="square" lIns="0" tIns="0" rIns="0" bIns="0" rtlCol="0" anchor="t"/>
          <a:lstStyle/>
          <a:p>
            <a:pPr indent="0" marL="0">
              <a:buNone/>
            </a:pPr>
            <a:r>
              <a:rPr lang="en-US" sz="1000" dirty="0">
                <a:solidFill>
                  <a:srgbClr val="7E8798"/>
                </a:solidFill>
                <a:latin typeface="Nirmala UI" pitchFamily="34" charset="0"/>
                <a:ea typeface="Nirmala UI" pitchFamily="34" charset="-122"/>
                <a:cs typeface="Nirmala UI" pitchFamily="34" charset="-120"/>
              </a:rPr>
              <a:t>API রেসপন্স</a:t>
            </a:r>
            <a:endParaRPr lang="en-US" sz="1000" dirty="0"/>
          </a:p>
        </p:txBody>
      </p:sp>
      <p:sp>
        <p:nvSpPr>
          <p:cNvPr id="12" name="Text 10"/>
          <p:cNvSpPr txBox="1"/>
          <p:nvPr/>
        </p:nvSpPr>
        <p:spPr>
          <a:xfrm>
            <a:off x="3493008" y="4160520"/>
            <a:ext cx="2651760" cy="868680"/>
          </a:xfrm>
          <a:prstGeom prst="rect">
            <a:avLst/>
          </a:prstGeom>
          <a:noFill/>
          <a:ln/>
        </p:spPr>
        <p:txBody>
          <a:bodyPr wrap="square" lIns="0" tIns="0" rIns="0" bIns="0" rtlCol="0" anchor="t"/>
          <a:lstStyle/>
          <a:p>
            <a:pPr indent="0" marL="0">
              <a:buNone/>
            </a:pPr>
            <a:r>
              <a:rPr lang="en-US" sz="2200" b="1" dirty="0">
                <a:solidFill>
                  <a:srgbClr val="3FC9C0"/>
                </a:solidFill>
                <a:latin typeface="Consolas" pitchFamily="34" charset="0"/>
                <a:ea typeface="Consolas" pitchFamily="34" charset="-122"/>
                <a:cs typeface="Consolas" pitchFamily="34" charset="-120"/>
              </a:rPr>
              <a:t>১ জন হোক</a:t>
            </a:r>
            <a:endParaRPr lang="en-US" sz="2200" dirty="0"/>
          </a:p>
          <a:p>
            <a:pPr indent="0" marL="0">
              <a:buNone/>
            </a:pPr>
            <a:r>
              <a:rPr lang="en-US" sz="2200" b="1" dirty="0">
                <a:solidFill>
                  <a:srgbClr val="3FC9C0"/>
                </a:solidFill>
                <a:latin typeface="Consolas" pitchFamily="34" charset="0"/>
                <a:ea typeface="Consolas" pitchFamily="34" charset="-122"/>
                <a:cs typeface="Consolas" pitchFamily="34" charset="-120"/>
              </a:rPr>
              <a:t>বা ৫ লাখ</a:t>
            </a:r>
            <a:endParaRPr lang="en-US" sz="2200" dirty="0"/>
          </a:p>
        </p:txBody>
      </p:sp>
      <p:sp>
        <p:nvSpPr>
          <p:cNvPr id="13" name="Text 11"/>
          <p:cNvSpPr txBox="1"/>
          <p:nvPr/>
        </p:nvSpPr>
        <p:spPr>
          <a:xfrm>
            <a:off x="3493008" y="5029200"/>
            <a:ext cx="2651760" cy="274320"/>
          </a:xfrm>
          <a:prstGeom prst="rect">
            <a:avLst/>
          </a:prstGeom>
          <a:noFill/>
          <a:ln/>
        </p:spPr>
        <p:txBody>
          <a:bodyPr wrap="square" lIns="0" tIns="0" rIns="0" bIns="0" rtlCol="0" anchor="t"/>
          <a:lstStyle/>
          <a:p>
            <a:pPr indent="0" marL="0">
              <a:buNone/>
            </a:pPr>
            <a:r>
              <a:rPr lang="en-US" sz="1000" dirty="0">
                <a:solidFill>
                  <a:srgbClr val="7E8798"/>
                </a:solidFill>
                <a:latin typeface="Nirmala UI" pitchFamily="34" charset="0"/>
                <a:ea typeface="Nirmala UI" pitchFamily="34" charset="-122"/>
                <a:cs typeface="Nirmala UI" pitchFamily="34" charset="-120"/>
              </a:rPr>
              <a:t>একই সময়</a:t>
            </a:r>
            <a:endParaRPr lang="en-US" sz="1000" dirty="0"/>
          </a:p>
        </p:txBody>
      </p:sp>
      <p:sp>
        <p:nvSpPr>
          <p:cNvPr id="14" name="Shape 12"/>
          <p:cNvSpPr/>
          <p:nvPr/>
        </p:nvSpPr>
        <p:spPr>
          <a:xfrm>
            <a:off x="6675120" y="1737360"/>
            <a:ext cx="420624" cy="292608"/>
          </a:xfrm>
          <a:prstGeom prst="roundRect">
            <a:avLst>
              <a:gd name="adj" fmla="val 15625"/>
            </a:avLst>
          </a:prstGeom>
          <a:solidFill>
            <a:srgbClr val="0C0F17"/>
          </a:solidFill>
          <a:ln w="12700">
            <a:solidFill>
              <a:srgbClr val="8A5F22"/>
            </a:solidFill>
            <a:prstDash val="solid"/>
          </a:ln>
        </p:spPr>
      </p:sp>
      <p:sp>
        <p:nvSpPr>
          <p:cNvPr id="15" name="Text 13"/>
          <p:cNvSpPr txBox="1"/>
          <p:nvPr/>
        </p:nvSpPr>
        <p:spPr>
          <a:xfrm>
            <a:off x="6675120" y="1773936"/>
            <a:ext cx="420624" cy="219456"/>
          </a:xfrm>
          <a:prstGeom prst="rect">
            <a:avLst/>
          </a:prstGeom>
          <a:noFill/>
          <a:ln/>
        </p:spPr>
        <p:txBody>
          <a:bodyPr wrap="square" lIns="0" tIns="0" rIns="0" bIns="0" rtlCol="0" anchor="ctr"/>
          <a:lstStyle/>
          <a:p>
            <a:pPr algn="ctr" indent="0" marL="0">
              <a:buNone/>
            </a:pPr>
            <a:r>
              <a:rPr lang="en-US" sz="950" dirty="0">
                <a:solidFill>
                  <a:srgbClr val="F5A63C"/>
                </a:solidFill>
                <a:latin typeface="Consolas" pitchFamily="34" charset="0"/>
                <a:ea typeface="Consolas" pitchFamily="34" charset="-122"/>
                <a:cs typeface="Consolas" pitchFamily="34" charset="-120"/>
              </a:rPr>
              <a:t>০১</a:t>
            </a:r>
            <a:endParaRPr lang="en-US" sz="950" dirty="0"/>
          </a:p>
        </p:txBody>
      </p:sp>
      <p:sp>
        <p:nvSpPr>
          <p:cNvPr id="16" name="Text 14"/>
          <p:cNvSpPr txBox="1"/>
          <p:nvPr/>
        </p:nvSpPr>
        <p:spPr>
          <a:xfrm>
            <a:off x="7242048" y="1719072"/>
            <a:ext cx="4297680" cy="603504"/>
          </a:xfrm>
          <a:prstGeom prst="rect">
            <a:avLst/>
          </a:prstGeom>
          <a:noFill/>
          <a:ln/>
        </p:spPr>
        <p:txBody>
          <a:bodyPr wrap="square" lIns="0" tIns="0" rIns="0" bIns="0" rtlCol="0" anchor="t"/>
          <a:lstStyle/>
          <a:p>
            <a:pPr indent="0" marL="0">
              <a:buNone/>
            </a:pPr>
            <a:r>
              <a:rPr lang="en-US" sz="1200" dirty="0">
                <a:solidFill>
                  <a:srgbClr val="B4BCCE"/>
                </a:solidFill>
                <a:latin typeface="Nirmala UI" pitchFamily="34" charset="0"/>
                <a:ea typeface="Nirmala UI" pitchFamily="34" charset="-122"/>
                <a:cs typeface="Nirmala UI" pitchFamily="34" charset="-120"/>
              </a:rPr>
              <a:t>একটা uuid বানানো হয় — জব আর ডাটাবেজ লগের কমন আইডি</a:t>
            </a:r>
            <a:endParaRPr lang="en-US" sz="1200" dirty="0"/>
          </a:p>
        </p:txBody>
      </p:sp>
      <p:sp>
        <p:nvSpPr>
          <p:cNvPr id="17" name="Shape 15"/>
          <p:cNvSpPr/>
          <p:nvPr/>
        </p:nvSpPr>
        <p:spPr>
          <a:xfrm>
            <a:off x="6675120" y="2450592"/>
            <a:ext cx="420624" cy="292608"/>
          </a:xfrm>
          <a:prstGeom prst="roundRect">
            <a:avLst>
              <a:gd name="adj" fmla="val 15625"/>
            </a:avLst>
          </a:prstGeom>
          <a:solidFill>
            <a:srgbClr val="0C0F17"/>
          </a:solidFill>
          <a:ln w="12700">
            <a:solidFill>
              <a:srgbClr val="8A5F22"/>
            </a:solidFill>
            <a:prstDash val="solid"/>
          </a:ln>
        </p:spPr>
      </p:sp>
      <p:sp>
        <p:nvSpPr>
          <p:cNvPr id="18" name="Text 16"/>
          <p:cNvSpPr txBox="1"/>
          <p:nvPr/>
        </p:nvSpPr>
        <p:spPr>
          <a:xfrm>
            <a:off x="6675120" y="2487168"/>
            <a:ext cx="420624" cy="219456"/>
          </a:xfrm>
          <a:prstGeom prst="rect">
            <a:avLst/>
          </a:prstGeom>
          <a:noFill/>
          <a:ln/>
        </p:spPr>
        <p:txBody>
          <a:bodyPr wrap="square" lIns="0" tIns="0" rIns="0" bIns="0" rtlCol="0" anchor="ctr"/>
          <a:lstStyle/>
          <a:p>
            <a:pPr algn="ctr" indent="0" marL="0">
              <a:buNone/>
            </a:pPr>
            <a:r>
              <a:rPr lang="en-US" sz="950" dirty="0">
                <a:solidFill>
                  <a:srgbClr val="F5A63C"/>
                </a:solidFill>
                <a:latin typeface="Consolas" pitchFamily="34" charset="0"/>
                <a:ea typeface="Consolas" pitchFamily="34" charset="-122"/>
                <a:cs typeface="Consolas" pitchFamily="34" charset="-120"/>
              </a:rPr>
              <a:t>০২</a:t>
            </a:r>
            <a:endParaRPr lang="en-US" sz="950" dirty="0"/>
          </a:p>
        </p:txBody>
      </p:sp>
      <p:sp>
        <p:nvSpPr>
          <p:cNvPr id="19" name="Text 17"/>
          <p:cNvSpPr txBox="1"/>
          <p:nvPr/>
        </p:nvSpPr>
        <p:spPr>
          <a:xfrm>
            <a:off x="7242048" y="2432304"/>
            <a:ext cx="4297680" cy="603504"/>
          </a:xfrm>
          <a:prstGeom prst="rect">
            <a:avLst/>
          </a:prstGeom>
          <a:noFill/>
          <a:ln/>
        </p:spPr>
        <p:txBody>
          <a:bodyPr wrap="square" lIns="0" tIns="0" rIns="0" bIns="0" rtlCol="0" anchor="t"/>
          <a:lstStyle/>
          <a:p>
            <a:pPr indent="0" marL="0">
              <a:buNone/>
            </a:pPr>
            <a:r>
              <a:rPr lang="en-US" sz="1200" dirty="0">
                <a:solidFill>
                  <a:srgbClr val="B4BCCE"/>
                </a:solidFill>
                <a:latin typeface="Nirmala UI" pitchFamily="34" charset="0"/>
                <a:ea typeface="Nirmala UI" pitchFamily="34" charset="-122"/>
                <a:cs typeface="Nirmala UI" pitchFamily="34" charset="-120"/>
              </a:rPr>
              <a:t>জবটা Redis-এ কিউতে ঢুকে যায়, ডিস্কে টিকে থাকে</a:t>
            </a:r>
            <a:endParaRPr lang="en-US" sz="1200" dirty="0"/>
          </a:p>
        </p:txBody>
      </p:sp>
      <p:sp>
        <p:nvSpPr>
          <p:cNvPr id="20" name="Shape 18"/>
          <p:cNvSpPr/>
          <p:nvPr/>
        </p:nvSpPr>
        <p:spPr>
          <a:xfrm>
            <a:off x="6675120" y="3163824"/>
            <a:ext cx="420624" cy="292608"/>
          </a:xfrm>
          <a:prstGeom prst="roundRect">
            <a:avLst>
              <a:gd name="adj" fmla="val 15625"/>
            </a:avLst>
          </a:prstGeom>
          <a:solidFill>
            <a:srgbClr val="0C0F17"/>
          </a:solidFill>
          <a:ln w="12700">
            <a:solidFill>
              <a:srgbClr val="8A5F22"/>
            </a:solidFill>
            <a:prstDash val="solid"/>
          </a:ln>
        </p:spPr>
      </p:sp>
      <p:sp>
        <p:nvSpPr>
          <p:cNvPr id="21" name="Text 19"/>
          <p:cNvSpPr txBox="1"/>
          <p:nvPr/>
        </p:nvSpPr>
        <p:spPr>
          <a:xfrm>
            <a:off x="6675120" y="3200400"/>
            <a:ext cx="420624" cy="219456"/>
          </a:xfrm>
          <a:prstGeom prst="rect">
            <a:avLst/>
          </a:prstGeom>
          <a:noFill/>
          <a:ln/>
        </p:spPr>
        <p:txBody>
          <a:bodyPr wrap="square" lIns="0" tIns="0" rIns="0" bIns="0" rtlCol="0" anchor="ctr"/>
          <a:lstStyle/>
          <a:p>
            <a:pPr algn="ctr" indent="0" marL="0">
              <a:buNone/>
            </a:pPr>
            <a:r>
              <a:rPr lang="en-US" sz="950" dirty="0">
                <a:solidFill>
                  <a:srgbClr val="F5A63C"/>
                </a:solidFill>
                <a:latin typeface="Consolas" pitchFamily="34" charset="0"/>
                <a:ea typeface="Consolas" pitchFamily="34" charset="-122"/>
                <a:cs typeface="Consolas" pitchFamily="34" charset="-120"/>
              </a:rPr>
              <a:t>০৩</a:t>
            </a:r>
            <a:endParaRPr lang="en-US" sz="950" dirty="0"/>
          </a:p>
        </p:txBody>
      </p:sp>
      <p:sp>
        <p:nvSpPr>
          <p:cNvPr id="22" name="Text 20"/>
          <p:cNvSpPr txBox="1"/>
          <p:nvPr/>
        </p:nvSpPr>
        <p:spPr>
          <a:xfrm>
            <a:off x="7242048" y="3145536"/>
            <a:ext cx="4297680" cy="603504"/>
          </a:xfrm>
          <a:prstGeom prst="rect">
            <a:avLst/>
          </a:prstGeom>
          <a:noFill/>
          <a:ln/>
        </p:spPr>
        <p:txBody>
          <a:bodyPr wrap="square" lIns="0" tIns="0" rIns="0" bIns="0" rtlCol="0" anchor="t"/>
          <a:lstStyle/>
          <a:p>
            <a:pPr indent="0" marL="0">
              <a:buNone/>
            </a:pPr>
            <a:r>
              <a:rPr lang="en-US" sz="1200" dirty="0">
                <a:solidFill>
                  <a:srgbClr val="B4BCCE"/>
                </a:solidFill>
                <a:latin typeface="Nirmala UI" pitchFamily="34" charset="0"/>
                <a:ea typeface="Nirmala UI" pitchFamily="34" charset="-122"/>
                <a:cs typeface="Nirmala UI" pitchFamily="34" charset="-120"/>
              </a:rPr>
              <a:t>লগ রো তৈরি হয়, কাউন্টার শূন্য দিয়ে শুরু</a:t>
            </a:r>
            <a:endParaRPr lang="en-US" sz="1200" dirty="0"/>
          </a:p>
        </p:txBody>
      </p:sp>
      <p:sp>
        <p:nvSpPr>
          <p:cNvPr id="23" name="Shape 21"/>
          <p:cNvSpPr/>
          <p:nvPr/>
        </p:nvSpPr>
        <p:spPr>
          <a:xfrm>
            <a:off x="6675120" y="3877056"/>
            <a:ext cx="420624" cy="292608"/>
          </a:xfrm>
          <a:prstGeom prst="roundRect">
            <a:avLst>
              <a:gd name="adj" fmla="val 15625"/>
            </a:avLst>
          </a:prstGeom>
          <a:solidFill>
            <a:srgbClr val="0C0F17"/>
          </a:solidFill>
          <a:ln w="12700">
            <a:solidFill>
              <a:srgbClr val="8A5F22"/>
            </a:solidFill>
            <a:prstDash val="solid"/>
          </a:ln>
        </p:spPr>
      </p:sp>
      <p:sp>
        <p:nvSpPr>
          <p:cNvPr id="24" name="Text 22"/>
          <p:cNvSpPr txBox="1"/>
          <p:nvPr/>
        </p:nvSpPr>
        <p:spPr>
          <a:xfrm>
            <a:off x="6675120" y="3913632"/>
            <a:ext cx="420624" cy="219456"/>
          </a:xfrm>
          <a:prstGeom prst="rect">
            <a:avLst/>
          </a:prstGeom>
          <a:noFill/>
          <a:ln/>
        </p:spPr>
        <p:txBody>
          <a:bodyPr wrap="square" lIns="0" tIns="0" rIns="0" bIns="0" rtlCol="0" anchor="ctr"/>
          <a:lstStyle/>
          <a:p>
            <a:pPr algn="ctr" indent="0" marL="0">
              <a:buNone/>
            </a:pPr>
            <a:r>
              <a:rPr lang="en-US" sz="950" dirty="0">
                <a:solidFill>
                  <a:srgbClr val="F5A63C"/>
                </a:solidFill>
                <a:latin typeface="Consolas" pitchFamily="34" charset="0"/>
                <a:ea typeface="Consolas" pitchFamily="34" charset="-122"/>
                <a:cs typeface="Consolas" pitchFamily="34" charset="-120"/>
              </a:rPr>
              <a:t>০৪</a:t>
            </a:r>
            <a:endParaRPr lang="en-US" sz="950" dirty="0"/>
          </a:p>
        </p:txBody>
      </p:sp>
      <p:sp>
        <p:nvSpPr>
          <p:cNvPr id="25" name="Text 23"/>
          <p:cNvSpPr txBox="1"/>
          <p:nvPr/>
        </p:nvSpPr>
        <p:spPr>
          <a:xfrm>
            <a:off x="7242048" y="3858768"/>
            <a:ext cx="4297680" cy="603504"/>
          </a:xfrm>
          <a:prstGeom prst="rect">
            <a:avLst/>
          </a:prstGeom>
          <a:noFill/>
          <a:ln/>
        </p:spPr>
        <p:txBody>
          <a:bodyPr wrap="square" lIns="0" tIns="0" rIns="0" bIns="0" rtlCol="0" anchor="t"/>
          <a:lstStyle/>
          <a:p>
            <a:pPr indent="0" marL="0">
              <a:buNone/>
            </a:pPr>
            <a:r>
              <a:rPr lang="en-US" sz="1200" dirty="0">
                <a:solidFill>
                  <a:srgbClr val="B4BCCE"/>
                </a:solidFill>
                <a:latin typeface="Nirmala UI" pitchFamily="34" charset="0"/>
                <a:ea typeface="Nirmala UI" pitchFamily="34" charset="-122"/>
                <a:cs typeface="Nirmala UI" pitchFamily="34" charset="-120"/>
              </a:rPr>
              <a:t>অ্যাডমিন সাথে সাথে 200 OK পায় — কাজ এখনো শুরুই হয়নি</a:t>
            </a:r>
            <a:endParaRPr lang="en-US" sz="1200" dirty="0"/>
          </a:p>
        </p:txBody>
      </p:sp>
      <p:sp>
        <p:nvSpPr>
          <p:cNvPr id="26" name="Shape 24"/>
          <p:cNvSpPr/>
          <p:nvPr/>
        </p:nvSpPr>
        <p:spPr>
          <a:xfrm>
            <a:off x="6675120" y="4590288"/>
            <a:ext cx="420624" cy="292608"/>
          </a:xfrm>
          <a:prstGeom prst="roundRect">
            <a:avLst>
              <a:gd name="adj" fmla="val 15625"/>
            </a:avLst>
          </a:prstGeom>
          <a:solidFill>
            <a:srgbClr val="0C0F17"/>
          </a:solidFill>
          <a:ln w="12700">
            <a:solidFill>
              <a:srgbClr val="8A5F22"/>
            </a:solidFill>
            <a:prstDash val="solid"/>
          </a:ln>
        </p:spPr>
      </p:sp>
      <p:sp>
        <p:nvSpPr>
          <p:cNvPr id="27" name="Text 25"/>
          <p:cNvSpPr txBox="1"/>
          <p:nvPr/>
        </p:nvSpPr>
        <p:spPr>
          <a:xfrm>
            <a:off x="6675120" y="4626864"/>
            <a:ext cx="420624" cy="219456"/>
          </a:xfrm>
          <a:prstGeom prst="rect">
            <a:avLst/>
          </a:prstGeom>
          <a:noFill/>
          <a:ln/>
        </p:spPr>
        <p:txBody>
          <a:bodyPr wrap="square" lIns="0" tIns="0" rIns="0" bIns="0" rtlCol="0" anchor="ctr"/>
          <a:lstStyle/>
          <a:p>
            <a:pPr algn="ctr" indent="0" marL="0">
              <a:buNone/>
            </a:pPr>
            <a:r>
              <a:rPr lang="en-US" sz="950" dirty="0">
                <a:solidFill>
                  <a:srgbClr val="F5A63C"/>
                </a:solidFill>
                <a:latin typeface="Consolas" pitchFamily="34" charset="0"/>
                <a:ea typeface="Consolas" pitchFamily="34" charset="-122"/>
                <a:cs typeface="Consolas" pitchFamily="34" charset="-120"/>
              </a:rPr>
              <a:t>০৫</a:t>
            </a:r>
            <a:endParaRPr lang="en-US" sz="950" dirty="0"/>
          </a:p>
        </p:txBody>
      </p:sp>
      <p:sp>
        <p:nvSpPr>
          <p:cNvPr id="28" name="Text 26"/>
          <p:cNvSpPr txBox="1"/>
          <p:nvPr/>
        </p:nvSpPr>
        <p:spPr>
          <a:xfrm>
            <a:off x="7242048" y="4572000"/>
            <a:ext cx="4297680" cy="603504"/>
          </a:xfrm>
          <a:prstGeom prst="rect">
            <a:avLst/>
          </a:prstGeom>
          <a:noFill/>
          <a:ln/>
        </p:spPr>
        <p:txBody>
          <a:bodyPr wrap="square" lIns="0" tIns="0" rIns="0" bIns="0" rtlCol="0" anchor="t"/>
          <a:lstStyle/>
          <a:p>
            <a:pPr indent="0" marL="0">
              <a:buNone/>
            </a:pPr>
            <a:r>
              <a:rPr lang="en-US" sz="1200" dirty="0">
                <a:solidFill>
                  <a:srgbClr val="B4BCCE"/>
                </a:solidFill>
                <a:latin typeface="Nirmala UI" pitchFamily="34" charset="0"/>
                <a:ea typeface="Nirmala UI" pitchFamily="34" charset="-122"/>
                <a:cs typeface="Nirmala UI" pitchFamily="34" charset="-120"/>
              </a:rPr>
              <a:t>সার্ভার ক্র্যাশ করলেও জব Redis-এ বসে আছে, রিস্টার্টে নিজেই চলবে</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08</a:t>
            </a:r>
            <a:endParaRPr lang="en-US" sz="1000" dirty="0"/>
          </a:p>
        </p:txBody>
      </p:sp>
      <p:sp>
        <p:nvSpPr>
          <p:cNvPr id="3" name="Text 1"/>
          <p:cNvSpPr txBox="1"/>
          <p:nvPr/>
        </p:nvSpPr>
        <p:spPr>
          <a:xfrm>
            <a:off x="10088575" y="274320"/>
            <a:ext cx="187452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PUSH PIPELINE</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ধাপ ৩</a:t>
            </a:r>
            <a:endParaRPr lang="en-US" sz="1000" dirty="0"/>
          </a:p>
        </p:txBody>
      </p:sp>
      <p:sp>
        <p:nvSpPr>
          <p:cNvPr id="6" name="Text 4"/>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000" b="1" dirty="0">
                <a:solidFill>
                  <a:srgbClr val="E9EDF6"/>
                </a:solidFill>
                <a:latin typeface="Nirmala UI" pitchFamily="34" charset="0"/>
                <a:ea typeface="Nirmala UI" pitchFamily="34" charset="-122"/>
                <a:cs typeface="Nirmala UI" pitchFamily="34" charset="-120"/>
              </a:rPr>
              <a:t>দুইটা কিউ, দুইটা আলাদা ওয়ার্কার প্রসেস</a:t>
            </a:r>
            <a:endParaRPr lang="en-US" sz="3000" dirty="0"/>
          </a:p>
        </p:txBody>
      </p:sp>
      <p:sp>
        <p:nvSpPr>
          <p:cNvPr id="7" name="Shape 5"/>
          <p:cNvSpPr/>
          <p:nvPr/>
        </p:nvSpPr>
        <p:spPr>
          <a:xfrm>
            <a:off x="658368" y="1691640"/>
            <a:ext cx="5577840" cy="1143000"/>
          </a:xfrm>
          <a:prstGeom prst="roundRect">
            <a:avLst>
              <a:gd name="adj" fmla="val 4800"/>
            </a:avLst>
          </a:prstGeom>
          <a:solidFill>
            <a:srgbClr val="161B28"/>
          </a:solidFill>
          <a:ln w="12700">
            <a:solidFill>
              <a:srgbClr val="8A5F22"/>
            </a:solidFill>
            <a:prstDash val="solid"/>
          </a:ln>
        </p:spPr>
      </p:sp>
      <p:sp>
        <p:nvSpPr>
          <p:cNvPr id="8" name="Text 6"/>
          <p:cNvSpPr txBox="1"/>
          <p:nvPr/>
        </p:nvSpPr>
        <p:spPr>
          <a:xfrm>
            <a:off x="822960" y="1837944"/>
            <a:ext cx="5248656" cy="201168"/>
          </a:xfrm>
          <a:prstGeom prst="rect">
            <a:avLst/>
          </a:prstGeom>
          <a:noFill/>
          <a:ln/>
        </p:spPr>
        <p:txBody>
          <a:bodyPr wrap="square" lIns="0" tIns="0" rIns="0" bIns="0" rtlCol="0" anchor="ctr"/>
          <a:lstStyle/>
          <a:p>
            <a:pPr indent="0" marL="0">
              <a:buNone/>
            </a:pPr>
            <a:r>
              <a:rPr lang="en-US" sz="900" spc="150" kern="0" dirty="0">
                <a:solidFill>
                  <a:srgbClr val="F5A63C"/>
                </a:solidFill>
                <a:latin typeface="Consolas" pitchFamily="34" charset="0"/>
                <a:ea typeface="Consolas" pitchFamily="34" charset="-122"/>
                <a:cs typeface="Consolas" pitchFamily="34" charset="-120"/>
              </a:rPr>
              <a:t>txQueue</a:t>
            </a:r>
            <a:endParaRPr lang="en-US" sz="900" dirty="0"/>
          </a:p>
        </p:txBody>
      </p:sp>
      <p:sp>
        <p:nvSpPr>
          <p:cNvPr id="9" name="Text 7"/>
          <p:cNvSpPr txBox="1"/>
          <p:nvPr/>
        </p:nvSpPr>
        <p:spPr>
          <a:xfrm>
            <a:off x="822960" y="2075688"/>
            <a:ext cx="5248656" cy="384048"/>
          </a:xfrm>
          <a:prstGeom prst="rect">
            <a:avLst/>
          </a:prstGeom>
          <a:noFill/>
          <a:ln/>
        </p:spPr>
        <p:txBody>
          <a:bodyPr wrap="square" lIns="0" tIns="0" rIns="0" bIns="0" rtlCol="0" anchor="t"/>
          <a:lstStyle/>
          <a:p>
            <a:pPr indent="0" marL="0">
              <a:buNone/>
            </a:pPr>
            <a:r>
              <a:rPr lang="en-US" sz="1300" b="1" dirty="0">
                <a:solidFill>
                  <a:srgbClr val="E9EDF6"/>
                </a:solidFill>
                <a:latin typeface="Nirmala UI" pitchFamily="34" charset="0"/>
                <a:ea typeface="Nirmala UI" pitchFamily="34" charset="-122"/>
                <a:cs typeface="Nirmala UI" pitchFamily="34" charset="-120"/>
              </a:rPr>
              <a:t>এক ইউজার · অথবা সব ইউজার</a:t>
            </a:r>
            <a:endParaRPr lang="en-US" sz="1300" dirty="0"/>
          </a:p>
        </p:txBody>
      </p:sp>
      <p:sp>
        <p:nvSpPr>
          <p:cNvPr id="10" name="Text 8"/>
          <p:cNvSpPr txBox="1"/>
          <p:nvPr/>
        </p:nvSpPr>
        <p:spPr>
          <a:xfrm>
            <a:off x="822960" y="2459736"/>
            <a:ext cx="5248656" cy="320040"/>
          </a:xfrm>
          <a:prstGeom prst="rect">
            <a:avLst/>
          </a:prstGeom>
          <a:noFill/>
          <a:ln/>
        </p:spPr>
        <p:txBody>
          <a:bodyPr wrap="square" lIns="0" tIns="0" rIns="0" bIns="0" rtlCol="0" anchor="t"/>
          <a:lstStyle/>
          <a:p>
            <a:pPr indent="0" marL="0">
              <a:buNone/>
            </a:pPr>
            <a:r>
              <a:rPr lang="en-US" sz="1050" dirty="0">
                <a:solidFill>
                  <a:srgbClr val="B4BCCE"/>
                </a:solidFill>
                <a:latin typeface="Nirmala UI" pitchFamily="34" charset="0"/>
                <a:ea typeface="Nirmala UI" pitchFamily="34" charset="-122"/>
                <a:cs typeface="Nirmala UI" pitchFamily="34" charset="-120"/>
              </a:rPr>
              <a:t>backoff ১০s → ২০s → ৪০s · removeOnComplete ৫০০০</a:t>
            </a:r>
            <a:endParaRPr lang="en-US" sz="1050" dirty="0"/>
          </a:p>
        </p:txBody>
      </p:sp>
      <p:sp>
        <p:nvSpPr>
          <p:cNvPr id="11" name="Shape 9"/>
          <p:cNvSpPr/>
          <p:nvPr/>
        </p:nvSpPr>
        <p:spPr>
          <a:xfrm>
            <a:off x="658368" y="2971800"/>
            <a:ext cx="5577840" cy="1143000"/>
          </a:xfrm>
          <a:prstGeom prst="roundRect">
            <a:avLst>
              <a:gd name="adj" fmla="val 4800"/>
            </a:avLst>
          </a:prstGeom>
          <a:solidFill>
            <a:srgbClr val="161B28"/>
          </a:solidFill>
          <a:ln w="12700">
            <a:solidFill>
              <a:srgbClr val="1E6A66"/>
            </a:solidFill>
            <a:prstDash val="solid"/>
          </a:ln>
        </p:spPr>
      </p:sp>
      <p:sp>
        <p:nvSpPr>
          <p:cNvPr id="12" name="Text 10"/>
          <p:cNvSpPr txBox="1"/>
          <p:nvPr/>
        </p:nvSpPr>
        <p:spPr>
          <a:xfrm>
            <a:off x="822960" y="3118104"/>
            <a:ext cx="5248656" cy="201168"/>
          </a:xfrm>
          <a:prstGeom prst="rect">
            <a:avLst/>
          </a:prstGeom>
          <a:noFill/>
          <a:ln/>
        </p:spPr>
        <p:txBody>
          <a:bodyPr wrap="square" lIns="0" tIns="0" rIns="0" bIns="0" rtlCol="0" anchor="ctr"/>
          <a:lstStyle/>
          <a:p>
            <a:pPr indent="0" marL="0">
              <a:buNone/>
            </a:pPr>
            <a:r>
              <a:rPr lang="en-US" sz="900" spc="150" kern="0" dirty="0">
                <a:solidFill>
                  <a:srgbClr val="3FC9C0"/>
                </a:solidFill>
                <a:latin typeface="Consolas" pitchFamily="34" charset="0"/>
                <a:ea typeface="Consolas" pitchFamily="34" charset="-122"/>
                <a:cs typeface="Consolas" pitchFamily="34" charset="-120"/>
              </a:rPr>
              <a:t>campaignQueue</a:t>
            </a:r>
            <a:endParaRPr lang="en-US" sz="900" dirty="0"/>
          </a:p>
        </p:txBody>
      </p:sp>
      <p:sp>
        <p:nvSpPr>
          <p:cNvPr id="13" name="Text 11"/>
          <p:cNvSpPr txBox="1"/>
          <p:nvPr/>
        </p:nvSpPr>
        <p:spPr>
          <a:xfrm>
            <a:off x="822960" y="3355848"/>
            <a:ext cx="5248656" cy="384048"/>
          </a:xfrm>
          <a:prstGeom prst="rect">
            <a:avLst/>
          </a:prstGeom>
          <a:noFill/>
          <a:ln/>
        </p:spPr>
        <p:txBody>
          <a:bodyPr wrap="square" lIns="0" tIns="0" rIns="0" bIns="0" rtlCol="0" anchor="t"/>
          <a:lstStyle/>
          <a:p>
            <a:pPr indent="0" marL="0">
              <a:buNone/>
            </a:pPr>
            <a:r>
              <a:rPr lang="en-US" sz="1300" b="1" dirty="0">
                <a:solidFill>
                  <a:srgbClr val="E9EDF6"/>
                </a:solidFill>
                <a:latin typeface="Nirmala UI" pitchFamily="34" charset="0"/>
                <a:ea typeface="Nirmala UI" pitchFamily="34" charset="-122"/>
                <a:cs typeface="Nirmala UI" pitchFamily="34" charset="-120"/>
              </a:rPr>
              <a:t>কোর্স বা সাইকেল ভিত্তিক ব্রডকাস্ট</a:t>
            </a:r>
            <a:endParaRPr lang="en-US" sz="1300" dirty="0"/>
          </a:p>
        </p:txBody>
      </p:sp>
      <p:sp>
        <p:nvSpPr>
          <p:cNvPr id="14" name="Text 12"/>
          <p:cNvSpPr txBox="1"/>
          <p:nvPr/>
        </p:nvSpPr>
        <p:spPr>
          <a:xfrm>
            <a:off x="822960" y="3739896"/>
            <a:ext cx="5248656" cy="320040"/>
          </a:xfrm>
          <a:prstGeom prst="rect">
            <a:avLst/>
          </a:prstGeom>
          <a:noFill/>
          <a:ln/>
        </p:spPr>
        <p:txBody>
          <a:bodyPr wrap="square" lIns="0" tIns="0" rIns="0" bIns="0" rtlCol="0" anchor="t"/>
          <a:lstStyle/>
          <a:p>
            <a:pPr indent="0" marL="0">
              <a:buNone/>
            </a:pPr>
            <a:r>
              <a:rPr lang="en-US" sz="1050" dirty="0">
                <a:solidFill>
                  <a:srgbClr val="B4BCCE"/>
                </a:solidFill>
                <a:latin typeface="Nirmala UI" pitchFamily="34" charset="0"/>
                <a:ea typeface="Nirmala UI" pitchFamily="34" charset="-122"/>
                <a:cs typeface="Nirmala UI" pitchFamily="34" charset="-120"/>
              </a:rPr>
              <a:t>backoff ৬০s → ১২০s → ২৪০s · removeOnComplete ২০০০</a:t>
            </a:r>
            <a:endParaRPr lang="en-US" sz="1050" dirty="0"/>
          </a:p>
        </p:txBody>
      </p:sp>
      <p:sp>
        <p:nvSpPr>
          <p:cNvPr id="15" name="Shape 13"/>
          <p:cNvSpPr/>
          <p:nvPr/>
        </p:nvSpPr>
        <p:spPr>
          <a:xfrm>
            <a:off x="658368" y="4251960"/>
            <a:ext cx="5577840" cy="1371600"/>
          </a:xfrm>
          <a:prstGeom prst="roundRect">
            <a:avLst>
              <a:gd name="adj" fmla="val 4000"/>
            </a:avLst>
          </a:prstGeom>
          <a:solidFill>
            <a:srgbClr val="090C13"/>
          </a:solidFill>
          <a:ln w="12700">
            <a:solidFill>
              <a:srgbClr val="28303F"/>
            </a:solidFill>
            <a:prstDash val="solid"/>
          </a:ln>
        </p:spPr>
      </p:sp>
      <p:sp>
        <p:nvSpPr>
          <p:cNvPr id="16" name="Shape 14"/>
          <p:cNvSpPr/>
          <p:nvPr/>
        </p:nvSpPr>
        <p:spPr>
          <a:xfrm>
            <a:off x="658368" y="4306824"/>
            <a:ext cx="32004" cy="1261872"/>
          </a:xfrm>
          <a:prstGeom prst="rect">
            <a:avLst/>
          </a:prstGeom>
          <a:solidFill>
            <a:srgbClr val="3FC9C0"/>
          </a:solidFill>
          <a:ln/>
        </p:spPr>
      </p:sp>
      <p:sp>
        <p:nvSpPr>
          <p:cNvPr id="17" name="Text 15"/>
          <p:cNvSpPr txBox="1"/>
          <p:nvPr/>
        </p:nvSpPr>
        <p:spPr>
          <a:xfrm>
            <a:off x="859536" y="4398264"/>
            <a:ext cx="5212080" cy="1078992"/>
          </a:xfrm>
          <a:prstGeom prst="rect">
            <a:avLst/>
          </a:prstGeom>
          <a:noFill/>
          <a:ln/>
        </p:spPr>
        <p:txBody>
          <a:bodyPr wrap="square" lIns="0" tIns="0" rIns="0" bIns="0" rtlCol="0" anchor="t"/>
          <a:lstStyle/>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ecosystem.config.cjs — PM2</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name: "webapp-backend", instances: 6,</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exec_mode: "cluster"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name: "tx",      script: "worker.tx.js"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name: "campain", script: "worker.campaign.js" }</a:t>
            </a:r>
            <a:endParaRPr lang="en-US" sz="1000" dirty="0"/>
          </a:p>
        </p:txBody>
      </p:sp>
      <p:sp>
        <p:nvSpPr>
          <p:cNvPr id="18" name="Text 16"/>
          <p:cNvSpPr txBox="1"/>
          <p:nvPr/>
        </p:nvSpPr>
        <p:spPr>
          <a:xfrm>
            <a:off x="6675120" y="1737360"/>
            <a:ext cx="4846320" cy="384048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API আর ওয়ার্কার এক প্রসেসে নয় — ওয়ার্কার CPU খেলে ইউজারের রিকোয়েস্ট স্লো হবে না</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আলাদা কিউ কেন — ৫ লাখের ক্যাম্পেইন চললে একজনের চ্যাট নোটিফিকেশন যেন পেছনে আটকে না থাকে</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আলাদা backoff — ক্যাম্পেইন ফেল করলে ১ মিনিট পরে, ছোট জব ১০ সেকেন্ডেই</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concurrency ৩০ — এক ওয়ার্কার একসাথে ৩০টা জব ধরে</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স্কেল করা সহজ — pm2 scale campain 4</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09</a:t>
            </a:r>
            <a:endParaRPr lang="en-US" sz="1000" dirty="0"/>
          </a:p>
        </p:txBody>
      </p:sp>
      <p:sp>
        <p:nvSpPr>
          <p:cNvPr id="3" name="Text 1"/>
          <p:cNvSpPr txBox="1"/>
          <p:nvPr/>
        </p:nvSpPr>
        <p:spPr>
          <a:xfrm>
            <a:off x="10088575" y="274320"/>
            <a:ext cx="187452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PUSH PIPELINE</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ধাপ ৪</a:t>
            </a:r>
            <a:endParaRPr lang="en-US" sz="1000" dirty="0"/>
          </a:p>
        </p:txBody>
      </p:sp>
      <p:sp>
        <p:nvSpPr>
          <p:cNvPr id="6" name="Text 4"/>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000" b="1" dirty="0">
                <a:solidFill>
                  <a:srgbClr val="E9EDF6"/>
                </a:solidFill>
                <a:latin typeface="Nirmala UI" pitchFamily="34" charset="0"/>
                <a:ea typeface="Nirmala UI" pitchFamily="34" charset="-122"/>
                <a:cs typeface="Nirmala UI" pitchFamily="34" charset="-120"/>
              </a:rPr>
              <a:t>Cursor Pagination — OFFSET ব্যবহার করিনি</a:t>
            </a:r>
            <a:endParaRPr lang="en-US" sz="3000" dirty="0"/>
          </a:p>
        </p:txBody>
      </p:sp>
      <p:sp>
        <p:nvSpPr>
          <p:cNvPr id="7" name="Text 5"/>
          <p:cNvSpPr txBox="1"/>
          <p:nvPr/>
        </p:nvSpPr>
        <p:spPr>
          <a:xfrm>
            <a:off x="658368" y="1691640"/>
            <a:ext cx="5394960" cy="274320"/>
          </a:xfrm>
          <a:prstGeom prst="rect">
            <a:avLst/>
          </a:prstGeom>
          <a:noFill/>
          <a:ln/>
        </p:spPr>
        <p:txBody>
          <a:bodyPr wrap="square" lIns="0" tIns="0" rIns="0" bIns="0" rtlCol="0" anchor="ctr"/>
          <a:lstStyle/>
          <a:p>
            <a:pPr indent="0" marL="0">
              <a:buNone/>
            </a:pPr>
            <a:r>
              <a:rPr lang="en-US" sz="1100" dirty="0">
                <a:solidFill>
                  <a:srgbClr val="E2607A"/>
                </a:solidFill>
                <a:latin typeface="Consolas" pitchFamily="34" charset="0"/>
                <a:ea typeface="Consolas" pitchFamily="34" charset="-122"/>
                <a:cs typeface="Consolas" pitchFamily="34" charset="-120"/>
              </a:rPr>
              <a:t>skip: 495000   ✗   প্রতি পেজে আরও ধীর</a:t>
            </a:r>
            <a:endParaRPr lang="en-US" sz="1100" dirty="0"/>
          </a:p>
        </p:txBody>
      </p:sp>
      <p:sp>
        <p:nvSpPr>
          <p:cNvPr id="8" name="Shape 6"/>
          <p:cNvSpPr/>
          <p:nvPr/>
        </p:nvSpPr>
        <p:spPr>
          <a:xfrm>
            <a:off x="658368" y="2902306"/>
            <a:ext cx="566928" cy="115214"/>
          </a:xfrm>
          <a:prstGeom prst="rect">
            <a:avLst/>
          </a:prstGeom>
          <a:solidFill>
            <a:srgbClr val="E2607A"/>
          </a:solidFill>
          <a:ln w="12700">
            <a:solidFill>
              <a:srgbClr val="333333"/>
            </a:solidFill>
            <a:prstDash val="solid"/>
          </a:ln>
        </p:spPr>
      </p:sp>
      <p:sp>
        <p:nvSpPr>
          <p:cNvPr id="9" name="Shape 7"/>
          <p:cNvSpPr/>
          <p:nvPr/>
        </p:nvSpPr>
        <p:spPr>
          <a:xfrm>
            <a:off x="1335024" y="2806294"/>
            <a:ext cx="566928" cy="211226"/>
          </a:xfrm>
          <a:prstGeom prst="rect">
            <a:avLst/>
          </a:prstGeom>
          <a:solidFill>
            <a:srgbClr val="E2607A"/>
          </a:solidFill>
          <a:ln w="12700">
            <a:solidFill>
              <a:srgbClr val="333333"/>
            </a:solidFill>
            <a:prstDash val="solid"/>
          </a:ln>
        </p:spPr>
      </p:sp>
      <p:sp>
        <p:nvSpPr>
          <p:cNvPr id="10" name="Shape 8"/>
          <p:cNvSpPr/>
          <p:nvPr/>
        </p:nvSpPr>
        <p:spPr>
          <a:xfrm>
            <a:off x="2011680" y="2691079"/>
            <a:ext cx="566928" cy="326441"/>
          </a:xfrm>
          <a:prstGeom prst="rect">
            <a:avLst/>
          </a:prstGeom>
          <a:solidFill>
            <a:srgbClr val="E2607A"/>
          </a:solidFill>
          <a:ln w="12700">
            <a:solidFill>
              <a:srgbClr val="333333"/>
            </a:solidFill>
            <a:prstDash val="solid"/>
          </a:ln>
        </p:spPr>
      </p:sp>
      <p:sp>
        <p:nvSpPr>
          <p:cNvPr id="11" name="Shape 9"/>
          <p:cNvSpPr/>
          <p:nvPr/>
        </p:nvSpPr>
        <p:spPr>
          <a:xfrm>
            <a:off x="2688336" y="2566264"/>
            <a:ext cx="566928" cy="451256"/>
          </a:xfrm>
          <a:prstGeom prst="rect">
            <a:avLst/>
          </a:prstGeom>
          <a:solidFill>
            <a:srgbClr val="E2607A"/>
          </a:solidFill>
          <a:ln w="12700">
            <a:solidFill>
              <a:srgbClr val="333333"/>
            </a:solidFill>
            <a:prstDash val="solid"/>
          </a:ln>
        </p:spPr>
      </p:sp>
      <p:sp>
        <p:nvSpPr>
          <p:cNvPr id="12" name="Shape 10"/>
          <p:cNvSpPr/>
          <p:nvPr/>
        </p:nvSpPr>
        <p:spPr>
          <a:xfrm>
            <a:off x="3364992" y="2441448"/>
            <a:ext cx="566928" cy="576072"/>
          </a:xfrm>
          <a:prstGeom prst="rect">
            <a:avLst/>
          </a:prstGeom>
          <a:solidFill>
            <a:srgbClr val="E2607A"/>
          </a:solidFill>
          <a:ln w="12700">
            <a:solidFill>
              <a:srgbClr val="333333"/>
            </a:solidFill>
            <a:prstDash val="solid"/>
          </a:ln>
        </p:spPr>
      </p:sp>
      <p:sp>
        <p:nvSpPr>
          <p:cNvPr id="13" name="Shape 11"/>
          <p:cNvSpPr/>
          <p:nvPr/>
        </p:nvSpPr>
        <p:spPr>
          <a:xfrm>
            <a:off x="4041648" y="2307031"/>
            <a:ext cx="566928" cy="710489"/>
          </a:xfrm>
          <a:prstGeom prst="rect">
            <a:avLst/>
          </a:prstGeom>
          <a:solidFill>
            <a:srgbClr val="E2607A"/>
          </a:solidFill>
          <a:ln w="12700">
            <a:solidFill>
              <a:srgbClr val="333333"/>
            </a:solidFill>
            <a:prstDash val="solid"/>
          </a:ln>
        </p:spPr>
      </p:sp>
      <p:sp>
        <p:nvSpPr>
          <p:cNvPr id="14" name="Shape 12"/>
          <p:cNvSpPr/>
          <p:nvPr/>
        </p:nvSpPr>
        <p:spPr>
          <a:xfrm>
            <a:off x="4718304" y="2182216"/>
            <a:ext cx="566928" cy="835304"/>
          </a:xfrm>
          <a:prstGeom prst="rect">
            <a:avLst/>
          </a:prstGeom>
          <a:solidFill>
            <a:srgbClr val="E2607A"/>
          </a:solidFill>
          <a:ln w="12700">
            <a:solidFill>
              <a:srgbClr val="333333"/>
            </a:solidFill>
            <a:prstDash val="solid"/>
          </a:ln>
        </p:spPr>
      </p:sp>
      <p:sp>
        <p:nvSpPr>
          <p:cNvPr id="15" name="Shape 13"/>
          <p:cNvSpPr/>
          <p:nvPr/>
        </p:nvSpPr>
        <p:spPr>
          <a:xfrm>
            <a:off x="5394960" y="2057400"/>
            <a:ext cx="566928" cy="960120"/>
          </a:xfrm>
          <a:prstGeom prst="rect">
            <a:avLst/>
          </a:prstGeom>
          <a:solidFill>
            <a:srgbClr val="E2607A"/>
          </a:solidFill>
          <a:ln w="12700">
            <a:solidFill>
              <a:srgbClr val="333333"/>
            </a:solidFill>
            <a:prstDash val="solid"/>
          </a:ln>
        </p:spPr>
      </p:sp>
      <p:sp>
        <p:nvSpPr>
          <p:cNvPr id="16" name="Text 14"/>
          <p:cNvSpPr txBox="1"/>
          <p:nvPr/>
        </p:nvSpPr>
        <p:spPr>
          <a:xfrm>
            <a:off x="658368" y="3291840"/>
            <a:ext cx="5394960" cy="274320"/>
          </a:xfrm>
          <a:prstGeom prst="rect">
            <a:avLst/>
          </a:prstGeom>
          <a:noFill/>
          <a:ln/>
        </p:spPr>
        <p:txBody>
          <a:bodyPr wrap="square" lIns="0" tIns="0" rIns="0" bIns="0" rtlCol="0" anchor="ctr"/>
          <a:lstStyle/>
          <a:p>
            <a:pPr indent="0" marL="0">
              <a:buNone/>
            </a:pPr>
            <a:r>
              <a:rPr lang="en-US" sz="1100" dirty="0">
                <a:solidFill>
                  <a:srgbClr val="3FC9C0"/>
                </a:solidFill>
                <a:latin typeface="Consolas" pitchFamily="34" charset="0"/>
                <a:ea typeface="Consolas" pitchFamily="34" charset="-122"/>
                <a:cs typeface="Consolas" pitchFamily="34" charset="-120"/>
              </a:rPr>
              <a:t>cursor: { courseId_studentId }   ✓   প্রতি পেজ সমান দ্রুত</a:t>
            </a:r>
            <a:endParaRPr lang="en-US" sz="1100" dirty="0"/>
          </a:p>
        </p:txBody>
      </p:sp>
      <p:sp>
        <p:nvSpPr>
          <p:cNvPr id="17" name="Shape 15"/>
          <p:cNvSpPr/>
          <p:nvPr/>
        </p:nvSpPr>
        <p:spPr>
          <a:xfrm>
            <a:off x="658368" y="4435297"/>
            <a:ext cx="566928" cy="182423"/>
          </a:xfrm>
          <a:prstGeom prst="rect">
            <a:avLst/>
          </a:prstGeom>
          <a:solidFill>
            <a:srgbClr val="1E6A66"/>
          </a:solidFill>
          <a:ln w="12700">
            <a:solidFill>
              <a:srgbClr val="333333"/>
            </a:solidFill>
            <a:prstDash val="solid"/>
          </a:ln>
        </p:spPr>
      </p:sp>
      <p:sp>
        <p:nvSpPr>
          <p:cNvPr id="18" name="Shape 16"/>
          <p:cNvSpPr/>
          <p:nvPr/>
        </p:nvSpPr>
        <p:spPr>
          <a:xfrm>
            <a:off x="1335024" y="4425696"/>
            <a:ext cx="566928" cy="192024"/>
          </a:xfrm>
          <a:prstGeom prst="rect">
            <a:avLst/>
          </a:prstGeom>
          <a:solidFill>
            <a:srgbClr val="1E6A66"/>
          </a:solidFill>
          <a:ln w="12700">
            <a:solidFill>
              <a:srgbClr val="333333"/>
            </a:solidFill>
            <a:prstDash val="solid"/>
          </a:ln>
        </p:spPr>
      </p:sp>
      <p:sp>
        <p:nvSpPr>
          <p:cNvPr id="19" name="Shape 17"/>
          <p:cNvSpPr/>
          <p:nvPr/>
        </p:nvSpPr>
        <p:spPr>
          <a:xfrm>
            <a:off x="2011680" y="4435297"/>
            <a:ext cx="566928" cy="182423"/>
          </a:xfrm>
          <a:prstGeom prst="rect">
            <a:avLst/>
          </a:prstGeom>
          <a:solidFill>
            <a:srgbClr val="1E6A66"/>
          </a:solidFill>
          <a:ln w="12700">
            <a:solidFill>
              <a:srgbClr val="333333"/>
            </a:solidFill>
            <a:prstDash val="solid"/>
          </a:ln>
        </p:spPr>
      </p:sp>
      <p:sp>
        <p:nvSpPr>
          <p:cNvPr id="20" name="Shape 18"/>
          <p:cNvSpPr/>
          <p:nvPr/>
        </p:nvSpPr>
        <p:spPr>
          <a:xfrm>
            <a:off x="2688336" y="4416095"/>
            <a:ext cx="566928" cy="201625"/>
          </a:xfrm>
          <a:prstGeom prst="rect">
            <a:avLst/>
          </a:prstGeom>
          <a:solidFill>
            <a:srgbClr val="1E6A66"/>
          </a:solidFill>
          <a:ln w="12700">
            <a:solidFill>
              <a:srgbClr val="333333"/>
            </a:solidFill>
            <a:prstDash val="solid"/>
          </a:ln>
        </p:spPr>
      </p:sp>
      <p:sp>
        <p:nvSpPr>
          <p:cNvPr id="21" name="Shape 19"/>
          <p:cNvSpPr/>
          <p:nvPr/>
        </p:nvSpPr>
        <p:spPr>
          <a:xfrm>
            <a:off x="3364992" y="4435297"/>
            <a:ext cx="566928" cy="182423"/>
          </a:xfrm>
          <a:prstGeom prst="rect">
            <a:avLst/>
          </a:prstGeom>
          <a:solidFill>
            <a:srgbClr val="1E6A66"/>
          </a:solidFill>
          <a:ln w="12700">
            <a:solidFill>
              <a:srgbClr val="333333"/>
            </a:solidFill>
            <a:prstDash val="solid"/>
          </a:ln>
        </p:spPr>
      </p:sp>
      <p:sp>
        <p:nvSpPr>
          <p:cNvPr id="22" name="Shape 20"/>
          <p:cNvSpPr/>
          <p:nvPr/>
        </p:nvSpPr>
        <p:spPr>
          <a:xfrm>
            <a:off x="4041648" y="4425696"/>
            <a:ext cx="566928" cy="192024"/>
          </a:xfrm>
          <a:prstGeom prst="rect">
            <a:avLst/>
          </a:prstGeom>
          <a:solidFill>
            <a:srgbClr val="1E6A66"/>
          </a:solidFill>
          <a:ln w="12700">
            <a:solidFill>
              <a:srgbClr val="333333"/>
            </a:solidFill>
            <a:prstDash val="solid"/>
          </a:ln>
        </p:spPr>
      </p:sp>
      <p:sp>
        <p:nvSpPr>
          <p:cNvPr id="23" name="Shape 21"/>
          <p:cNvSpPr/>
          <p:nvPr/>
        </p:nvSpPr>
        <p:spPr>
          <a:xfrm>
            <a:off x="4718304" y="4425696"/>
            <a:ext cx="566928" cy="192024"/>
          </a:xfrm>
          <a:prstGeom prst="rect">
            <a:avLst/>
          </a:prstGeom>
          <a:solidFill>
            <a:srgbClr val="1E6A66"/>
          </a:solidFill>
          <a:ln w="12700">
            <a:solidFill>
              <a:srgbClr val="333333"/>
            </a:solidFill>
            <a:prstDash val="solid"/>
          </a:ln>
        </p:spPr>
      </p:sp>
      <p:sp>
        <p:nvSpPr>
          <p:cNvPr id="24" name="Shape 22"/>
          <p:cNvSpPr/>
          <p:nvPr/>
        </p:nvSpPr>
        <p:spPr>
          <a:xfrm>
            <a:off x="5394960" y="4435297"/>
            <a:ext cx="566928" cy="182423"/>
          </a:xfrm>
          <a:prstGeom prst="rect">
            <a:avLst/>
          </a:prstGeom>
          <a:solidFill>
            <a:srgbClr val="1E6A66"/>
          </a:solidFill>
          <a:ln w="12700">
            <a:solidFill>
              <a:srgbClr val="333333"/>
            </a:solidFill>
            <a:prstDash val="solid"/>
          </a:ln>
        </p:spPr>
      </p:sp>
      <p:sp>
        <p:nvSpPr>
          <p:cNvPr id="25" name="Text 23"/>
          <p:cNvSpPr txBox="1"/>
          <p:nvPr/>
        </p:nvSpPr>
        <p:spPr>
          <a:xfrm>
            <a:off x="658368" y="4800600"/>
            <a:ext cx="5394960" cy="137160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B4BCCE"/>
                </a:solidFill>
                <a:latin typeface="Nirmala UI" pitchFamily="34" charset="0"/>
                <a:ea typeface="Nirmala UI" pitchFamily="34" charset="-122"/>
                <a:cs typeface="Nirmala UI" pitchFamily="34" charset="-120"/>
              </a:rPr>
              <a:t>OFFSET মানে গোনা — Postgres ৪,৯৫,০০০ রো পড়ে, তারপর ফেলে দেয়</a:t>
            </a:r>
            <a:endParaRPr lang="en-US" sz="1100" dirty="0"/>
          </a:p>
          <a:p>
            <a:pPr marL="342900" indent="-342900">
              <a:spcAft>
                <a:spcPts val="600"/>
              </a:spcAft>
              <a:buSzPct val="100000"/>
              <a:buChar char="–"/>
            </a:pPr>
            <a:r>
              <a:rPr lang="en-US" sz="1100" dirty="0">
                <a:solidFill>
                  <a:srgbClr val="B4BCCE"/>
                </a:solidFill>
                <a:latin typeface="Nirmala UI" pitchFamily="34" charset="0"/>
                <a:ea typeface="Nirmala UI" pitchFamily="34" charset="-122"/>
                <a:cs typeface="Nirmala UI" pitchFamily="34" charset="-120"/>
              </a:rPr>
              <a:t>Cursor মানে লাফ — ইনডেক্সে সরাসরি ওই পয়েন্টে বসে</a:t>
            </a:r>
            <a:endParaRPr lang="en-US" sz="1100" dirty="0"/>
          </a:p>
          <a:p>
            <a:pPr marL="342900" indent="-342900">
              <a:spcAft>
                <a:spcPts val="600"/>
              </a:spcAft>
              <a:buSzPct val="100000"/>
              <a:buChar char="–"/>
            </a:pPr>
            <a:r>
              <a:rPr lang="en-US" sz="1100" dirty="0">
                <a:solidFill>
                  <a:srgbClr val="B4BCCE"/>
                </a:solidFill>
                <a:latin typeface="Nirmala UI" pitchFamily="34" charset="0"/>
                <a:ea typeface="Nirmala UI" pitchFamily="34" charset="-122"/>
                <a:cs typeface="Nirmala UI" pitchFamily="34" charset="-120"/>
              </a:rPr>
              <a:t>generator — মেমোরিতে একসাথে ৫০০০ আইডি, পুরো ৫ লাখ নয়</a:t>
            </a:r>
            <a:endParaRPr lang="en-US" sz="1100" dirty="0"/>
          </a:p>
        </p:txBody>
      </p:sp>
      <p:sp>
        <p:nvSpPr>
          <p:cNvPr id="26" name="Shape 24"/>
          <p:cNvSpPr/>
          <p:nvPr/>
        </p:nvSpPr>
        <p:spPr>
          <a:xfrm>
            <a:off x="6492240" y="1691640"/>
            <a:ext cx="5029200" cy="4206240"/>
          </a:xfrm>
          <a:prstGeom prst="roundRect">
            <a:avLst>
              <a:gd name="adj" fmla="val 1304"/>
            </a:avLst>
          </a:prstGeom>
          <a:solidFill>
            <a:srgbClr val="090C13"/>
          </a:solidFill>
          <a:ln w="12700">
            <a:solidFill>
              <a:srgbClr val="28303F"/>
            </a:solidFill>
            <a:prstDash val="solid"/>
          </a:ln>
        </p:spPr>
      </p:sp>
      <p:sp>
        <p:nvSpPr>
          <p:cNvPr id="27" name="Shape 25"/>
          <p:cNvSpPr/>
          <p:nvPr/>
        </p:nvSpPr>
        <p:spPr>
          <a:xfrm>
            <a:off x="6492240" y="1746504"/>
            <a:ext cx="32004" cy="4096512"/>
          </a:xfrm>
          <a:prstGeom prst="rect">
            <a:avLst/>
          </a:prstGeom>
          <a:solidFill>
            <a:srgbClr val="3FC9C0"/>
          </a:solidFill>
          <a:ln/>
        </p:spPr>
      </p:sp>
      <p:sp>
        <p:nvSpPr>
          <p:cNvPr id="28" name="Text 26"/>
          <p:cNvSpPr txBox="1"/>
          <p:nvPr/>
        </p:nvSpPr>
        <p:spPr>
          <a:xfrm>
            <a:off x="6693408" y="1837944"/>
            <a:ext cx="4663440" cy="3913632"/>
          </a:xfrm>
          <a:prstGeom prst="rect">
            <a:avLst/>
          </a:prstGeom>
          <a:noFill/>
          <a:ln/>
        </p:spPr>
        <p:txBody>
          <a:bodyPr wrap="square" lIns="0" tIns="0" rIns="0" bIns="0" rtlCol="0" anchor="t"/>
          <a:lstStyle/>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async function* courseStudentIdPages(</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courseId, pageSize = 5000</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let cursor = null;</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while (true)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const rows = await prisma.courseStudent</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.findMany({</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where: { courseId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orderBy: { studentId: "asc"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take: pageSize,</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...(cursor ?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cursor: { courseId_studentId: cursor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skip: 1</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 :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if (!rows.length) return;</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yield rows.map(r =&gt; r.studentId);</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cursor = { courseId,</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studentId: rows.at(-1).studentId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10</a:t>
            </a:r>
            <a:endParaRPr lang="en-US" sz="1000" dirty="0"/>
          </a:p>
        </p:txBody>
      </p:sp>
      <p:sp>
        <p:nvSpPr>
          <p:cNvPr id="3" name="Text 1"/>
          <p:cNvSpPr txBox="1"/>
          <p:nvPr/>
        </p:nvSpPr>
        <p:spPr>
          <a:xfrm>
            <a:off x="10088575" y="274320"/>
            <a:ext cx="187452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PUSH PIPELINE</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ধাপ ৫</a:t>
            </a:r>
            <a:endParaRPr lang="en-US" sz="1000" dirty="0"/>
          </a:p>
        </p:txBody>
      </p:sp>
      <p:sp>
        <p:nvSpPr>
          <p:cNvPr id="6" name="Text 4"/>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000" b="1" dirty="0">
                <a:solidFill>
                  <a:srgbClr val="E9EDF6"/>
                </a:solidFill>
                <a:latin typeface="Nirmala UI" pitchFamily="34" charset="0"/>
                <a:ea typeface="Nirmala UI" pitchFamily="34" charset="-122"/>
                <a:cs typeface="Nirmala UI" pitchFamily="34" charset="-120"/>
              </a:rPr>
              <a:t>৫০০-এর ব্যাচ — FCM-এর নিজের নিয়ম</a:t>
            </a:r>
            <a:endParaRPr lang="en-US" sz="3000" dirty="0"/>
          </a:p>
        </p:txBody>
      </p:sp>
      <p:sp>
        <p:nvSpPr>
          <p:cNvPr id="7" name="Shape 5"/>
          <p:cNvSpPr/>
          <p:nvPr/>
        </p:nvSpPr>
        <p:spPr>
          <a:xfrm>
            <a:off x="658368" y="1737360"/>
            <a:ext cx="1783080" cy="1097280"/>
          </a:xfrm>
          <a:prstGeom prst="roundRect">
            <a:avLst>
              <a:gd name="adj" fmla="val 5000"/>
            </a:avLst>
          </a:prstGeom>
          <a:solidFill>
            <a:srgbClr val="161B28"/>
          </a:solidFill>
          <a:ln w="12700">
            <a:solidFill>
              <a:srgbClr val="28303F"/>
            </a:solidFill>
            <a:prstDash val="solid"/>
          </a:ln>
        </p:spPr>
      </p:sp>
      <p:sp>
        <p:nvSpPr>
          <p:cNvPr id="8" name="Text 6"/>
          <p:cNvSpPr txBox="1"/>
          <p:nvPr/>
        </p:nvSpPr>
        <p:spPr>
          <a:xfrm>
            <a:off x="795528" y="1920240"/>
            <a:ext cx="1508760" cy="457200"/>
          </a:xfrm>
          <a:prstGeom prst="rect">
            <a:avLst/>
          </a:prstGeom>
          <a:noFill/>
          <a:ln/>
        </p:spPr>
        <p:txBody>
          <a:bodyPr wrap="square" lIns="0" tIns="0" rIns="0" bIns="0" rtlCol="0" anchor="ctr"/>
          <a:lstStyle/>
          <a:p>
            <a:pPr algn="ctr" indent="0" marL="0">
              <a:buNone/>
            </a:pPr>
            <a:r>
              <a:rPr lang="en-US" sz="1800" b="1" dirty="0">
                <a:solidFill>
                  <a:srgbClr val="F5A63C"/>
                </a:solidFill>
                <a:latin typeface="Consolas" pitchFamily="34" charset="0"/>
                <a:ea typeface="Consolas" pitchFamily="34" charset="-122"/>
                <a:cs typeface="Consolas" pitchFamily="34" charset="-120"/>
              </a:rPr>
              <a:t>৫,০০,০০০</a:t>
            </a:r>
            <a:endParaRPr lang="en-US" sz="1800" dirty="0"/>
          </a:p>
        </p:txBody>
      </p:sp>
      <p:sp>
        <p:nvSpPr>
          <p:cNvPr id="9" name="Text 7"/>
          <p:cNvSpPr txBox="1"/>
          <p:nvPr/>
        </p:nvSpPr>
        <p:spPr>
          <a:xfrm>
            <a:off x="795528" y="2395728"/>
            <a:ext cx="1508760" cy="274320"/>
          </a:xfrm>
          <a:prstGeom prst="rect">
            <a:avLst/>
          </a:prstGeom>
          <a:noFill/>
          <a:ln/>
        </p:spPr>
        <p:txBody>
          <a:bodyPr wrap="square" lIns="0" tIns="0" rIns="0" bIns="0" rtlCol="0" anchor="ctr"/>
          <a:lstStyle/>
          <a:p>
            <a:pPr algn="ctr" indent="0" marL="0">
              <a:buNone/>
            </a:pPr>
            <a:r>
              <a:rPr lang="en-US" sz="1050" dirty="0">
                <a:solidFill>
                  <a:srgbClr val="7E8798"/>
                </a:solidFill>
                <a:latin typeface="Nirmala UI" pitchFamily="34" charset="0"/>
                <a:ea typeface="Nirmala UI" pitchFamily="34" charset="-122"/>
                <a:cs typeface="Nirmala UI" pitchFamily="34" charset="-120"/>
              </a:rPr>
              <a:t>টোকেন</a:t>
            </a:r>
            <a:endParaRPr lang="en-US" sz="1050" dirty="0"/>
          </a:p>
        </p:txBody>
      </p:sp>
      <p:sp>
        <p:nvSpPr>
          <p:cNvPr id="10" name="Shape 8"/>
          <p:cNvSpPr/>
          <p:nvPr/>
        </p:nvSpPr>
        <p:spPr>
          <a:xfrm>
            <a:off x="2624328" y="1737360"/>
            <a:ext cx="1783080" cy="1097280"/>
          </a:xfrm>
          <a:prstGeom prst="roundRect">
            <a:avLst>
              <a:gd name="adj" fmla="val 5000"/>
            </a:avLst>
          </a:prstGeom>
          <a:solidFill>
            <a:srgbClr val="161B28"/>
          </a:solidFill>
          <a:ln w="12700">
            <a:solidFill>
              <a:srgbClr val="28303F"/>
            </a:solidFill>
            <a:prstDash val="solid"/>
          </a:ln>
        </p:spPr>
      </p:sp>
      <p:sp>
        <p:nvSpPr>
          <p:cNvPr id="11" name="Text 9"/>
          <p:cNvSpPr txBox="1"/>
          <p:nvPr/>
        </p:nvSpPr>
        <p:spPr>
          <a:xfrm>
            <a:off x="2761488" y="1920240"/>
            <a:ext cx="1508760" cy="457200"/>
          </a:xfrm>
          <a:prstGeom prst="rect">
            <a:avLst/>
          </a:prstGeom>
          <a:noFill/>
          <a:ln/>
        </p:spPr>
        <p:txBody>
          <a:bodyPr wrap="square" lIns="0" tIns="0" rIns="0" bIns="0" rtlCol="0" anchor="ctr"/>
          <a:lstStyle/>
          <a:p>
            <a:pPr algn="ctr" indent="0" marL="0">
              <a:buNone/>
            </a:pPr>
            <a:r>
              <a:rPr lang="en-US" sz="1800" b="1" dirty="0">
                <a:solidFill>
                  <a:srgbClr val="3FC9C0"/>
                </a:solidFill>
                <a:latin typeface="Consolas" pitchFamily="34" charset="0"/>
                <a:ea typeface="Consolas" pitchFamily="34" charset="-122"/>
                <a:cs typeface="Consolas" pitchFamily="34" charset="-120"/>
              </a:rPr>
              <a:t>÷ ৫০০</a:t>
            </a:r>
            <a:endParaRPr lang="en-US" sz="1800" dirty="0"/>
          </a:p>
        </p:txBody>
      </p:sp>
      <p:sp>
        <p:nvSpPr>
          <p:cNvPr id="12" name="Text 10"/>
          <p:cNvSpPr txBox="1"/>
          <p:nvPr/>
        </p:nvSpPr>
        <p:spPr>
          <a:xfrm>
            <a:off x="2761488" y="2395728"/>
            <a:ext cx="1508760" cy="274320"/>
          </a:xfrm>
          <a:prstGeom prst="rect">
            <a:avLst/>
          </a:prstGeom>
          <a:noFill/>
          <a:ln/>
        </p:spPr>
        <p:txBody>
          <a:bodyPr wrap="square" lIns="0" tIns="0" rIns="0" bIns="0" rtlCol="0" anchor="ctr"/>
          <a:lstStyle/>
          <a:p>
            <a:pPr algn="ctr" indent="0" marL="0">
              <a:buNone/>
            </a:pPr>
            <a:r>
              <a:rPr lang="en-US" sz="1050" dirty="0">
                <a:solidFill>
                  <a:srgbClr val="7E8798"/>
                </a:solidFill>
                <a:latin typeface="Nirmala UI" pitchFamily="34" charset="0"/>
                <a:ea typeface="Nirmala UI" pitchFamily="34" charset="-122"/>
                <a:cs typeface="Nirmala UI" pitchFamily="34" charset="-120"/>
              </a:rPr>
              <a:t>FCM লিমিট</a:t>
            </a:r>
            <a:endParaRPr lang="en-US" sz="1050" dirty="0"/>
          </a:p>
        </p:txBody>
      </p:sp>
      <p:sp>
        <p:nvSpPr>
          <p:cNvPr id="13" name="Shape 11"/>
          <p:cNvSpPr/>
          <p:nvPr/>
        </p:nvSpPr>
        <p:spPr>
          <a:xfrm>
            <a:off x="4590288" y="1737360"/>
            <a:ext cx="1783080" cy="1097280"/>
          </a:xfrm>
          <a:prstGeom prst="roundRect">
            <a:avLst>
              <a:gd name="adj" fmla="val 5000"/>
            </a:avLst>
          </a:prstGeom>
          <a:solidFill>
            <a:srgbClr val="161B28"/>
          </a:solidFill>
          <a:ln w="12700">
            <a:solidFill>
              <a:srgbClr val="28303F"/>
            </a:solidFill>
            <a:prstDash val="solid"/>
          </a:ln>
        </p:spPr>
      </p:sp>
      <p:sp>
        <p:nvSpPr>
          <p:cNvPr id="14" name="Text 12"/>
          <p:cNvSpPr txBox="1"/>
          <p:nvPr/>
        </p:nvSpPr>
        <p:spPr>
          <a:xfrm>
            <a:off x="4727448" y="1920240"/>
            <a:ext cx="1508760" cy="457200"/>
          </a:xfrm>
          <a:prstGeom prst="rect">
            <a:avLst/>
          </a:prstGeom>
          <a:noFill/>
          <a:ln/>
        </p:spPr>
        <p:txBody>
          <a:bodyPr wrap="square" lIns="0" tIns="0" rIns="0" bIns="0" rtlCol="0" anchor="ctr"/>
          <a:lstStyle/>
          <a:p>
            <a:pPr algn="ctr" indent="0" marL="0">
              <a:buNone/>
            </a:pPr>
            <a:r>
              <a:rPr lang="en-US" sz="1800" b="1" dirty="0">
                <a:solidFill>
                  <a:srgbClr val="7BD88F"/>
                </a:solidFill>
                <a:latin typeface="Consolas" pitchFamily="34" charset="0"/>
                <a:ea typeface="Consolas" pitchFamily="34" charset="-122"/>
                <a:cs typeface="Consolas" pitchFamily="34" charset="-120"/>
              </a:rPr>
              <a:t>= ১,০০০</a:t>
            </a:r>
            <a:endParaRPr lang="en-US" sz="1800" dirty="0"/>
          </a:p>
        </p:txBody>
      </p:sp>
      <p:sp>
        <p:nvSpPr>
          <p:cNvPr id="15" name="Text 13"/>
          <p:cNvSpPr txBox="1"/>
          <p:nvPr/>
        </p:nvSpPr>
        <p:spPr>
          <a:xfrm>
            <a:off x="4727448" y="2395728"/>
            <a:ext cx="1508760" cy="274320"/>
          </a:xfrm>
          <a:prstGeom prst="rect">
            <a:avLst/>
          </a:prstGeom>
          <a:noFill/>
          <a:ln/>
        </p:spPr>
        <p:txBody>
          <a:bodyPr wrap="square" lIns="0" tIns="0" rIns="0" bIns="0" rtlCol="0" anchor="ctr"/>
          <a:lstStyle/>
          <a:p>
            <a:pPr algn="ctr" indent="0" marL="0">
              <a:buNone/>
            </a:pPr>
            <a:r>
              <a:rPr lang="en-US" sz="1050" dirty="0">
                <a:solidFill>
                  <a:srgbClr val="7E8798"/>
                </a:solidFill>
                <a:latin typeface="Nirmala UI" pitchFamily="34" charset="0"/>
                <a:ea typeface="Nirmala UI" pitchFamily="34" charset="-122"/>
                <a:cs typeface="Nirmala UI" pitchFamily="34" charset="-120"/>
              </a:rPr>
              <a:t>API কল</a:t>
            </a:r>
            <a:endParaRPr lang="en-US" sz="1050" dirty="0"/>
          </a:p>
        </p:txBody>
      </p:sp>
      <p:sp>
        <p:nvSpPr>
          <p:cNvPr id="16" name="Text 14"/>
          <p:cNvSpPr txBox="1"/>
          <p:nvPr/>
        </p:nvSpPr>
        <p:spPr>
          <a:xfrm>
            <a:off x="658368" y="3108960"/>
            <a:ext cx="5577840" cy="237744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৫০০ হার্ড লিমিট — Firebase-এর নিয়ম, একটাও বেশি নয়</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sendEachForMulticast — প্রতিটা টোকেনের আলাদা রেজাল্ট ফেরত দেয়, তাই কোনটা ফেল করল জানা যায়</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notification নয়, data পেলোড — অ্যাপ ব্যাকগ্রাউন্ডে থাকলেও নোটিফিকেশন নিজের হাতে আঁকা যায়</a:t>
            </a:r>
            <a:endParaRPr lang="en-US" sz="1200" dirty="0"/>
          </a:p>
        </p:txBody>
      </p:sp>
      <p:sp>
        <p:nvSpPr>
          <p:cNvPr id="17" name="Shape 15"/>
          <p:cNvSpPr/>
          <p:nvPr/>
        </p:nvSpPr>
        <p:spPr>
          <a:xfrm>
            <a:off x="6492240" y="1737360"/>
            <a:ext cx="5029200" cy="3840480"/>
          </a:xfrm>
          <a:prstGeom prst="roundRect">
            <a:avLst>
              <a:gd name="adj" fmla="val 1429"/>
            </a:avLst>
          </a:prstGeom>
          <a:solidFill>
            <a:srgbClr val="090C13"/>
          </a:solidFill>
          <a:ln w="12700">
            <a:solidFill>
              <a:srgbClr val="28303F"/>
            </a:solidFill>
            <a:prstDash val="solid"/>
          </a:ln>
        </p:spPr>
      </p:sp>
      <p:sp>
        <p:nvSpPr>
          <p:cNvPr id="18" name="Shape 16"/>
          <p:cNvSpPr/>
          <p:nvPr/>
        </p:nvSpPr>
        <p:spPr>
          <a:xfrm>
            <a:off x="6492240" y="1792224"/>
            <a:ext cx="32004" cy="3730752"/>
          </a:xfrm>
          <a:prstGeom prst="rect">
            <a:avLst/>
          </a:prstGeom>
          <a:solidFill>
            <a:srgbClr val="F5A63C"/>
          </a:solidFill>
          <a:ln/>
        </p:spPr>
      </p:sp>
      <p:sp>
        <p:nvSpPr>
          <p:cNvPr id="19" name="Text 17"/>
          <p:cNvSpPr txBox="1"/>
          <p:nvPr/>
        </p:nvSpPr>
        <p:spPr>
          <a:xfrm>
            <a:off x="6693408" y="1883664"/>
            <a:ext cx="4663440" cy="3547872"/>
          </a:xfrm>
          <a:prstGeom prst="rect">
            <a:avLst/>
          </a:prstGeom>
          <a:noFill/>
          <a:ln/>
        </p:spPr>
        <p:txBody>
          <a:bodyPr wrap="square" lIns="0" tIns="0" rIns="0" bIns="0" rtlCol="0" anchor="t"/>
          <a:lstStyle/>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for (const part of chunk(tokens, 500))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const res = await admin.messaging()</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.sendEachForMulticast({</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tokens: part,</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data: { ...payload, deepLink,</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icon, badge, image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android: { priority: "high"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apns: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headers: { "apns-priority": "10"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webpush: { headers: { TTL: "300" }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a:t>
            </a:r>
            <a:endParaRPr lang="en-US" sz="1000" dirty="0"/>
          </a:p>
          <a:p>
            <a:pPr indent="0" marL="0">
              <a:lnSpc>
                <a:spcPts val="1550"/>
              </a:lnSpc>
              <a:buNone/>
            </a:pP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success += res.successCount;</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failure += res.failureCount;</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11</a:t>
            </a:r>
            <a:endParaRPr lang="en-US" sz="1000" dirty="0"/>
          </a:p>
        </p:txBody>
      </p:sp>
      <p:sp>
        <p:nvSpPr>
          <p:cNvPr id="3" name="Text 1"/>
          <p:cNvSpPr txBox="1"/>
          <p:nvPr/>
        </p:nvSpPr>
        <p:spPr>
          <a:xfrm>
            <a:off x="10088575" y="274320"/>
            <a:ext cx="187452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PUSH PIPELINE</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ধাপ ৬</a:t>
            </a:r>
            <a:endParaRPr lang="en-US" sz="1000" dirty="0"/>
          </a:p>
        </p:txBody>
      </p:sp>
      <p:sp>
        <p:nvSpPr>
          <p:cNvPr id="6" name="Text 4"/>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000" b="1" dirty="0">
                <a:solidFill>
                  <a:srgbClr val="E9EDF6"/>
                </a:solidFill>
                <a:latin typeface="Nirmala UI" pitchFamily="34" charset="0"/>
                <a:ea typeface="Nirmala UI" pitchFamily="34" charset="-122"/>
                <a:cs typeface="Nirmala UI" pitchFamily="34" charset="-120"/>
              </a:rPr>
              <a:t>থ্রটল — নিজেকেই গতি বেঁধে দেওয়া</a:t>
            </a:r>
            <a:endParaRPr lang="en-US" sz="3000" dirty="0"/>
          </a:p>
        </p:txBody>
      </p:sp>
      <p:sp>
        <p:nvSpPr>
          <p:cNvPr id="7" name="Shape 5"/>
          <p:cNvSpPr/>
          <p:nvPr/>
        </p:nvSpPr>
        <p:spPr>
          <a:xfrm>
            <a:off x="658368" y="1737360"/>
            <a:ext cx="5577840" cy="1737360"/>
          </a:xfrm>
          <a:prstGeom prst="roundRect">
            <a:avLst>
              <a:gd name="adj" fmla="val 3158"/>
            </a:avLst>
          </a:prstGeom>
          <a:solidFill>
            <a:srgbClr val="161B28"/>
          </a:solidFill>
          <a:ln w="12700">
            <a:solidFill>
              <a:srgbClr val="1E6A66"/>
            </a:solidFill>
            <a:prstDash val="solid"/>
          </a:ln>
        </p:spPr>
      </p:sp>
      <p:sp>
        <p:nvSpPr>
          <p:cNvPr id="8" name="Text 6"/>
          <p:cNvSpPr txBox="1"/>
          <p:nvPr/>
        </p:nvSpPr>
        <p:spPr>
          <a:xfrm>
            <a:off x="932688" y="2011680"/>
            <a:ext cx="5029200" cy="640080"/>
          </a:xfrm>
          <a:prstGeom prst="rect">
            <a:avLst/>
          </a:prstGeom>
          <a:noFill/>
          <a:ln/>
        </p:spPr>
        <p:txBody>
          <a:bodyPr wrap="square" lIns="0" tIns="0" rIns="0" bIns="0" rtlCol="0" anchor="ctr"/>
          <a:lstStyle/>
          <a:p>
            <a:pPr algn="ctr" indent="0" marL="0">
              <a:buNone/>
            </a:pPr>
            <a:r>
              <a:rPr lang="en-US" sz="3400" b="1" dirty="0">
                <a:solidFill>
                  <a:srgbClr val="3FC9C0"/>
                </a:solidFill>
                <a:latin typeface="Consolas" pitchFamily="34" charset="0"/>
                <a:ea typeface="Consolas" pitchFamily="34" charset="-122"/>
                <a:cs typeface="Consolas" pitchFamily="34" charset="-120"/>
              </a:rPr>
              <a:t>৫,০০০ / সেকেন্ড</a:t>
            </a:r>
            <a:endParaRPr lang="en-US" sz="3400" dirty="0"/>
          </a:p>
        </p:txBody>
      </p:sp>
      <p:sp>
        <p:nvSpPr>
          <p:cNvPr id="9" name="Text 7"/>
          <p:cNvSpPr txBox="1"/>
          <p:nvPr/>
        </p:nvSpPr>
        <p:spPr>
          <a:xfrm>
            <a:off x="932688" y="2743200"/>
            <a:ext cx="5029200" cy="365760"/>
          </a:xfrm>
          <a:prstGeom prst="rect">
            <a:avLst/>
          </a:prstGeom>
          <a:noFill/>
          <a:ln/>
        </p:spPr>
        <p:txBody>
          <a:bodyPr wrap="square" lIns="0" tIns="0" rIns="0" bIns="0" rtlCol="0" anchor="ctr"/>
          <a:lstStyle/>
          <a:p>
            <a:pPr algn="ctr" indent="0" marL="0">
              <a:buNone/>
            </a:pPr>
            <a:r>
              <a:rPr lang="en-US" sz="1200" dirty="0">
                <a:solidFill>
                  <a:srgbClr val="B4BCCE"/>
                </a:solidFill>
                <a:latin typeface="Nirmala UI" pitchFamily="34" charset="0"/>
                <a:ea typeface="Nirmala UI" pitchFamily="34" charset="-122"/>
                <a:cs typeface="Nirmala UI" pitchFamily="34" charset="-120"/>
              </a:rPr>
              <a:t>১০ ব্যাচ × ৫০০ টোকেন  →  ৫,০০,০০০ ÷ ৫,০০০ = ১০০ সেকেন্ড</a:t>
            </a:r>
            <a:endParaRPr lang="en-US" sz="1200" dirty="0"/>
          </a:p>
        </p:txBody>
      </p:sp>
      <p:sp>
        <p:nvSpPr>
          <p:cNvPr id="10" name="Shape 8"/>
          <p:cNvSpPr/>
          <p:nvPr/>
        </p:nvSpPr>
        <p:spPr>
          <a:xfrm>
            <a:off x="658368" y="3749040"/>
            <a:ext cx="5577840" cy="1828800"/>
          </a:xfrm>
          <a:prstGeom prst="roundRect">
            <a:avLst>
              <a:gd name="adj" fmla="val 3000"/>
            </a:avLst>
          </a:prstGeom>
          <a:solidFill>
            <a:srgbClr val="090C13"/>
          </a:solidFill>
          <a:ln w="12700">
            <a:solidFill>
              <a:srgbClr val="28303F"/>
            </a:solidFill>
            <a:prstDash val="solid"/>
          </a:ln>
        </p:spPr>
      </p:sp>
      <p:sp>
        <p:nvSpPr>
          <p:cNvPr id="11" name="Shape 9"/>
          <p:cNvSpPr/>
          <p:nvPr/>
        </p:nvSpPr>
        <p:spPr>
          <a:xfrm>
            <a:off x="658368" y="3803904"/>
            <a:ext cx="32004" cy="1719072"/>
          </a:xfrm>
          <a:prstGeom prst="rect">
            <a:avLst/>
          </a:prstGeom>
          <a:solidFill>
            <a:srgbClr val="3FC9C0"/>
          </a:solidFill>
          <a:ln/>
        </p:spPr>
      </p:sp>
      <p:sp>
        <p:nvSpPr>
          <p:cNvPr id="12" name="Text 10"/>
          <p:cNvSpPr txBox="1"/>
          <p:nvPr/>
        </p:nvSpPr>
        <p:spPr>
          <a:xfrm>
            <a:off x="859536" y="3895344"/>
            <a:ext cx="5212080" cy="1536192"/>
          </a:xfrm>
          <a:prstGeom prst="rect">
            <a:avLst/>
          </a:prstGeom>
          <a:noFill/>
          <a:ln/>
        </p:spPr>
        <p:txBody>
          <a:bodyPr wrap="square" lIns="0" tIns="0" rIns="0" bIns="0" rtlCol="0" anchor="t"/>
          <a:lstStyle/>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const throttle = createThrottle({</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maxBatchesPerSec: 10</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a:t>
            </a:r>
            <a:endParaRPr lang="en-US" sz="1000" dirty="0"/>
          </a:p>
          <a:p>
            <a:pPr indent="0" marL="0">
              <a:lnSpc>
                <a:spcPts val="1550"/>
              </a:lnSpc>
              <a:buNone/>
            </a:pP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for await (const ids of pager)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await throttle.wait();      // &lt;- speed limit</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await sendToTokens(tokens, msg);</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a:t>
            </a:r>
            <a:endParaRPr lang="en-US" sz="1000" dirty="0"/>
          </a:p>
        </p:txBody>
      </p:sp>
      <p:sp>
        <p:nvSpPr>
          <p:cNvPr id="13" name="Text 11"/>
          <p:cNvSpPr txBox="1"/>
          <p:nvPr/>
        </p:nvSpPr>
        <p:spPr>
          <a:xfrm>
            <a:off x="6675120" y="1783080"/>
            <a:ext cx="4846320" cy="365760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কেন নিজেকে থামানো — FCM-এর কোটা আছে, ছাড়িয়ে গেলে গুগল রিকোয়েস্ট ফেরত দেবে</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নিজের ডাটাবেজও বাঁচে — প্রতি ব্যাচের আগে টোকেন কোয়েরি হয়, একসাথে ছুটলে Postgres বসে যাবে</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হিসাবটা সহজ — ৫,০০,০০০ ÷ ৫,০০০ = ১০০ সেকেন্ডে পুরো ব্রডকাস্ট</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টিউন করা যায় — সার্ভার বড় হলে সংখ্যাটা বাড়িয়ে দিলেই সময় কমে</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12</a:t>
            </a:r>
            <a:endParaRPr lang="en-US" sz="1000" dirty="0"/>
          </a:p>
        </p:txBody>
      </p:sp>
      <p:sp>
        <p:nvSpPr>
          <p:cNvPr id="3" name="Text 1"/>
          <p:cNvSpPr txBox="1"/>
          <p:nvPr/>
        </p:nvSpPr>
        <p:spPr>
          <a:xfrm>
            <a:off x="10088575" y="274320"/>
            <a:ext cx="187452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PUSH PIPELINE</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ধাপ ৭ · সবচেয়ে জরুরি</a:t>
            </a:r>
            <a:endParaRPr lang="en-US" sz="1000" dirty="0"/>
          </a:p>
        </p:txBody>
      </p:sp>
      <p:sp>
        <p:nvSpPr>
          <p:cNvPr id="6" name="Text 4"/>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000" b="1" dirty="0">
                <a:solidFill>
                  <a:srgbClr val="E9EDF6"/>
                </a:solidFill>
                <a:latin typeface="Nirmala UI" pitchFamily="34" charset="0"/>
                <a:ea typeface="Nirmala UI" pitchFamily="34" charset="-122"/>
                <a:cs typeface="Nirmala UI" pitchFamily="34" charset="-120"/>
              </a:rPr>
              <a:t>এক নোটিফিকেশন দুইবার যাবে না</a:t>
            </a:r>
            <a:endParaRPr lang="en-US" sz="3000" dirty="0"/>
          </a:p>
        </p:txBody>
      </p:sp>
      <p:sp>
        <p:nvSpPr>
          <p:cNvPr id="7" name="Shape 5"/>
          <p:cNvSpPr/>
          <p:nvPr/>
        </p:nvSpPr>
        <p:spPr>
          <a:xfrm>
            <a:off x="658368" y="1783080"/>
            <a:ext cx="2651760" cy="438912"/>
          </a:xfrm>
          <a:prstGeom prst="roundRect">
            <a:avLst>
              <a:gd name="adj" fmla="val 12500"/>
            </a:avLst>
          </a:prstGeom>
          <a:solidFill>
            <a:srgbClr val="161B28"/>
          </a:solidFill>
          <a:ln w="12700">
            <a:solidFill>
              <a:srgbClr val="2E6B44"/>
            </a:solidFill>
            <a:prstDash val="solid"/>
          </a:ln>
        </p:spPr>
      </p:sp>
      <p:sp>
        <p:nvSpPr>
          <p:cNvPr id="8" name="Text 6"/>
          <p:cNvSpPr txBox="1"/>
          <p:nvPr/>
        </p:nvSpPr>
        <p:spPr>
          <a:xfrm>
            <a:off x="822960" y="1883664"/>
            <a:ext cx="2286000" cy="256032"/>
          </a:xfrm>
          <a:prstGeom prst="rect">
            <a:avLst/>
          </a:prstGeom>
          <a:noFill/>
          <a:ln/>
        </p:spPr>
        <p:txBody>
          <a:bodyPr wrap="square" lIns="0" tIns="0" rIns="0" bIns="0" rtlCol="0" anchor="ctr"/>
          <a:lstStyle/>
          <a:p>
            <a:pPr indent="0" marL="0">
              <a:buNone/>
            </a:pPr>
            <a:r>
              <a:rPr lang="en-US" sz="1150" dirty="0">
                <a:solidFill>
                  <a:srgbClr val="7BD88F"/>
                </a:solidFill>
                <a:latin typeface="Nirmala UI" pitchFamily="34" charset="0"/>
                <a:ea typeface="Nirmala UI" pitchFamily="34" charset="-122"/>
                <a:cs typeface="Nirmala UI" pitchFamily="34" charset="-120"/>
              </a:rPr>
              <a:t>অ্যাডমিনের ১ম ক্লিক</a:t>
            </a:r>
            <a:endParaRPr lang="en-US" sz="1150" dirty="0"/>
          </a:p>
        </p:txBody>
      </p:sp>
      <p:sp>
        <p:nvSpPr>
          <p:cNvPr id="9" name="Shape 7"/>
          <p:cNvSpPr/>
          <p:nvPr/>
        </p:nvSpPr>
        <p:spPr>
          <a:xfrm>
            <a:off x="3383280" y="1929384"/>
            <a:ext cx="274320" cy="146304"/>
          </a:xfrm>
          <a:prstGeom prst="rightArrow">
            <a:avLst/>
          </a:prstGeom>
          <a:solidFill>
            <a:srgbClr val="F5A63C"/>
          </a:solidFill>
          <a:ln w="12700">
            <a:solidFill>
              <a:srgbClr val="F5A63C"/>
            </a:solidFill>
            <a:prstDash val="solid"/>
          </a:ln>
        </p:spPr>
      </p:sp>
      <p:sp>
        <p:nvSpPr>
          <p:cNvPr id="10" name="Shape 8"/>
          <p:cNvSpPr/>
          <p:nvPr/>
        </p:nvSpPr>
        <p:spPr>
          <a:xfrm>
            <a:off x="658368" y="2350008"/>
            <a:ext cx="2651760" cy="438912"/>
          </a:xfrm>
          <a:prstGeom prst="roundRect">
            <a:avLst>
              <a:gd name="adj" fmla="val 12500"/>
            </a:avLst>
          </a:prstGeom>
          <a:solidFill>
            <a:srgbClr val="161B28"/>
          </a:solidFill>
          <a:ln w="12700">
            <a:solidFill>
              <a:srgbClr val="7A3448"/>
            </a:solidFill>
            <a:prstDash val="solid"/>
          </a:ln>
        </p:spPr>
      </p:sp>
      <p:sp>
        <p:nvSpPr>
          <p:cNvPr id="11" name="Text 9"/>
          <p:cNvSpPr txBox="1"/>
          <p:nvPr/>
        </p:nvSpPr>
        <p:spPr>
          <a:xfrm>
            <a:off x="822960" y="2450592"/>
            <a:ext cx="2286000" cy="256032"/>
          </a:xfrm>
          <a:prstGeom prst="rect">
            <a:avLst/>
          </a:prstGeom>
          <a:noFill/>
          <a:ln/>
        </p:spPr>
        <p:txBody>
          <a:bodyPr wrap="square" lIns="0" tIns="0" rIns="0" bIns="0" rtlCol="0" anchor="ctr"/>
          <a:lstStyle/>
          <a:p>
            <a:pPr indent="0" marL="0">
              <a:buNone/>
            </a:pPr>
            <a:r>
              <a:rPr lang="en-US" sz="1150" dirty="0">
                <a:solidFill>
                  <a:srgbClr val="E2607A"/>
                </a:solidFill>
                <a:latin typeface="Nirmala UI" pitchFamily="34" charset="0"/>
                <a:ea typeface="Nirmala UI" pitchFamily="34" charset="-122"/>
                <a:cs typeface="Nirmala UI" pitchFamily="34" charset="-120"/>
              </a:rPr>
              <a:t>২য় ক্লিক (ভুলে)</a:t>
            </a:r>
            <a:endParaRPr lang="en-US" sz="1150" dirty="0"/>
          </a:p>
        </p:txBody>
      </p:sp>
      <p:sp>
        <p:nvSpPr>
          <p:cNvPr id="12" name="Shape 10"/>
          <p:cNvSpPr/>
          <p:nvPr/>
        </p:nvSpPr>
        <p:spPr>
          <a:xfrm>
            <a:off x="3383280" y="2496312"/>
            <a:ext cx="274320" cy="146304"/>
          </a:xfrm>
          <a:prstGeom prst="rightArrow">
            <a:avLst/>
          </a:prstGeom>
          <a:solidFill>
            <a:srgbClr val="F5A63C"/>
          </a:solidFill>
          <a:ln w="12700">
            <a:solidFill>
              <a:srgbClr val="F5A63C"/>
            </a:solidFill>
            <a:prstDash val="solid"/>
          </a:ln>
        </p:spPr>
      </p:sp>
      <p:sp>
        <p:nvSpPr>
          <p:cNvPr id="13" name="Shape 11"/>
          <p:cNvSpPr/>
          <p:nvPr/>
        </p:nvSpPr>
        <p:spPr>
          <a:xfrm>
            <a:off x="658368" y="2916936"/>
            <a:ext cx="2651760" cy="438912"/>
          </a:xfrm>
          <a:prstGeom prst="roundRect">
            <a:avLst>
              <a:gd name="adj" fmla="val 12500"/>
            </a:avLst>
          </a:prstGeom>
          <a:solidFill>
            <a:srgbClr val="161B28"/>
          </a:solidFill>
          <a:ln w="12700">
            <a:solidFill>
              <a:srgbClr val="7A3448"/>
            </a:solidFill>
            <a:prstDash val="solid"/>
          </a:ln>
        </p:spPr>
      </p:sp>
      <p:sp>
        <p:nvSpPr>
          <p:cNvPr id="14" name="Text 12"/>
          <p:cNvSpPr txBox="1"/>
          <p:nvPr/>
        </p:nvSpPr>
        <p:spPr>
          <a:xfrm>
            <a:off x="822960" y="3017520"/>
            <a:ext cx="2286000" cy="256032"/>
          </a:xfrm>
          <a:prstGeom prst="rect">
            <a:avLst/>
          </a:prstGeom>
          <a:noFill/>
          <a:ln/>
        </p:spPr>
        <p:txBody>
          <a:bodyPr wrap="square" lIns="0" tIns="0" rIns="0" bIns="0" rtlCol="0" anchor="ctr"/>
          <a:lstStyle/>
          <a:p>
            <a:pPr indent="0" marL="0">
              <a:buNone/>
            </a:pPr>
            <a:r>
              <a:rPr lang="en-US" sz="1150" dirty="0">
                <a:solidFill>
                  <a:srgbClr val="E2607A"/>
                </a:solidFill>
                <a:latin typeface="Nirmala UI" pitchFamily="34" charset="0"/>
                <a:ea typeface="Nirmala UI" pitchFamily="34" charset="-122"/>
                <a:cs typeface="Nirmala UI" pitchFamily="34" charset="-120"/>
              </a:rPr>
              <a:t>BullMQ রিট্রাই</a:t>
            </a:r>
            <a:endParaRPr lang="en-US" sz="1150" dirty="0"/>
          </a:p>
        </p:txBody>
      </p:sp>
      <p:sp>
        <p:nvSpPr>
          <p:cNvPr id="15" name="Shape 13"/>
          <p:cNvSpPr/>
          <p:nvPr/>
        </p:nvSpPr>
        <p:spPr>
          <a:xfrm>
            <a:off x="3383280" y="3063240"/>
            <a:ext cx="274320" cy="146304"/>
          </a:xfrm>
          <a:prstGeom prst="rightArrow">
            <a:avLst/>
          </a:prstGeom>
          <a:solidFill>
            <a:srgbClr val="F5A63C"/>
          </a:solidFill>
          <a:ln w="12700">
            <a:solidFill>
              <a:srgbClr val="F5A63C"/>
            </a:solidFill>
            <a:prstDash val="solid"/>
          </a:ln>
        </p:spPr>
      </p:sp>
      <p:sp>
        <p:nvSpPr>
          <p:cNvPr id="16" name="Shape 14"/>
          <p:cNvSpPr/>
          <p:nvPr/>
        </p:nvSpPr>
        <p:spPr>
          <a:xfrm>
            <a:off x="658368" y="3483864"/>
            <a:ext cx="2651760" cy="438912"/>
          </a:xfrm>
          <a:prstGeom prst="roundRect">
            <a:avLst>
              <a:gd name="adj" fmla="val 12500"/>
            </a:avLst>
          </a:prstGeom>
          <a:solidFill>
            <a:srgbClr val="161B28"/>
          </a:solidFill>
          <a:ln w="12700">
            <a:solidFill>
              <a:srgbClr val="7A3448"/>
            </a:solidFill>
            <a:prstDash val="solid"/>
          </a:ln>
        </p:spPr>
      </p:sp>
      <p:sp>
        <p:nvSpPr>
          <p:cNvPr id="17" name="Text 15"/>
          <p:cNvSpPr txBox="1"/>
          <p:nvPr/>
        </p:nvSpPr>
        <p:spPr>
          <a:xfrm>
            <a:off x="822960" y="3584448"/>
            <a:ext cx="2286000" cy="256032"/>
          </a:xfrm>
          <a:prstGeom prst="rect">
            <a:avLst/>
          </a:prstGeom>
          <a:noFill/>
          <a:ln/>
        </p:spPr>
        <p:txBody>
          <a:bodyPr wrap="square" lIns="0" tIns="0" rIns="0" bIns="0" rtlCol="0" anchor="ctr"/>
          <a:lstStyle/>
          <a:p>
            <a:pPr indent="0" marL="0">
              <a:buNone/>
            </a:pPr>
            <a:r>
              <a:rPr lang="en-US" sz="1150" dirty="0">
                <a:solidFill>
                  <a:srgbClr val="E2607A"/>
                </a:solidFill>
                <a:latin typeface="Nirmala UI" pitchFamily="34" charset="0"/>
                <a:ea typeface="Nirmala UI" pitchFamily="34" charset="-122"/>
                <a:cs typeface="Nirmala UI" pitchFamily="34" charset="-120"/>
              </a:rPr>
              <a:t>২য় ওয়ার্কার</a:t>
            </a:r>
            <a:endParaRPr lang="en-US" sz="1150" dirty="0"/>
          </a:p>
        </p:txBody>
      </p:sp>
      <p:sp>
        <p:nvSpPr>
          <p:cNvPr id="18" name="Shape 16"/>
          <p:cNvSpPr/>
          <p:nvPr/>
        </p:nvSpPr>
        <p:spPr>
          <a:xfrm>
            <a:off x="3383280" y="3630168"/>
            <a:ext cx="274320" cy="146304"/>
          </a:xfrm>
          <a:prstGeom prst="rightArrow">
            <a:avLst/>
          </a:prstGeom>
          <a:solidFill>
            <a:srgbClr val="F5A63C"/>
          </a:solidFill>
          <a:ln w="12700">
            <a:solidFill>
              <a:srgbClr val="F5A63C"/>
            </a:solidFill>
            <a:prstDash val="solid"/>
          </a:ln>
        </p:spPr>
      </p:sp>
      <p:sp>
        <p:nvSpPr>
          <p:cNvPr id="19" name="Shape 17"/>
          <p:cNvSpPr/>
          <p:nvPr/>
        </p:nvSpPr>
        <p:spPr>
          <a:xfrm>
            <a:off x="3931920" y="2240280"/>
            <a:ext cx="2103120" cy="1280160"/>
          </a:xfrm>
          <a:prstGeom prst="roundRect">
            <a:avLst>
              <a:gd name="adj" fmla="val 4286"/>
            </a:avLst>
          </a:prstGeom>
          <a:solidFill>
            <a:srgbClr val="161B28"/>
          </a:solidFill>
          <a:ln w="12700">
            <a:solidFill>
              <a:srgbClr val="1E6A66"/>
            </a:solidFill>
            <a:prstDash val="solid"/>
          </a:ln>
        </p:spPr>
      </p:sp>
      <p:sp>
        <p:nvSpPr>
          <p:cNvPr id="20" name="Text 18"/>
          <p:cNvSpPr txBox="1"/>
          <p:nvPr/>
        </p:nvSpPr>
        <p:spPr>
          <a:xfrm>
            <a:off x="4023360" y="2468880"/>
            <a:ext cx="1920240" cy="457200"/>
          </a:xfrm>
          <a:prstGeom prst="rect">
            <a:avLst/>
          </a:prstGeom>
          <a:noFill/>
          <a:ln/>
        </p:spPr>
        <p:txBody>
          <a:bodyPr wrap="square" lIns="0" tIns="0" rIns="0" bIns="0" rtlCol="0" anchor="ctr"/>
          <a:lstStyle/>
          <a:p>
            <a:pPr algn="ctr" indent="0" marL="0">
              <a:buNone/>
            </a:pPr>
            <a:r>
              <a:rPr lang="en-US" sz="2400" b="1" dirty="0">
                <a:solidFill>
                  <a:srgbClr val="3FC9C0"/>
                </a:solidFill>
                <a:latin typeface="Consolas" pitchFamily="34" charset="0"/>
                <a:ea typeface="Consolas" pitchFamily="34" charset="-122"/>
                <a:cs typeface="Consolas" pitchFamily="34" charset="-120"/>
              </a:rPr>
              <a:t>SET NX</a:t>
            </a:r>
            <a:endParaRPr lang="en-US" sz="2400" dirty="0"/>
          </a:p>
        </p:txBody>
      </p:sp>
      <p:sp>
        <p:nvSpPr>
          <p:cNvPr id="21" name="Text 19"/>
          <p:cNvSpPr txBox="1"/>
          <p:nvPr/>
        </p:nvSpPr>
        <p:spPr>
          <a:xfrm>
            <a:off x="4023360" y="2971800"/>
            <a:ext cx="1920240" cy="274320"/>
          </a:xfrm>
          <a:prstGeom prst="rect">
            <a:avLst/>
          </a:prstGeom>
          <a:noFill/>
          <a:ln/>
        </p:spPr>
        <p:txBody>
          <a:bodyPr wrap="square" lIns="0" tIns="0" rIns="0" bIns="0" rtlCol="0" anchor="ctr"/>
          <a:lstStyle/>
          <a:p>
            <a:pPr algn="ctr" indent="0" marL="0">
              <a:buNone/>
            </a:pPr>
            <a:r>
              <a:rPr lang="en-US" sz="1000" dirty="0">
                <a:solidFill>
                  <a:srgbClr val="7E8798"/>
                </a:solidFill>
                <a:latin typeface="Consolas" pitchFamily="34" charset="0"/>
                <a:ea typeface="Consolas" pitchFamily="34" charset="-122"/>
                <a:cs typeface="Consolas" pitchFamily="34" charset="-120"/>
              </a:rPr>
              <a:t>Redis · atomic</a:t>
            </a:r>
            <a:endParaRPr lang="en-US" sz="1000" dirty="0"/>
          </a:p>
        </p:txBody>
      </p:sp>
      <p:sp>
        <p:nvSpPr>
          <p:cNvPr id="22" name="Text 20"/>
          <p:cNvSpPr txBox="1"/>
          <p:nvPr/>
        </p:nvSpPr>
        <p:spPr>
          <a:xfrm>
            <a:off x="658368" y="4343400"/>
            <a:ext cx="5577840" cy="1737360"/>
          </a:xfrm>
          <a:prstGeom prst="rect">
            <a:avLst/>
          </a:prstGeom>
          <a:noFill/>
          <a:ln/>
        </p:spPr>
        <p:txBody>
          <a:bodyPr wrap="square" lIns="0" tIns="0" rIns="0" bIns="0" rtlCol="0" anchor="t"/>
          <a:lstStyle/>
          <a:p>
            <a:pPr marL="342900" indent="-342900">
              <a:spcAft>
                <a:spcPts val="900"/>
              </a:spcAft>
              <a:buSzPct val="100000"/>
              <a:buChar char="–"/>
            </a:pPr>
            <a:r>
              <a:rPr lang="en-US" sz="1150" dirty="0">
                <a:solidFill>
                  <a:srgbClr val="B4BCCE"/>
                </a:solidFill>
                <a:latin typeface="Nirmala UI" pitchFamily="34" charset="0"/>
                <a:ea typeface="Nirmala UI" pitchFamily="34" charset="-122"/>
                <a:cs typeface="Nirmala UI" pitchFamily="34" charset="-120"/>
              </a:rPr>
              <a:t>দুই স্তরের সুরক্ষা — dedup কিউতে ঢোকার আগে, lock প্রসেস করার আগে</a:t>
            </a:r>
            <a:endParaRPr lang="en-US" sz="1150" dirty="0"/>
          </a:p>
          <a:p>
            <a:pPr marL="342900" indent="-342900">
              <a:spcAft>
                <a:spcPts val="900"/>
              </a:spcAft>
              <a:buSzPct val="100000"/>
              <a:buChar char="–"/>
            </a:pPr>
            <a:r>
              <a:rPr lang="en-US" sz="1150" dirty="0">
                <a:solidFill>
                  <a:srgbClr val="B4BCCE"/>
                </a:solidFill>
                <a:latin typeface="Nirmala UI" pitchFamily="34" charset="0"/>
                <a:ea typeface="Nirmala UI" pitchFamily="34" charset="-122"/>
                <a:cs typeface="Nirmala UI" pitchFamily="34" charset="-120"/>
              </a:rPr>
              <a:t>ভুল করলে কী হতো — ৫ লাখ মানুষ একই মেসেজ দুইবার পেত</a:t>
            </a:r>
            <a:endParaRPr lang="en-US" sz="1150" dirty="0"/>
          </a:p>
        </p:txBody>
      </p:sp>
      <p:sp>
        <p:nvSpPr>
          <p:cNvPr id="23" name="Shape 21"/>
          <p:cNvSpPr/>
          <p:nvPr/>
        </p:nvSpPr>
        <p:spPr>
          <a:xfrm>
            <a:off x="6492240" y="1783080"/>
            <a:ext cx="5029200" cy="3200400"/>
          </a:xfrm>
          <a:prstGeom prst="roundRect">
            <a:avLst>
              <a:gd name="adj" fmla="val 1714"/>
            </a:avLst>
          </a:prstGeom>
          <a:solidFill>
            <a:srgbClr val="090C13"/>
          </a:solidFill>
          <a:ln w="12700">
            <a:solidFill>
              <a:srgbClr val="28303F"/>
            </a:solidFill>
            <a:prstDash val="solid"/>
          </a:ln>
        </p:spPr>
      </p:sp>
      <p:sp>
        <p:nvSpPr>
          <p:cNvPr id="24" name="Shape 22"/>
          <p:cNvSpPr/>
          <p:nvPr/>
        </p:nvSpPr>
        <p:spPr>
          <a:xfrm>
            <a:off x="6492240" y="1837944"/>
            <a:ext cx="32004" cy="3090672"/>
          </a:xfrm>
          <a:prstGeom prst="rect">
            <a:avLst/>
          </a:prstGeom>
          <a:solidFill>
            <a:srgbClr val="3FC9C0"/>
          </a:solidFill>
          <a:ln/>
        </p:spPr>
      </p:sp>
      <p:sp>
        <p:nvSpPr>
          <p:cNvPr id="25" name="Text 23"/>
          <p:cNvSpPr txBox="1"/>
          <p:nvPr/>
        </p:nvSpPr>
        <p:spPr>
          <a:xfrm>
            <a:off x="6693408" y="1929384"/>
            <a:ext cx="4663440" cy="2907792"/>
          </a:xfrm>
          <a:prstGeom prst="rect">
            <a:avLst/>
          </a:prstGeom>
          <a:noFill/>
          <a:ln/>
        </p:spPr>
        <p:txBody>
          <a:bodyPr wrap="square" lIns="0" tIns="0" rIns="0" bIns="0" rtlCol="0" anchor="t"/>
          <a:lstStyle/>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same event never enqueues twice</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export async function dedupOnce(key, ttl = 900)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const ok = await redis.set(</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`dedup:${key}`, "1", "NX", "EX", ttl);</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return ok === "OK";</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a:t>
            </a:r>
            <a:endParaRPr lang="en-US" sz="1000" dirty="0"/>
          </a:p>
          <a:p>
            <a:pPr indent="0" marL="0">
              <a:lnSpc>
                <a:spcPts val="1550"/>
              </a:lnSpc>
              <a:buNone/>
            </a:pP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two workers never grab the same job</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export async function acquireLock(id, ttl = 300)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return (await redis.set(</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`lock:notification:${id}`,</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"1", "NX", "EX", ttl)) === "OK";</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a:t>
            </a:r>
            <a:endParaRPr lang="en-US" sz="1000" dirty="0"/>
          </a:p>
        </p:txBody>
      </p:sp>
      <p:sp>
        <p:nvSpPr>
          <p:cNvPr id="26" name="Text 24"/>
          <p:cNvSpPr txBox="1"/>
          <p:nvPr/>
        </p:nvSpPr>
        <p:spPr>
          <a:xfrm>
            <a:off x="6492240" y="5120640"/>
            <a:ext cx="5029200" cy="128016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B4BCCE"/>
                </a:solidFill>
                <a:latin typeface="Nirmala UI" pitchFamily="34" charset="0"/>
                <a:ea typeface="Nirmala UI" pitchFamily="34" charset="-122"/>
                <a:cs typeface="Nirmala UI" pitchFamily="34" charset="-120"/>
              </a:rPr>
              <a:t>NX — key না থাকলেই লিখবে। Redis সিঙ্গেল থ্রেডেড, তাই পুরোপুরি atomic</a:t>
            </a:r>
            <a:endParaRPr lang="en-US" sz="1100" dirty="0"/>
          </a:p>
          <a:p>
            <a:pPr marL="342900" indent="-342900">
              <a:spcAft>
                <a:spcPts val="500"/>
              </a:spcAft>
              <a:buSzPct val="100000"/>
              <a:buChar char="–"/>
            </a:pPr>
            <a:r>
              <a:rPr lang="en-US" sz="1100" dirty="0">
                <a:solidFill>
                  <a:srgbClr val="B4BCCE"/>
                </a:solidFill>
                <a:latin typeface="Nirmala UI" pitchFamily="34" charset="0"/>
                <a:ea typeface="Nirmala UI" pitchFamily="34" charset="-122"/>
                <a:cs typeface="Nirmala UI" pitchFamily="34" charset="-120"/>
              </a:rPr>
              <a:t>EX — নিজে থেকেই মুছে যাবে, ক্র্যাশেও লক আটকে থাকে না</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13</a:t>
            </a:r>
            <a:endParaRPr lang="en-US" sz="1000" dirty="0"/>
          </a:p>
        </p:txBody>
      </p:sp>
      <p:sp>
        <p:nvSpPr>
          <p:cNvPr id="3" name="Text 1"/>
          <p:cNvSpPr txBox="1"/>
          <p:nvPr/>
        </p:nvSpPr>
        <p:spPr>
          <a:xfrm>
            <a:off x="10088575" y="274320"/>
            <a:ext cx="187452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PUSH PIPELINE</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ধাপ ৮</a:t>
            </a:r>
            <a:endParaRPr lang="en-US" sz="1000" dirty="0"/>
          </a:p>
        </p:txBody>
      </p:sp>
      <p:sp>
        <p:nvSpPr>
          <p:cNvPr id="6" name="Text 4"/>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000" b="1" dirty="0">
                <a:solidFill>
                  <a:srgbClr val="E9EDF6"/>
                </a:solidFill>
                <a:latin typeface="Nirmala UI" pitchFamily="34" charset="0"/>
                <a:ea typeface="Nirmala UI" pitchFamily="34" charset="-122"/>
                <a:cs typeface="Nirmala UI" pitchFamily="34" charset="-120"/>
              </a:rPr>
              <a:t>ফেল করলে নিজে নিজেই আবার চেষ্টা</a:t>
            </a:r>
            <a:endParaRPr lang="en-US" sz="3000" dirty="0"/>
          </a:p>
        </p:txBody>
      </p:sp>
      <p:sp>
        <p:nvSpPr>
          <p:cNvPr id="7" name="Shape 5"/>
          <p:cNvSpPr/>
          <p:nvPr/>
        </p:nvSpPr>
        <p:spPr>
          <a:xfrm>
            <a:off x="1024128" y="2194560"/>
            <a:ext cx="822960" cy="822960"/>
          </a:xfrm>
          <a:prstGeom prst="ellipse">
            <a:avLst/>
          </a:prstGeom>
          <a:solidFill>
            <a:srgbClr val="0C0F17"/>
          </a:solidFill>
          <a:ln w="19050">
            <a:solidFill>
              <a:srgbClr val="8A5F22"/>
            </a:solidFill>
            <a:prstDash val="solid"/>
          </a:ln>
        </p:spPr>
      </p:sp>
      <p:sp>
        <p:nvSpPr>
          <p:cNvPr id="8" name="Text 6"/>
          <p:cNvSpPr txBox="1"/>
          <p:nvPr/>
        </p:nvSpPr>
        <p:spPr>
          <a:xfrm>
            <a:off x="658368" y="2377440"/>
            <a:ext cx="1554480" cy="365760"/>
          </a:xfrm>
          <a:prstGeom prst="rect">
            <a:avLst/>
          </a:prstGeom>
          <a:noFill/>
          <a:ln/>
        </p:spPr>
        <p:txBody>
          <a:bodyPr wrap="square" lIns="0" tIns="0" rIns="0" bIns="0" rtlCol="0" anchor="ctr"/>
          <a:lstStyle/>
          <a:p>
            <a:pPr algn="ctr" indent="0" marL="0">
              <a:buNone/>
            </a:pPr>
            <a:r>
              <a:rPr lang="en-US" sz="1500" b="1" dirty="0">
                <a:solidFill>
                  <a:srgbClr val="F5A63C"/>
                </a:solidFill>
                <a:latin typeface="Consolas" pitchFamily="34" charset="0"/>
                <a:ea typeface="Consolas" pitchFamily="34" charset="-122"/>
                <a:cs typeface="Consolas" pitchFamily="34" charset="-120"/>
              </a:rPr>
              <a:t>১০s</a:t>
            </a:r>
            <a:endParaRPr lang="en-US" sz="1500" dirty="0"/>
          </a:p>
        </p:txBody>
      </p:sp>
      <p:sp>
        <p:nvSpPr>
          <p:cNvPr id="9" name="Text 7"/>
          <p:cNvSpPr txBox="1"/>
          <p:nvPr/>
        </p:nvSpPr>
        <p:spPr>
          <a:xfrm>
            <a:off x="658368" y="3520440"/>
            <a:ext cx="1554480" cy="274320"/>
          </a:xfrm>
          <a:prstGeom prst="rect">
            <a:avLst/>
          </a:prstGeom>
          <a:noFill/>
          <a:ln/>
        </p:spPr>
        <p:txBody>
          <a:bodyPr wrap="square" lIns="0" tIns="0" rIns="0" bIns="0" rtlCol="0" anchor="ctr"/>
          <a:lstStyle/>
          <a:p>
            <a:pPr algn="ctr" indent="0" marL="0">
              <a:buNone/>
            </a:pPr>
            <a:r>
              <a:rPr lang="en-US" sz="1050" dirty="0">
                <a:solidFill>
                  <a:srgbClr val="7E8798"/>
                </a:solidFill>
                <a:latin typeface="Nirmala UI" pitchFamily="34" charset="0"/>
                <a:ea typeface="Nirmala UI" pitchFamily="34" charset="-122"/>
                <a:cs typeface="Nirmala UI" pitchFamily="34" charset="-120"/>
              </a:rPr>
              <a:t>১ম চেষ্টা</a:t>
            </a:r>
            <a:endParaRPr lang="en-US" sz="1050" dirty="0"/>
          </a:p>
        </p:txBody>
      </p:sp>
      <p:sp>
        <p:nvSpPr>
          <p:cNvPr id="10" name="Shape 8"/>
          <p:cNvSpPr/>
          <p:nvPr/>
        </p:nvSpPr>
        <p:spPr>
          <a:xfrm>
            <a:off x="2738628" y="2034540"/>
            <a:ext cx="1143000" cy="1143000"/>
          </a:xfrm>
          <a:prstGeom prst="ellipse">
            <a:avLst/>
          </a:prstGeom>
          <a:solidFill>
            <a:srgbClr val="0C0F17"/>
          </a:solidFill>
          <a:ln w="19050">
            <a:solidFill>
              <a:srgbClr val="8A5F22"/>
            </a:solidFill>
            <a:prstDash val="solid"/>
          </a:ln>
        </p:spPr>
      </p:sp>
      <p:sp>
        <p:nvSpPr>
          <p:cNvPr id="11" name="Text 9"/>
          <p:cNvSpPr txBox="1"/>
          <p:nvPr/>
        </p:nvSpPr>
        <p:spPr>
          <a:xfrm>
            <a:off x="2532888" y="2377440"/>
            <a:ext cx="1554480" cy="365760"/>
          </a:xfrm>
          <a:prstGeom prst="rect">
            <a:avLst/>
          </a:prstGeom>
          <a:noFill/>
          <a:ln/>
        </p:spPr>
        <p:txBody>
          <a:bodyPr wrap="square" lIns="0" tIns="0" rIns="0" bIns="0" rtlCol="0" anchor="ctr"/>
          <a:lstStyle/>
          <a:p>
            <a:pPr algn="ctr" indent="0" marL="0">
              <a:buNone/>
            </a:pPr>
            <a:r>
              <a:rPr lang="en-US" sz="1500" b="1" dirty="0">
                <a:solidFill>
                  <a:srgbClr val="F5A63C"/>
                </a:solidFill>
                <a:latin typeface="Consolas" pitchFamily="34" charset="0"/>
                <a:ea typeface="Consolas" pitchFamily="34" charset="-122"/>
                <a:cs typeface="Consolas" pitchFamily="34" charset="-120"/>
              </a:rPr>
              <a:t>২০s</a:t>
            </a:r>
            <a:endParaRPr lang="en-US" sz="1500" dirty="0"/>
          </a:p>
        </p:txBody>
      </p:sp>
      <p:sp>
        <p:nvSpPr>
          <p:cNvPr id="12" name="Text 10"/>
          <p:cNvSpPr txBox="1"/>
          <p:nvPr/>
        </p:nvSpPr>
        <p:spPr>
          <a:xfrm>
            <a:off x="2532888" y="3520440"/>
            <a:ext cx="1554480" cy="274320"/>
          </a:xfrm>
          <a:prstGeom prst="rect">
            <a:avLst/>
          </a:prstGeom>
          <a:noFill/>
          <a:ln/>
        </p:spPr>
        <p:txBody>
          <a:bodyPr wrap="square" lIns="0" tIns="0" rIns="0" bIns="0" rtlCol="0" anchor="ctr"/>
          <a:lstStyle/>
          <a:p>
            <a:pPr algn="ctr" indent="0" marL="0">
              <a:buNone/>
            </a:pPr>
            <a:r>
              <a:rPr lang="en-US" sz="1050" dirty="0">
                <a:solidFill>
                  <a:srgbClr val="7E8798"/>
                </a:solidFill>
                <a:latin typeface="Nirmala UI" pitchFamily="34" charset="0"/>
                <a:ea typeface="Nirmala UI" pitchFamily="34" charset="-122"/>
                <a:cs typeface="Nirmala UI" pitchFamily="34" charset="-120"/>
              </a:rPr>
              <a:t>২য় চেষ্টা</a:t>
            </a:r>
            <a:endParaRPr lang="en-US" sz="1050" dirty="0"/>
          </a:p>
        </p:txBody>
      </p:sp>
      <p:sp>
        <p:nvSpPr>
          <p:cNvPr id="13" name="Shape 11"/>
          <p:cNvSpPr/>
          <p:nvPr/>
        </p:nvSpPr>
        <p:spPr>
          <a:xfrm>
            <a:off x="4453128" y="1874520"/>
            <a:ext cx="1463040" cy="1463040"/>
          </a:xfrm>
          <a:prstGeom prst="ellipse">
            <a:avLst/>
          </a:prstGeom>
          <a:solidFill>
            <a:srgbClr val="0C0F17"/>
          </a:solidFill>
          <a:ln w="19050">
            <a:solidFill>
              <a:srgbClr val="8A5F22"/>
            </a:solidFill>
            <a:prstDash val="solid"/>
          </a:ln>
        </p:spPr>
      </p:sp>
      <p:sp>
        <p:nvSpPr>
          <p:cNvPr id="14" name="Text 12"/>
          <p:cNvSpPr txBox="1"/>
          <p:nvPr/>
        </p:nvSpPr>
        <p:spPr>
          <a:xfrm>
            <a:off x="4407408" y="2377440"/>
            <a:ext cx="1554480" cy="365760"/>
          </a:xfrm>
          <a:prstGeom prst="rect">
            <a:avLst/>
          </a:prstGeom>
          <a:noFill/>
          <a:ln/>
        </p:spPr>
        <p:txBody>
          <a:bodyPr wrap="square" lIns="0" tIns="0" rIns="0" bIns="0" rtlCol="0" anchor="ctr"/>
          <a:lstStyle/>
          <a:p>
            <a:pPr algn="ctr" indent="0" marL="0">
              <a:buNone/>
            </a:pPr>
            <a:r>
              <a:rPr lang="en-US" sz="1500" b="1" dirty="0">
                <a:solidFill>
                  <a:srgbClr val="F5A63C"/>
                </a:solidFill>
                <a:latin typeface="Consolas" pitchFamily="34" charset="0"/>
                <a:ea typeface="Consolas" pitchFamily="34" charset="-122"/>
                <a:cs typeface="Consolas" pitchFamily="34" charset="-120"/>
              </a:rPr>
              <a:t>৪০s</a:t>
            </a:r>
            <a:endParaRPr lang="en-US" sz="1500" dirty="0"/>
          </a:p>
        </p:txBody>
      </p:sp>
      <p:sp>
        <p:nvSpPr>
          <p:cNvPr id="15" name="Text 13"/>
          <p:cNvSpPr txBox="1"/>
          <p:nvPr/>
        </p:nvSpPr>
        <p:spPr>
          <a:xfrm>
            <a:off x="4407408" y="3520440"/>
            <a:ext cx="1554480" cy="274320"/>
          </a:xfrm>
          <a:prstGeom prst="rect">
            <a:avLst/>
          </a:prstGeom>
          <a:noFill/>
          <a:ln/>
        </p:spPr>
        <p:txBody>
          <a:bodyPr wrap="square" lIns="0" tIns="0" rIns="0" bIns="0" rtlCol="0" anchor="ctr"/>
          <a:lstStyle/>
          <a:p>
            <a:pPr algn="ctr" indent="0" marL="0">
              <a:buNone/>
            </a:pPr>
            <a:r>
              <a:rPr lang="en-US" sz="1050" dirty="0">
                <a:solidFill>
                  <a:srgbClr val="7E8798"/>
                </a:solidFill>
                <a:latin typeface="Nirmala UI" pitchFamily="34" charset="0"/>
                <a:ea typeface="Nirmala UI" pitchFamily="34" charset="-122"/>
                <a:cs typeface="Nirmala UI" pitchFamily="34" charset="-120"/>
              </a:rPr>
              <a:t>৩য় চেষ্টা</a:t>
            </a:r>
            <a:endParaRPr lang="en-US" sz="1050" dirty="0"/>
          </a:p>
        </p:txBody>
      </p:sp>
      <p:sp>
        <p:nvSpPr>
          <p:cNvPr id="16" name="Text 14"/>
          <p:cNvSpPr txBox="1"/>
          <p:nvPr/>
        </p:nvSpPr>
        <p:spPr>
          <a:xfrm>
            <a:off x="6419088" y="2331720"/>
            <a:ext cx="2103120" cy="731520"/>
          </a:xfrm>
          <a:prstGeom prst="rect">
            <a:avLst/>
          </a:prstGeom>
          <a:noFill/>
          <a:ln/>
        </p:spPr>
        <p:txBody>
          <a:bodyPr wrap="square" lIns="0" tIns="0" rIns="0" bIns="0" rtlCol="0" anchor="t"/>
          <a:lstStyle/>
          <a:p>
            <a:pPr indent="0" marL="0">
              <a:buNone/>
            </a:pPr>
            <a:r>
              <a:rPr lang="en-US" sz="1150" dirty="0">
                <a:solidFill>
                  <a:srgbClr val="E2607A"/>
                </a:solidFill>
                <a:latin typeface="Nirmala UI" pitchFamily="34" charset="0"/>
                <a:ea typeface="Nirmala UI" pitchFamily="34" charset="-122"/>
                <a:cs typeface="Nirmala UI" pitchFamily="34" charset="-120"/>
              </a:rPr>
              <a:t>→  failed queue</a:t>
            </a:r>
            <a:endParaRPr lang="en-US" sz="1150" dirty="0"/>
          </a:p>
          <a:p>
            <a:pPr indent="0" marL="0">
              <a:buNone/>
            </a:pPr>
            <a:r>
              <a:rPr lang="en-US" sz="1150" dirty="0">
                <a:solidFill>
                  <a:srgbClr val="E2607A"/>
                </a:solidFill>
                <a:latin typeface="Nirmala UI" pitchFamily="34" charset="0"/>
                <a:ea typeface="Nirmala UI" pitchFamily="34" charset="-122"/>
                <a:cs typeface="Nirmala UI" pitchFamily="34" charset="-120"/>
              </a:rPr>
              <a:t>(১০,০০০ পর্যন্ত রাখা হয়, ডিবাগের জন্য)</a:t>
            </a:r>
            <a:endParaRPr lang="en-US" sz="1150" dirty="0"/>
          </a:p>
        </p:txBody>
      </p:sp>
      <p:sp>
        <p:nvSpPr>
          <p:cNvPr id="17" name="Shape 15"/>
          <p:cNvSpPr/>
          <p:nvPr/>
        </p:nvSpPr>
        <p:spPr>
          <a:xfrm>
            <a:off x="658368" y="4023360"/>
            <a:ext cx="5577840" cy="1600200"/>
          </a:xfrm>
          <a:prstGeom prst="roundRect">
            <a:avLst>
              <a:gd name="adj" fmla="val 3429"/>
            </a:avLst>
          </a:prstGeom>
          <a:solidFill>
            <a:srgbClr val="090C13"/>
          </a:solidFill>
          <a:ln w="12700">
            <a:solidFill>
              <a:srgbClr val="28303F"/>
            </a:solidFill>
            <a:prstDash val="solid"/>
          </a:ln>
        </p:spPr>
      </p:sp>
      <p:sp>
        <p:nvSpPr>
          <p:cNvPr id="18" name="Shape 16"/>
          <p:cNvSpPr/>
          <p:nvPr/>
        </p:nvSpPr>
        <p:spPr>
          <a:xfrm>
            <a:off x="658368" y="4078224"/>
            <a:ext cx="32004" cy="1490472"/>
          </a:xfrm>
          <a:prstGeom prst="rect">
            <a:avLst/>
          </a:prstGeom>
          <a:solidFill>
            <a:srgbClr val="F5A63C"/>
          </a:solidFill>
          <a:ln/>
        </p:spPr>
      </p:sp>
      <p:sp>
        <p:nvSpPr>
          <p:cNvPr id="19" name="Text 17"/>
          <p:cNvSpPr txBox="1"/>
          <p:nvPr/>
        </p:nvSpPr>
        <p:spPr>
          <a:xfrm>
            <a:off x="859536" y="4169664"/>
            <a:ext cx="5212080" cy="1307592"/>
          </a:xfrm>
          <a:prstGeom prst="rect">
            <a:avLst/>
          </a:prstGeom>
          <a:noFill/>
          <a:ln/>
        </p:spPr>
        <p:txBody>
          <a:bodyPr wrap="square" lIns="0" tIns="0" rIns="0" bIns="0" rtlCol="0" anchor="t"/>
          <a:lstStyle/>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defaultJobOptions: {</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attempts: 3,</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backoff: { type: "exponential", delay: 10_000 },</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removeOnComplete: 5000,</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removeOnFail:     10000</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a:t>
            </a:r>
            <a:endParaRPr lang="en-US" sz="1050" dirty="0"/>
          </a:p>
        </p:txBody>
      </p:sp>
      <p:sp>
        <p:nvSpPr>
          <p:cNvPr id="20" name="Text 18"/>
          <p:cNvSpPr txBox="1"/>
          <p:nvPr/>
        </p:nvSpPr>
        <p:spPr>
          <a:xfrm>
            <a:off x="6675120" y="4023360"/>
            <a:ext cx="4846320" cy="182880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B4BCCE"/>
                </a:solidFill>
                <a:latin typeface="Nirmala UI" pitchFamily="34" charset="0"/>
                <a:ea typeface="Nirmala UI" pitchFamily="34" charset="-122"/>
                <a:cs typeface="Nirmala UI" pitchFamily="34" charset="-120"/>
              </a:rPr>
              <a:t>exponential backoff — প্রতিবার দ্বিগুণ অপেক্ষা, FCM-কে শ্বাস নেওয়ার সময়</a:t>
            </a:r>
            <a:endParaRPr lang="en-US" sz="1150" dirty="0"/>
          </a:p>
          <a:p>
            <a:pPr marL="342900" indent="-342900">
              <a:spcAft>
                <a:spcPts val="700"/>
              </a:spcAft>
              <a:buSzPct val="100000"/>
              <a:buChar char="–"/>
            </a:pPr>
            <a:r>
              <a:rPr lang="en-US" sz="1150" dirty="0">
                <a:solidFill>
                  <a:srgbClr val="B4BCCE"/>
                </a:solidFill>
                <a:latin typeface="Nirmala UI" pitchFamily="34" charset="0"/>
                <a:ea typeface="Nirmala UI" pitchFamily="34" charset="-122"/>
                <a:cs typeface="Nirmala UI" pitchFamily="34" charset="-120"/>
              </a:rPr>
              <a:t>৩ বারেই থামা — অসীম রিট্রাই মানে বিষাক্ত জব চিরকাল ওয়ার্কার দখল করবে</a:t>
            </a:r>
            <a:endParaRPr lang="en-US" sz="1150" dirty="0"/>
          </a:p>
          <a:p>
            <a:pPr marL="342900" indent="-342900">
              <a:spcAft>
                <a:spcPts val="700"/>
              </a:spcAft>
              <a:buSzPct val="100000"/>
              <a:buChar char="–"/>
            </a:pPr>
            <a:r>
              <a:rPr lang="en-US" sz="1150" dirty="0">
                <a:solidFill>
                  <a:srgbClr val="B4BCCE"/>
                </a:solidFill>
                <a:latin typeface="Nirmala UI" pitchFamily="34" charset="0"/>
                <a:ea typeface="Nirmala UI" pitchFamily="34" charset="-122"/>
                <a:cs typeface="Nirmala UI" pitchFamily="34" charset="-120"/>
              </a:rPr>
              <a:t>removeOnComplete — নাহলে Redis-এর RAM ধীরে ধীরে শেষ</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14</a:t>
            </a:r>
            <a:endParaRPr lang="en-US" sz="1000" dirty="0"/>
          </a:p>
        </p:txBody>
      </p:sp>
      <p:sp>
        <p:nvSpPr>
          <p:cNvPr id="3" name="Text 1"/>
          <p:cNvSpPr txBox="1"/>
          <p:nvPr/>
        </p:nvSpPr>
        <p:spPr>
          <a:xfrm>
            <a:off x="10088575" y="274320"/>
            <a:ext cx="187452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PUSH PIPELINE</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ধাপ ৯</a:t>
            </a:r>
            <a:endParaRPr lang="en-US" sz="1000" dirty="0"/>
          </a:p>
        </p:txBody>
      </p:sp>
      <p:sp>
        <p:nvSpPr>
          <p:cNvPr id="6" name="Text 4"/>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000" b="1" dirty="0">
                <a:solidFill>
                  <a:srgbClr val="E9EDF6"/>
                </a:solidFill>
                <a:latin typeface="Nirmala UI" pitchFamily="34" charset="0"/>
                <a:ea typeface="Nirmala UI" pitchFamily="34" charset="-122"/>
                <a:cs typeface="Nirmala UI" pitchFamily="34" charset="-120"/>
              </a:rPr>
              <a:t>মরা টোকেন নিজে থেকেই ঝরে পড়ে</a:t>
            </a:r>
            <a:endParaRPr lang="en-US" sz="3000" dirty="0"/>
          </a:p>
        </p:txBody>
      </p:sp>
      <p:sp>
        <p:nvSpPr>
          <p:cNvPr id="7" name="Shape 5"/>
          <p:cNvSpPr/>
          <p:nvPr/>
        </p:nvSpPr>
        <p:spPr>
          <a:xfrm>
            <a:off x="658368" y="1783080"/>
            <a:ext cx="274320" cy="274320"/>
          </a:xfrm>
          <a:prstGeom prst="roundRect">
            <a:avLst>
              <a:gd name="adj" fmla="val 10000"/>
            </a:avLst>
          </a:prstGeom>
          <a:solidFill>
            <a:srgbClr val="1E6A66"/>
          </a:solidFill>
          <a:ln w="12700">
            <a:solidFill>
              <a:srgbClr val="333333"/>
            </a:solidFill>
            <a:prstDash val="solid"/>
          </a:ln>
        </p:spPr>
      </p:sp>
      <p:sp>
        <p:nvSpPr>
          <p:cNvPr id="8" name="Shape 6"/>
          <p:cNvSpPr/>
          <p:nvPr/>
        </p:nvSpPr>
        <p:spPr>
          <a:xfrm>
            <a:off x="1042416" y="1783080"/>
            <a:ext cx="274320" cy="274320"/>
          </a:xfrm>
          <a:prstGeom prst="roundRect">
            <a:avLst>
              <a:gd name="adj" fmla="val 10000"/>
            </a:avLst>
          </a:prstGeom>
          <a:solidFill>
            <a:srgbClr val="1E6A66"/>
          </a:solidFill>
          <a:ln w="12700">
            <a:solidFill>
              <a:srgbClr val="333333"/>
            </a:solidFill>
            <a:prstDash val="solid"/>
          </a:ln>
        </p:spPr>
      </p:sp>
      <p:sp>
        <p:nvSpPr>
          <p:cNvPr id="9" name="Shape 7"/>
          <p:cNvSpPr/>
          <p:nvPr/>
        </p:nvSpPr>
        <p:spPr>
          <a:xfrm>
            <a:off x="1426464" y="1783080"/>
            <a:ext cx="274320" cy="274320"/>
          </a:xfrm>
          <a:prstGeom prst="roundRect">
            <a:avLst>
              <a:gd name="adj" fmla="val 10000"/>
            </a:avLst>
          </a:prstGeom>
          <a:solidFill>
            <a:srgbClr val="1E6A66"/>
          </a:solidFill>
          <a:ln w="12700">
            <a:solidFill>
              <a:srgbClr val="333333"/>
            </a:solidFill>
            <a:prstDash val="solid"/>
          </a:ln>
        </p:spPr>
      </p:sp>
      <p:sp>
        <p:nvSpPr>
          <p:cNvPr id="10" name="Shape 8"/>
          <p:cNvSpPr/>
          <p:nvPr/>
        </p:nvSpPr>
        <p:spPr>
          <a:xfrm>
            <a:off x="1810512" y="1783080"/>
            <a:ext cx="274320" cy="274320"/>
          </a:xfrm>
          <a:prstGeom prst="roundRect">
            <a:avLst>
              <a:gd name="adj" fmla="val 10000"/>
            </a:avLst>
          </a:prstGeom>
          <a:solidFill>
            <a:srgbClr val="E2607A"/>
          </a:solidFill>
          <a:ln w="12700">
            <a:solidFill>
              <a:srgbClr val="333333"/>
            </a:solidFill>
            <a:prstDash val="solid"/>
          </a:ln>
        </p:spPr>
      </p:sp>
      <p:sp>
        <p:nvSpPr>
          <p:cNvPr id="11" name="Shape 9"/>
          <p:cNvSpPr/>
          <p:nvPr/>
        </p:nvSpPr>
        <p:spPr>
          <a:xfrm>
            <a:off x="2194560" y="1783080"/>
            <a:ext cx="274320" cy="274320"/>
          </a:xfrm>
          <a:prstGeom prst="roundRect">
            <a:avLst>
              <a:gd name="adj" fmla="val 10000"/>
            </a:avLst>
          </a:prstGeom>
          <a:solidFill>
            <a:srgbClr val="1E6A66"/>
          </a:solidFill>
          <a:ln w="12700">
            <a:solidFill>
              <a:srgbClr val="333333"/>
            </a:solidFill>
            <a:prstDash val="solid"/>
          </a:ln>
        </p:spPr>
      </p:sp>
      <p:sp>
        <p:nvSpPr>
          <p:cNvPr id="12" name="Shape 10"/>
          <p:cNvSpPr/>
          <p:nvPr/>
        </p:nvSpPr>
        <p:spPr>
          <a:xfrm>
            <a:off x="2578608" y="1783080"/>
            <a:ext cx="274320" cy="274320"/>
          </a:xfrm>
          <a:prstGeom prst="roundRect">
            <a:avLst>
              <a:gd name="adj" fmla="val 10000"/>
            </a:avLst>
          </a:prstGeom>
          <a:solidFill>
            <a:srgbClr val="1E6A66"/>
          </a:solidFill>
          <a:ln w="12700">
            <a:solidFill>
              <a:srgbClr val="333333"/>
            </a:solidFill>
            <a:prstDash val="solid"/>
          </a:ln>
        </p:spPr>
      </p:sp>
      <p:sp>
        <p:nvSpPr>
          <p:cNvPr id="13" name="Shape 11"/>
          <p:cNvSpPr/>
          <p:nvPr/>
        </p:nvSpPr>
        <p:spPr>
          <a:xfrm>
            <a:off x="2962656" y="1783080"/>
            <a:ext cx="274320" cy="274320"/>
          </a:xfrm>
          <a:prstGeom prst="roundRect">
            <a:avLst>
              <a:gd name="adj" fmla="val 10000"/>
            </a:avLst>
          </a:prstGeom>
          <a:solidFill>
            <a:srgbClr val="1E6A66"/>
          </a:solidFill>
          <a:ln w="12700">
            <a:solidFill>
              <a:srgbClr val="333333"/>
            </a:solidFill>
            <a:prstDash val="solid"/>
          </a:ln>
        </p:spPr>
      </p:sp>
      <p:sp>
        <p:nvSpPr>
          <p:cNvPr id="14" name="Shape 12"/>
          <p:cNvSpPr/>
          <p:nvPr/>
        </p:nvSpPr>
        <p:spPr>
          <a:xfrm>
            <a:off x="3346704" y="1783080"/>
            <a:ext cx="274320" cy="274320"/>
          </a:xfrm>
          <a:prstGeom prst="roundRect">
            <a:avLst>
              <a:gd name="adj" fmla="val 10000"/>
            </a:avLst>
          </a:prstGeom>
          <a:solidFill>
            <a:srgbClr val="1E6A66"/>
          </a:solidFill>
          <a:ln w="12700">
            <a:solidFill>
              <a:srgbClr val="333333"/>
            </a:solidFill>
            <a:prstDash val="solid"/>
          </a:ln>
        </p:spPr>
      </p:sp>
      <p:sp>
        <p:nvSpPr>
          <p:cNvPr id="15" name="Shape 13"/>
          <p:cNvSpPr/>
          <p:nvPr/>
        </p:nvSpPr>
        <p:spPr>
          <a:xfrm>
            <a:off x="3730752" y="1783080"/>
            <a:ext cx="274320" cy="274320"/>
          </a:xfrm>
          <a:prstGeom prst="roundRect">
            <a:avLst>
              <a:gd name="adj" fmla="val 10000"/>
            </a:avLst>
          </a:prstGeom>
          <a:solidFill>
            <a:srgbClr val="1E6A66"/>
          </a:solidFill>
          <a:ln w="12700">
            <a:solidFill>
              <a:srgbClr val="333333"/>
            </a:solidFill>
            <a:prstDash val="solid"/>
          </a:ln>
        </p:spPr>
      </p:sp>
      <p:sp>
        <p:nvSpPr>
          <p:cNvPr id="16" name="Shape 14"/>
          <p:cNvSpPr/>
          <p:nvPr/>
        </p:nvSpPr>
        <p:spPr>
          <a:xfrm>
            <a:off x="4114800" y="1783080"/>
            <a:ext cx="274320" cy="274320"/>
          </a:xfrm>
          <a:prstGeom prst="roundRect">
            <a:avLst>
              <a:gd name="adj" fmla="val 10000"/>
            </a:avLst>
          </a:prstGeom>
          <a:solidFill>
            <a:srgbClr val="1E6A66"/>
          </a:solidFill>
          <a:ln w="12700">
            <a:solidFill>
              <a:srgbClr val="333333"/>
            </a:solidFill>
            <a:prstDash val="solid"/>
          </a:ln>
        </p:spPr>
      </p:sp>
      <p:sp>
        <p:nvSpPr>
          <p:cNvPr id="17" name="Shape 15"/>
          <p:cNvSpPr/>
          <p:nvPr/>
        </p:nvSpPr>
        <p:spPr>
          <a:xfrm>
            <a:off x="4498848" y="1783080"/>
            <a:ext cx="274320" cy="274320"/>
          </a:xfrm>
          <a:prstGeom prst="roundRect">
            <a:avLst>
              <a:gd name="adj" fmla="val 10000"/>
            </a:avLst>
          </a:prstGeom>
          <a:solidFill>
            <a:srgbClr val="E2607A"/>
          </a:solidFill>
          <a:ln w="12700">
            <a:solidFill>
              <a:srgbClr val="333333"/>
            </a:solidFill>
            <a:prstDash val="solid"/>
          </a:ln>
        </p:spPr>
      </p:sp>
      <p:sp>
        <p:nvSpPr>
          <p:cNvPr id="18" name="Shape 16"/>
          <p:cNvSpPr/>
          <p:nvPr/>
        </p:nvSpPr>
        <p:spPr>
          <a:xfrm>
            <a:off x="4882896" y="1783080"/>
            <a:ext cx="274320" cy="274320"/>
          </a:xfrm>
          <a:prstGeom prst="roundRect">
            <a:avLst>
              <a:gd name="adj" fmla="val 10000"/>
            </a:avLst>
          </a:prstGeom>
          <a:solidFill>
            <a:srgbClr val="1E6A66"/>
          </a:solidFill>
          <a:ln w="12700">
            <a:solidFill>
              <a:srgbClr val="333333"/>
            </a:solidFill>
            <a:prstDash val="solid"/>
          </a:ln>
        </p:spPr>
      </p:sp>
      <p:sp>
        <p:nvSpPr>
          <p:cNvPr id="19" name="Shape 17"/>
          <p:cNvSpPr/>
          <p:nvPr/>
        </p:nvSpPr>
        <p:spPr>
          <a:xfrm>
            <a:off x="5266944" y="1783080"/>
            <a:ext cx="274320" cy="274320"/>
          </a:xfrm>
          <a:prstGeom prst="roundRect">
            <a:avLst>
              <a:gd name="adj" fmla="val 10000"/>
            </a:avLst>
          </a:prstGeom>
          <a:solidFill>
            <a:srgbClr val="1E6A66"/>
          </a:solidFill>
          <a:ln w="12700">
            <a:solidFill>
              <a:srgbClr val="333333"/>
            </a:solidFill>
            <a:prstDash val="solid"/>
          </a:ln>
        </p:spPr>
      </p:sp>
      <p:sp>
        <p:nvSpPr>
          <p:cNvPr id="20" name="Shape 18"/>
          <p:cNvSpPr/>
          <p:nvPr/>
        </p:nvSpPr>
        <p:spPr>
          <a:xfrm>
            <a:off x="5650992" y="1783080"/>
            <a:ext cx="274320" cy="274320"/>
          </a:xfrm>
          <a:prstGeom prst="roundRect">
            <a:avLst>
              <a:gd name="adj" fmla="val 10000"/>
            </a:avLst>
          </a:prstGeom>
          <a:solidFill>
            <a:srgbClr val="1E6A66"/>
          </a:solidFill>
          <a:ln w="12700">
            <a:solidFill>
              <a:srgbClr val="333333"/>
            </a:solidFill>
            <a:prstDash val="solid"/>
          </a:ln>
        </p:spPr>
      </p:sp>
      <p:sp>
        <p:nvSpPr>
          <p:cNvPr id="21" name="Shape 19"/>
          <p:cNvSpPr/>
          <p:nvPr/>
        </p:nvSpPr>
        <p:spPr>
          <a:xfrm>
            <a:off x="658368" y="2167128"/>
            <a:ext cx="274320" cy="274320"/>
          </a:xfrm>
          <a:prstGeom prst="roundRect">
            <a:avLst>
              <a:gd name="adj" fmla="val 10000"/>
            </a:avLst>
          </a:prstGeom>
          <a:solidFill>
            <a:srgbClr val="1E6A66"/>
          </a:solidFill>
          <a:ln w="12700">
            <a:solidFill>
              <a:srgbClr val="333333"/>
            </a:solidFill>
            <a:prstDash val="solid"/>
          </a:ln>
        </p:spPr>
      </p:sp>
      <p:sp>
        <p:nvSpPr>
          <p:cNvPr id="22" name="Shape 20"/>
          <p:cNvSpPr/>
          <p:nvPr/>
        </p:nvSpPr>
        <p:spPr>
          <a:xfrm>
            <a:off x="1042416" y="2167128"/>
            <a:ext cx="274320" cy="274320"/>
          </a:xfrm>
          <a:prstGeom prst="roundRect">
            <a:avLst>
              <a:gd name="adj" fmla="val 10000"/>
            </a:avLst>
          </a:prstGeom>
          <a:solidFill>
            <a:srgbClr val="1E6A66"/>
          </a:solidFill>
          <a:ln w="12700">
            <a:solidFill>
              <a:srgbClr val="333333"/>
            </a:solidFill>
            <a:prstDash val="solid"/>
          </a:ln>
        </p:spPr>
      </p:sp>
      <p:sp>
        <p:nvSpPr>
          <p:cNvPr id="23" name="Shape 21"/>
          <p:cNvSpPr/>
          <p:nvPr/>
        </p:nvSpPr>
        <p:spPr>
          <a:xfrm>
            <a:off x="1426464" y="2167128"/>
            <a:ext cx="274320" cy="274320"/>
          </a:xfrm>
          <a:prstGeom prst="roundRect">
            <a:avLst>
              <a:gd name="adj" fmla="val 10000"/>
            </a:avLst>
          </a:prstGeom>
          <a:solidFill>
            <a:srgbClr val="1E6A66"/>
          </a:solidFill>
          <a:ln w="12700">
            <a:solidFill>
              <a:srgbClr val="333333"/>
            </a:solidFill>
            <a:prstDash val="solid"/>
          </a:ln>
        </p:spPr>
      </p:sp>
      <p:sp>
        <p:nvSpPr>
          <p:cNvPr id="24" name="Shape 22"/>
          <p:cNvSpPr/>
          <p:nvPr/>
        </p:nvSpPr>
        <p:spPr>
          <a:xfrm>
            <a:off x="1810512" y="2167128"/>
            <a:ext cx="274320" cy="274320"/>
          </a:xfrm>
          <a:prstGeom prst="roundRect">
            <a:avLst>
              <a:gd name="adj" fmla="val 10000"/>
            </a:avLst>
          </a:prstGeom>
          <a:solidFill>
            <a:srgbClr val="E2607A"/>
          </a:solidFill>
          <a:ln w="12700">
            <a:solidFill>
              <a:srgbClr val="333333"/>
            </a:solidFill>
            <a:prstDash val="solid"/>
          </a:ln>
        </p:spPr>
      </p:sp>
      <p:sp>
        <p:nvSpPr>
          <p:cNvPr id="25" name="Shape 23"/>
          <p:cNvSpPr/>
          <p:nvPr/>
        </p:nvSpPr>
        <p:spPr>
          <a:xfrm>
            <a:off x="2194560" y="2167128"/>
            <a:ext cx="274320" cy="274320"/>
          </a:xfrm>
          <a:prstGeom prst="roundRect">
            <a:avLst>
              <a:gd name="adj" fmla="val 10000"/>
            </a:avLst>
          </a:prstGeom>
          <a:solidFill>
            <a:srgbClr val="1E6A66"/>
          </a:solidFill>
          <a:ln w="12700">
            <a:solidFill>
              <a:srgbClr val="333333"/>
            </a:solidFill>
            <a:prstDash val="solid"/>
          </a:ln>
        </p:spPr>
      </p:sp>
      <p:sp>
        <p:nvSpPr>
          <p:cNvPr id="26" name="Shape 24"/>
          <p:cNvSpPr/>
          <p:nvPr/>
        </p:nvSpPr>
        <p:spPr>
          <a:xfrm>
            <a:off x="2578608" y="2167128"/>
            <a:ext cx="274320" cy="274320"/>
          </a:xfrm>
          <a:prstGeom prst="roundRect">
            <a:avLst>
              <a:gd name="adj" fmla="val 10000"/>
            </a:avLst>
          </a:prstGeom>
          <a:solidFill>
            <a:srgbClr val="1E6A66"/>
          </a:solidFill>
          <a:ln w="12700">
            <a:solidFill>
              <a:srgbClr val="333333"/>
            </a:solidFill>
            <a:prstDash val="solid"/>
          </a:ln>
        </p:spPr>
      </p:sp>
      <p:sp>
        <p:nvSpPr>
          <p:cNvPr id="27" name="Shape 25"/>
          <p:cNvSpPr/>
          <p:nvPr/>
        </p:nvSpPr>
        <p:spPr>
          <a:xfrm>
            <a:off x="2962656" y="2167128"/>
            <a:ext cx="274320" cy="274320"/>
          </a:xfrm>
          <a:prstGeom prst="roundRect">
            <a:avLst>
              <a:gd name="adj" fmla="val 10000"/>
            </a:avLst>
          </a:prstGeom>
          <a:solidFill>
            <a:srgbClr val="1E6A66"/>
          </a:solidFill>
          <a:ln w="12700">
            <a:solidFill>
              <a:srgbClr val="333333"/>
            </a:solidFill>
            <a:prstDash val="solid"/>
          </a:ln>
        </p:spPr>
      </p:sp>
      <p:sp>
        <p:nvSpPr>
          <p:cNvPr id="28" name="Shape 26"/>
          <p:cNvSpPr/>
          <p:nvPr/>
        </p:nvSpPr>
        <p:spPr>
          <a:xfrm>
            <a:off x="3346704" y="2167128"/>
            <a:ext cx="274320" cy="274320"/>
          </a:xfrm>
          <a:prstGeom prst="roundRect">
            <a:avLst>
              <a:gd name="adj" fmla="val 10000"/>
            </a:avLst>
          </a:prstGeom>
          <a:solidFill>
            <a:srgbClr val="1E6A66"/>
          </a:solidFill>
          <a:ln w="12700">
            <a:solidFill>
              <a:srgbClr val="333333"/>
            </a:solidFill>
            <a:prstDash val="solid"/>
          </a:ln>
        </p:spPr>
      </p:sp>
      <p:sp>
        <p:nvSpPr>
          <p:cNvPr id="29" name="Shape 27"/>
          <p:cNvSpPr/>
          <p:nvPr/>
        </p:nvSpPr>
        <p:spPr>
          <a:xfrm>
            <a:off x="3730752" y="2167128"/>
            <a:ext cx="274320" cy="274320"/>
          </a:xfrm>
          <a:prstGeom prst="roundRect">
            <a:avLst>
              <a:gd name="adj" fmla="val 10000"/>
            </a:avLst>
          </a:prstGeom>
          <a:solidFill>
            <a:srgbClr val="1E6A66"/>
          </a:solidFill>
          <a:ln w="12700">
            <a:solidFill>
              <a:srgbClr val="333333"/>
            </a:solidFill>
            <a:prstDash val="solid"/>
          </a:ln>
        </p:spPr>
      </p:sp>
      <p:sp>
        <p:nvSpPr>
          <p:cNvPr id="30" name="Shape 28"/>
          <p:cNvSpPr/>
          <p:nvPr/>
        </p:nvSpPr>
        <p:spPr>
          <a:xfrm>
            <a:off x="4114800" y="2167128"/>
            <a:ext cx="274320" cy="274320"/>
          </a:xfrm>
          <a:prstGeom prst="roundRect">
            <a:avLst>
              <a:gd name="adj" fmla="val 10000"/>
            </a:avLst>
          </a:prstGeom>
          <a:solidFill>
            <a:srgbClr val="1E6A66"/>
          </a:solidFill>
          <a:ln w="12700">
            <a:solidFill>
              <a:srgbClr val="333333"/>
            </a:solidFill>
            <a:prstDash val="solid"/>
          </a:ln>
        </p:spPr>
      </p:sp>
      <p:sp>
        <p:nvSpPr>
          <p:cNvPr id="31" name="Shape 29"/>
          <p:cNvSpPr/>
          <p:nvPr/>
        </p:nvSpPr>
        <p:spPr>
          <a:xfrm>
            <a:off x="4498848" y="2167128"/>
            <a:ext cx="274320" cy="274320"/>
          </a:xfrm>
          <a:prstGeom prst="roundRect">
            <a:avLst>
              <a:gd name="adj" fmla="val 10000"/>
            </a:avLst>
          </a:prstGeom>
          <a:solidFill>
            <a:srgbClr val="E2607A"/>
          </a:solidFill>
          <a:ln w="12700">
            <a:solidFill>
              <a:srgbClr val="333333"/>
            </a:solidFill>
            <a:prstDash val="solid"/>
          </a:ln>
        </p:spPr>
      </p:sp>
      <p:sp>
        <p:nvSpPr>
          <p:cNvPr id="32" name="Shape 30"/>
          <p:cNvSpPr/>
          <p:nvPr/>
        </p:nvSpPr>
        <p:spPr>
          <a:xfrm>
            <a:off x="4882896" y="2167128"/>
            <a:ext cx="274320" cy="274320"/>
          </a:xfrm>
          <a:prstGeom prst="roundRect">
            <a:avLst>
              <a:gd name="adj" fmla="val 10000"/>
            </a:avLst>
          </a:prstGeom>
          <a:solidFill>
            <a:srgbClr val="1E6A66"/>
          </a:solidFill>
          <a:ln w="12700">
            <a:solidFill>
              <a:srgbClr val="333333"/>
            </a:solidFill>
            <a:prstDash val="solid"/>
          </a:ln>
        </p:spPr>
      </p:sp>
      <p:sp>
        <p:nvSpPr>
          <p:cNvPr id="33" name="Shape 31"/>
          <p:cNvSpPr/>
          <p:nvPr/>
        </p:nvSpPr>
        <p:spPr>
          <a:xfrm>
            <a:off x="5266944" y="2167128"/>
            <a:ext cx="274320" cy="274320"/>
          </a:xfrm>
          <a:prstGeom prst="roundRect">
            <a:avLst>
              <a:gd name="adj" fmla="val 10000"/>
            </a:avLst>
          </a:prstGeom>
          <a:solidFill>
            <a:srgbClr val="1E6A66"/>
          </a:solidFill>
          <a:ln w="12700">
            <a:solidFill>
              <a:srgbClr val="333333"/>
            </a:solidFill>
            <a:prstDash val="solid"/>
          </a:ln>
        </p:spPr>
      </p:sp>
      <p:sp>
        <p:nvSpPr>
          <p:cNvPr id="34" name="Shape 32"/>
          <p:cNvSpPr/>
          <p:nvPr/>
        </p:nvSpPr>
        <p:spPr>
          <a:xfrm>
            <a:off x="5650992" y="2167128"/>
            <a:ext cx="274320" cy="274320"/>
          </a:xfrm>
          <a:prstGeom prst="roundRect">
            <a:avLst>
              <a:gd name="adj" fmla="val 10000"/>
            </a:avLst>
          </a:prstGeom>
          <a:solidFill>
            <a:srgbClr val="1E6A66"/>
          </a:solidFill>
          <a:ln w="12700">
            <a:solidFill>
              <a:srgbClr val="333333"/>
            </a:solidFill>
            <a:prstDash val="solid"/>
          </a:ln>
        </p:spPr>
      </p:sp>
      <p:sp>
        <p:nvSpPr>
          <p:cNvPr id="35" name="Shape 33"/>
          <p:cNvSpPr/>
          <p:nvPr/>
        </p:nvSpPr>
        <p:spPr>
          <a:xfrm>
            <a:off x="658368" y="2551176"/>
            <a:ext cx="274320" cy="274320"/>
          </a:xfrm>
          <a:prstGeom prst="roundRect">
            <a:avLst>
              <a:gd name="adj" fmla="val 10000"/>
            </a:avLst>
          </a:prstGeom>
          <a:solidFill>
            <a:srgbClr val="1E6A66"/>
          </a:solidFill>
          <a:ln w="12700">
            <a:solidFill>
              <a:srgbClr val="333333"/>
            </a:solidFill>
            <a:prstDash val="solid"/>
          </a:ln>
        </p:spPr>
      </p:sp>
      <p:sp>
        <p:nvSpPr>
          <p:cNvPr id="36" name="Shape 34"/>
          <p:cNvSpPr/>
          <p:nvPr/>
        </p:nvSpPr>
        <p:spPr>
          <a:xfrm>
            <a:off x="1042416" y="2551176"/>
            <a:ext cx="274320" cy="274320"/>
          </a:xfrm>
          <a:prstGeom prst="roundRect">
            <a:avLst>
              <a:gd name="adj" fmla="val 10000"/>
            </a:avLst>
          </a:prstGeom>
          <a:solidFill>
            <a:srgbClr val="1E6A66"/>
          </a:solidFill>
          <a:ln w="12700">
            <a:solidFill>
              <a:srgbClr val="333333"/>
            </a:solidFill>
            <a:prstDash val="solid"/>
          </a:ln>
        </p:spPr>
      </p:sp>
      <p:sp>
        <p:nvSpPr>
          <p:cNvPr id="37" name="Shape 35"/>
          <p:cNvSpPr/>
          <p:nvPr/>
        </p:nvSpPr>
        <p:spPr>
          <a:xfrm>
            <a:off x="1426464" y="2551176"/>
            <a:ext cx="274320" cy="274320"/>
          </a:xfrm>
          <a:prstGeom prst="roundRect">
            <a:avLst>
              <a:gd name="adj" fmla="val 10000"/>
            </a:avLst>
          </a:prstGeom>
          <a:solidFill>
            <a:srgbClr val="1E6A66"/>
          </a:solidFill>
          <a:ln w="12700">
            <a:solidFill>
              <a:srgbClr val="333333"/>
            </a:solidFill>
            <a:prstDash val="solid"/>
          </a:ln>
        </p:spPr>
      </p:sp>
      <p:sp>
        <p:nvSpPr>
          <p:cNvPr id="38" name="Shape 36"/>
          <p:cNvSpPr/>
          <p:nvPr/>
        </p:nvSpPr>
        <p:spPr>
          <a:xfrm>
            <a:off x="1810512" y="2551176"/>
            <a:ext cx="274320" cy="274320"/>
          </a:xfrm>
          <a:prstGeom prst="roundRect">
            <a:avLst>
              <a:gd name="adj" fmla="val 10000"/>
            </a:avLst>
          </a:prstGeom>
          <a:solidFill>
            <a:srgbClr val="E2607A"/>
          </a:solidFill>
          <a:ln w="12700">
            <a:solidFill>
              <a:srgbClr val="333333"/>
            </a:solidFill>
            <a:prstDash val="solid"/>
          </a:ln>
        </p:spPr>
      </p:sp>
      <p:sp>
        <p:nvSpPr>
          <p:cNvPr id="39" name="Shape 37"/>
          <p:cNvSpPr/>
          <p:nvPr/>
        </p:nvSpPr>
        <p:spPr>
          <a:xfrm>
            <a:off x="2194560" y="2551176"/>
            <a:ext cx="274320" cy="274320"/>
          </a:xfrm>
          <a:prstGeom prst="roundRect">
            <a:avLst>
              <a:gd name="adj" fmla="val 10000"/>
            </a:avLst>
          </a:prstGeom>
          <a:solidFill>
            <a:srgbClr val="1E6A66"/>
          </a:solidFill>
          <a:ln w="12700">
            <a:solidFill>
              <a:srgbClr val="333333"/>
            </a:solidFill>
            <a:prstDash val="solid"/>
          </a:ln>
        </p:spPr>
      </p:sp>
      <p:sp>
        <p:nvSpPr>
          <p:cNvPr id="40" name="Shape 38"/>
          <p:cNvSpPr/>
          <p:nvPr/>
        </p:nvSpPr>
        <p:spPr>
          <a:xfrm>
            <a:off x="2578608" y="2551176"/>
            <a:ext cx="274320" cy="274320"/>
          </a:xfrm>
          <a:prstGeom prst="roundRect">
            <a:avLst>
              <a:gd name="adj" fmla="val 10000"/>
            </a:avLst>
          </a:prstGeom>
          <a:solidFill>
            <a:srgbClr val="1E6A66"/>
          </a:solidFill>
          <a:ln w="12700">
            <a:solidFill>
              <a:srgbClr val="333333"/>
            </a:solidFill>
            <a:prstDash val="solid"/>
          </a:ln>
        </p:spPr>
      </p:sp>
      <p:sp>
        <p:nvSpPr>
          <p:cNvPr id="41" name="Shape 39"/>
          <p:cNvSpPr/>
          <p:nvPr/>
        </p:nvSpPr>
        <p:spPr>
          <a:xfrm>
            <a:off x="2962656" y="2551176"/>
            <a:ext cx="274320" cy="274320"/>
          </a:xfrm>
          <a:prstGeom prst="roundRect">
            <a:avLst>
              <a:gd name="adj" fmla="val 10000"/>
            </a:avLst>
          </a:prstGeom>
          <a:solidFill>
            <a:srgbClr val="1E6A66"/>
          </a:solidFill>
          <a:ln w="12700">
            <a:solidFill>
              <a:srgbClr val="333333"/>
            </a:solidFill>
            <a:prstDash val="solid"/>
          </a:ln>
        </p:spPr>
      </p:sp>
      <p:sp>
        <p:nvSpPr>
          <p:cNvPr id="42" name="Shape 40"/>
          <p:cNvSpPr/>
          <p:nvPr/>
        </p:nvSpPr>
        <p:spPr>
          <a:xfrm>
            <a:off x="3346704" y="2551176"/>
            <a:ext cx="274320" cy="274320"/>
          </a:xfrm>
          <a:prstGeom prst="roundRect">
            <a:avLst>
              <a:gd name="adj" fmla="val 10000"/>
            </a:avLst>
          </a:prstGeom>
          <a:solidFill>
            <a:srgbClr val="1E6A66"/>
          </a:solidFill>
          <a:ln w="12700">
            <a:solidFill>
              <a:srgbClr val="333333"/>
            </a:solidFill>
            <a:prstDash val="solid"/>
          </a:ln>
        </p:spPr>
      </p:sp>
      <p:sp>
        <p:nvSpPr>
          <p:cNvPr id="43" name="Shape 41"/>
          <p:cNvSpPr/>
          <p:nvPr/>
        </p:nvSpPr>
        <p:spPr>
          <a:xfrm>
            <a:off x="3730752" y="2551176"/>
            <a:ext cx="274320" cy="274320"/>
          </a:xfrm>
          <a:prstGeom prst="roundRect">
            <a:avLst>
              <a:gd name="adj" fmla="val 10000"/>
            </a:avLst>
          </a:prstGeom>
          <a:solidFill>
            <a:srgbClr val="1E6A66"/>
          </a:solidFill>
          <a:ln w="12700">
            <a:solidFill>
              <a:srgbClr val="333333"/>
            </a:solidFill>
            <a:prstDash val="solid"/>
          </a:ln>
        </p:spPr>
      </p:sp>
      <p:sp>
        <p:nvSpPr>
          <p:cNvPr id="44" name="Shape 42"/>
          <p:cNvSpPr/>
          <p:nvPr/>
        </p:nvSpPr>
        <p:spPr>
          <a:xfrm>
            <a:off x="4114800" y="2551176"/>
            <a:ext cx="274320" cy="274320"/>
          </a:xfrm>
          <a:prstGeom prst="roundRect">
            <a:avLst>
              <a:gd name="adj" fmla="val 10000"/>
            </a:avLst>
          </a:prstGeom>
          <a:solidFill>
            <a:srgbClr val="1E6A66"/>
          </a:solidFill>
          <a:ln w="12700">
            <a:solidFill>
              <a:srgbClr val="333333"/>
            </a:solidFill>
            <a:prstDash val="solid"/>
          </a:ln>
        </p:spPr>
      </p:sp>
      <p:sp>
        <p:nvSpPr>
          <p:cNvPr id="45" name="Shape 43"/>
          <p:cNvSpPr/>
          <p:nvPr/>
        </p:nvSpPr>
        <p:spPr>
          <a:xfrm>
            <a:off x="4498848" y="2551176"/>
            <a:ext cx="274320" cy="274320"/>
          </a:xfrm>
          <a:prstGeom prst="roundRect">
            <a:avLst>
              <a:gd name="adj" fmla="val 10000"/>
            </a:avLst>
          </a:prstGeom>
          <a:solidFill>
            <a:srgbClr val="E2607A"/>
          </a:solidFill>
          <a:ln w="12700">
            <a:solidFill>
              <a:srgbClr val="333333"/>
            </a:solidFill>
            <a:prstDash val="solid"/>
          </a:ln>
        </p:spPr>
      </p:sp>
      <p:sp>
        <p:nvSpPr>
          <p:cNvPr id="46" name="Shape 44"/>
          <p:cNvSpPr/>
          <p:nvPr/>
        </p:nvSpPr>
        <p:spPr>
          <a:xfrm>
            <a:off x="4882896" y="2551176"/>
            <a:ext cx="274320" cy="274320"/>
          </a:xfrm>
          <a:prstGeom prst="roundRect">
            <a:avLst>
              <a:gd name="adj" fmla="val 10000"/>
            </a:avLst>
          </a:prstGeom>
          <a:solidFill>
            <a:srgbClr val="1E6A66"/>
          </a:solidFill>
          <a:ln w="12700">
            <a:solidFill>
              <a:srgbClr val="333333"/>
            </a:solidFill>
            <a:prstDash val="solid"/>
          </a:ln>
        </p:spPr>
      </p:sp>
      <p:sp>
        <p:nvSpPr>
          <p:cNvPr id="47" name="Shape 45"/>
          <p:cNvSpPr/>
          <p:nvPr/>
        </p:nvSpPr>
        <p:spPr>
          <a:xfrm>
            <a:off x="5266944" y="2551176"/>
            <a:ext cx="274320" cy="274320"/>
          </a:xfrm>
          <a:prstGeom prst="roundRect">
            <a:avLst>
              <a:gd name="adj" fmla="val 10000"/>
            </a:avLst>
          </a:prstGeom>
          <a:solidFill>
            <a:srgbClr val="1E6A66"/>
          </a:solidFill>
          <a:ln w="12700">
            <a:solidFill>
              <a:srgbClr val="333333"/>
            </a:solidFill>
            <a:prstDash val="solid"/>
          </a:ln>
        </p:spPr>
      </p:sp>
      <p:sp>
        <p:nvSpPr>
          <p:cNvPr id="48" name="Shape 46"/>
          <p:cNvSpPr/>
          <p:nvPr/>
        </p:nvSpPr>
        <p:spPr>
          <a:xfrm>
            <a:off x="5650992" y="2551176"/>
            <a:ext cx="274320" cy="274320"/>
          </a:xfrm>
          <a:prstGeom prst="roundRect">
            <a:avLst>
              <a:gd name="adj" fmla="val 10000"/>
            </a:avLst>
          </a:prstGeom>
          <a:solidFill>
            <a:srgbClr val="1E6A66"/>
          </a:solidFill>
          <a:ln w="12700">
            <a:solidFill>
              <a:srgbClr val="333333"/>
            </a:solidFill>
            <a:prstDash val="solid"/>
          </a:ln>
        </p:spPr>
      </p:sp>
      <p:sp>
        <p:nvSpPr>
          <p:cNvPr id="49" name="Shape 47"/>
          <p:cNvSpPr/>
          <p:nvPr/>
        </p:nvSpPr>
        <p:spPr>
          <a:xfrm>
            <a:off x="658368" y="2935224"/>
            <a:ext cx="274320" cy="274320"/>
          </a:xfrm>
          <a:prstGeom prst="roundRect">
            <a:avLst>
              <a:gd name="adj" fmla="val 10000"/>
            </a:avLst>
          </a:prstGeom>
          <a:solidFill>
            <a:srgbClr val="1E6A66"/>
          </a:solidFill>
          <a:ln w="12700">
            <a:solidFill>
              <a:srgbClr val="333333"/>
            </a:solidFill>
            <a:prstDash val="solid"/>
          </a:ln>
        </p:spPr>
      </p:sp>
      <p:sp>
        <p:nvSpPr>
          <p:cNvPr id="50" name="Shape 48"/>
          <p:cNvSpPr/>
          <p:nvPr/>
        </p:nvSpPr>
        <p:spPr>
          <a:xfrm>
            <a:off x="1042416" y="2935224"/>
            <a:ext cx="274320" cy="274320"/>
          </a:xfrm>
          <a:prstGeom prst="roundRect">
            <a:avLst>
              <a:gd name="adj" fmla="val 10000"/>
            </a:avLst>
          </a:prstGeom>
          <a:solidFill>
            <a:srgbClr val="1E6A66"/>
          </a:solidFill>
          <a:ln w="12700">
            <a:solidFill>
              <a:srgbClr val="333333"/>
            </a:solidFill>
            <a:prstDash val="solid"/>
          </a:ln>
        </p:spPr>
      </p:sp>
      <p:sp>
        <p:nvSpPr>
          <p:cNvPr id="51" name="Shape 49"/>
          <p:cNvSpPr/>
          <p:nvPr/>
        </p:nvSpPr>
        <p:spPr>
          <a:xfrm>
            <a:off x="1426464" y="2935224"/>
            <a:ext cx="274320" cy="274320"/>
          </a:xfrm>
          <a:prstGeom prst="roundRect">
            <a:avLst>
              <a:gd name="adj" fmla="val 10000"/>
            </a:avLst>
          </a:prstGeom>
          <a:solidFill>
            <a:srgbClr val="1E6A66"/>
          </a:solidFill>
          <a:ln w="12700">
            <a:solidFill>
              <a:srgbClr val="333333"/>
            </a:solidFill>
            <a:prstDash val="solid"/>
          </a:ln>
        </p:spPr>
      </p:sp>
      <p:sp>
        <p:nvSpPr>
          <p:cNvPr id="52" name="Shape 50"/>
          <p:cNvSpPr/>
          <p:nvPr/>
        </p:nvSpPr>
        <p:spPr>
          <a:xfrm>
            <a:off x="1810512" y="2935224"/>
            <a:ext cx="274320" cy="274320"/>
          </a:xfrm>
          <a:prstGeom prst="roundRect">
            <a:avLst>
              <a:gd name="adj" fmla="val 10000"/>
            </a:avLst>
          </a:prstGeom>
          <a:solidFill>
            <a:srgbClr val="E2607A"/>
          </a:solidFill>
          <a:ln w="12700">
            <a:solidFill>
              <a:srgbClr val="333333"/>
            </a:solidFill>
            <a:prstDash val="solid"/>
          </a:ln>
        </p:spPr>
      </p:sp>
      <p:sp>
        <p:nvSpPr>
          <p:cNvPr id="53" name="Shape 51"/>
          <p:cNvSpPr/>
          <p:nvPr/>
        </p:nvSpPr>
        <p:spPr>
          <a:xfrm>
            <a:off x="2194560" y="2935224"/>
            <a:ext cx="274320" cy="274320"/>
          </a:xfrm>
          <a:prstGeom prst="roundRect">
            <a:avLst>
              <a:gd name="adj" fmla="val 10000"/>
            </a:avLst>
          </a:prstGeom>
          <a:solidFill>
            <a:srgbClr val="1E6A66"/>
          </a:solidFill>
          <a:ln w="12700">
            <a:solidFill>
              <a:srgbClr val="333333"/>
            </a:solidFill>
            <a:prstDash val="solid"/>
          </a:ln>
        </p:spPr>
      </p:sp>
      <p:sp>
        <p:nvSpPr>
          <p:cNvPr id="54" name="Shape 52"/>
          <p:cNvSpPr/>
          <p:nvPr/>
        </p:nvSpPr>
        <p:spPr>
          <a:xfrm>
            <a:off x="2578608" y="2935224"/>
            <a:ext cx="274320" cy="274320"/>
          </a:xfrm>
          <a:prstGeom prst="roundRect">
            <a:avLst>
              <a:gd name="adj" fmla="val 10000"/>
            </a:avLst>
          </a:prstGeom>
          <a:solidFill>
            <a:srgbClr val="1E6A66"/>
          </a:solidFill>
          <a:ln w="12700">
            <a:solidFill>
              <a:srgbClr val="333333"/>
            </a:solidFill>
            <a:prstDash val="solid"/>
          </a:ln>
        </p:spPr>
      </p:sp>
      <p:sp>
        <p:nvSpPr>
          <p:cNvPr id="55" name="Shape 53"/>
          <p:cNvSpPr/>
          <p:nvPr/>
        </p:nvSpPr>
        <p:spPr>
          <a:xfrm>
            <a:off x="2962656" y="2935224"/>
            <a:ext cx="274320" cy="274320"/>
          </a:xfrm>
          <a:prstGeom prst="roundRect">
            <a:avLst>
              <a:gd name="adj" fmla="val 10000"/>
            </a:avLst>
          </a:prstGeom>
          <a:solidFill>
            <a:srgbClr val="1E6A66"/>
          </a:solidFill>
          <a:ln w="12700">
            <a:solidFill>
              <a:srgbClr val="333333"/>
            </a:solidFill>
            <a:prstDash val="solid"/>
          </a:ln>
        </p:spPr>
      </p:sp>
      <p:sp>
        <p:nvSpPr>
          <p:cNvPr id="56" name="Shape 54"/>
          <p:cNvSpPr/>
          <p:nvPr/>
        </p:nvSpPr>
        <p:spPr>
          <a:xfrm>
            <a:off x="3346704" y="2935224"/>
            <a:ext cx="274320" cy="274320"/>
          </a:xfrm>
          <a:prstGeom prst="roundRect">
            <a:avLst>
              <a:gd name="adj" fmla="val 10000"/>
            </a:avLst>
          </a:prstGeom>
          <a:solidFill>
            <a:srgbClr val="1E6A66"/>
          </a:solidFill>
          <a:ln w="12700">
            <a:solidFill>
              <a:srgbClr val="333333"/>
            </a:solidFill>
            <a:prstDash val="solid"/>
          </a:ln>
        </p:spPr>
      </p:sp>
      <p:sp>
        <p:nvSpPr>
          <p:cNvPr id="57" name="Shape 55"/>
          <p:cNvSpPr/>
          <p:nvPr/>
        </p:nvSpPr>
        <p:spPr>
          <a:xfrm>
            <a:off x="3730752" y="2935224"/>
            <a:ext cx="274320" cy="274320"/>
          </a:xfrm>
          <a:prstGeom prst="roundRect">
            <a:avLst>
              <a:gd name="adj" fmla="val 10000"/>
            </a:avLst>
          </a:prstGeom>
          <a:solidFill>
            <a:srgbClr val="1E6A66"/>
          </a:solidFill>
          <a:ln w="12700">
            <a:solidFill>
              <a:srgbClr val="333333"/>
            </a:solidFill>
            <a:prstDash val="solid"/>
          </a:ln>
        </p:spPr>
      </p:sp>
      <p:sp>
        <p:nvSpPr>
          <p:cNvPr id="58" name="Shape 56"/>
          <p:cNvSpPr/>
          <p:nvPr/>
        </p:nvSpPr>
        <p:spPr>
          <a:xfrm>
            <a:off x="4114800" y="2935224"/>
            <a:ext cx="274320" cy="274320"/>
          </a:xfrm>
          <a:prstGeom prst="roundRect">
            <a:avLst>
              <a:gd name="adj" fmla="val 10000"/>
            </a:avLst>
          </a:prstGeom>
          <a:solidFill>
            <a:srgbClr val="1E6A66"/>
          </a:solidFill>
          <a:ln w="12700">
            <a:solidFill>
              <a:srgbClr val="333333"/>
            </a:solidFill>
            <a:prstDash val="solid"/>
          </a:ln>
        </p:spPr>
      </p:sp>
      <p:sp>
        <p:nvSpPr>
          <p:cNvPr id="59" name="Shape 57"/>
          <p:cNvSpPr/>
          <p:nvPr/>
        </p:nvSpPr>
        <p:spPr>
          <a:xfrm>
            <a:off x="4498848" y="2935224"/>
            <a:ext cx="274320" cy="274320"/>
          </a:xfrm>
          <a:prstGeom prst="roundRect">
            <a:avLst>
              <a:gd name="adj" fmla="val 10000"/>
            </a:avLst>
          </a:prstGeom>
          <a:solidFill>
            <a:srgbClr val="E2607A"/>
          </a:solidFill>
          <a:ln w="12700">
            <a:solidFill>
              <a:srgbClr val="333333"/>
            </a:solidFill>
            <a:prstDash val="solid"/>
          </a:ln>
        </p:spPr>
      </p:sp>
      <p:sp>
        <p:nvSpPr>
          <p:cNvPr id="60" name="Shape 58"/>
          <p:cNvSpPr/>
          <p:nvPr/>
        </p:nvSpPr>
        <p:spPr>
          <a:xfrm>
            <a:off x="4882896" y="2935224"/>
            <a:ext cx="274320" cy="274320"/>
          </a:xfrm>
          <a:prstGeom prst="roundRect">
            <a:avLst>
              <a:gd name="adj" fmla="val 10000"/>
            </a:avLst>
          </a:prstGeom>
          <a:solidFill>
            <a:srgbClr val="1E6A66"/>
          </a:solidFill>
          <a:ln w="12700">
            <a:solidFill>
              <a:srgbClr val="333333"/>
            </a:solidFill>
            <a:prstDash val="solid"/>
          </a:ln>
        </p:spPr>
      </p:sp>
      <p:sp>
        <p:nvSpPr>
          <p:cNvPr id="61" name="Shape 59"/>
          <p:cNvSpPr/>
          <p:nvPr/>
        </p:nvSpPr>
        <p:spPr>
          <a:xfrm>
            <a:off x="5266944" y="2935224"/>
            <a:ext cx="274320" cy="274320"/>
          </a:xfrm>
          <a:prstGeom prst="roundRect">
            <a:avLst>
              <a:gd name="adj" fmla="val 10000"/>
            </a:avLst>
          </a:prstGeom>
          <a:solidFill>
            <a:srgbClr val="1E6A66"/>
          </a:solidFill>
          <a:ln w="12700">
            <a:solidFill>
              <a:srgbClr val="333333"/>
            </a:solidFill>
            <a:prstDash val="solid"/>
          </a:ln>
        </p:spPr>
      </p:sp>
      <p:sp>
        <p:nvSpPr>
          <p:cNvPr id="62" name="Shape 60"/>
          <p:cNvSpPr/>
          <p:nvPr/>
        </p:nvSpPr>
        <p:spPr>
          <a:xfrm>
            <a:off x="5650992" y="2935224"/>
            <a:ext cx="274320" cy="274320"/>
          </a:xfrm>
          <a:prstGeom prst="roundRect">
            <a:avLst>
              <a:gd name="adj" fmla="val 10000"/>
            </a:avLst>
          </a:prstGeom>
          <a:solidFill>
            <a:srgbClr val="1E6A66"/>
          </a:solidFill>
          <a:ln w="12700">
            <a:solidFill>
              <a:srgbClr val="333333"/>
            </a:solidFill>
            <a:prstDash val="solid"/>
          </a:ln>
        </p:spPr>
      </p:sp>
      <p:sp>
        <p:nvSpPr>
          <p:cNvPr id="63" name="Shape 61"/>
          <p:cNvSpPr/>
          <p:nvPr/>
        </p:nvSpPr>
        <p:spPr>
          <a:xfrm>
            <a:off x="658368" y="3319272"/>
            <a:ext cx="274320" cy="274320"/>
          </a:xfrm>
          <a:prstGeom prst="roundRect">
            <a:avLst>
              <a:gd name="adj" fmla="val 10000"/>
            </a:avLst>
          </a:prstGeom>
          <a:solidFill>
            <a:srgbClr val="1E6A66"/>
          </a:solidFill>
          <a:ln w="12700">
            <a:solidFill>
              <a:srgbClr val="333333"/>
            </a:solidFill>
            <a:prstDash val="solid"/>
          </a:ln>
        </p:spPr>
      </p:sp>
      <p:sp>
        <p:nvSpPr>
          <p:cNvPr id="64" name="Shape 62"/>
          <p:cNvSpPr/>
          <p:nvPr/>
        </p:nvSpPr>
        <p:spPr>
          <a:xfrm>
            <a:off x="1042416" y="3319272"/>
            <a:ext cx="274320" cy="274320"/>
          </a:xfrm>
          <a:prstGeom prst="roundRect">
            <a:avLst>
              <a:gd name="adj" fmla="val 10000"/>
            </a:avLst>
          </a:prstGeom>
          <a:solidFill>
            <a:srgbClr val="1E6A66"/>
          </a:solidFill>
          <a:ln w="12700">
            <a:solidFill>
              <a:srgbClr val="333333"/>
            </a:solidFill>
            <a:prstDash val="solid"/>
          </a:ln>
        </p:spPr>
      </p:sp>
      <p:sp>
        <p:nvSpPr>
          <p:cNvPr id="65" name="Shape 63"/>
          <p:cNvSpPr/>
          <p:nvPr/>
        </p:nvSpPr>
        <p:spPr>
          <a:xfrm>
            <a:off x="1426464" y="3319272"/>
            <a:ext cx="274320" cy="274320"/>
          </a:xfrm>
          <a:prstGeom prst="roundRect">
            <a:avLst>
              <a:gd name="adj" fmla="val 10000"/>
            </a:avLst>
          </a:prstGeom>
          <a:solidFill>
            <a:srgbClr val="1E6A66"/>
          </a:solidFill>
          <a:ln w="12700">
            <a:solidFill>
              <a:srgbClr val="333333"/>
            </a:solidFill>
            <a:prstDash val="solid"/>
          </a:ln>
        </p:spPr>
      </p:sp>
      <p:sp>
        <p:nvSpPr>
          <p:cNvPr id="66" name="Shape 64"/>
          <p:cNvSpPr/>
          <p:nvPr/>
        </p:nvSpPr>
        <p:spPr>
          <a:xfrm>
            <a:off x="1810512" y="3319272"/>
            <a:ext cx="274320" cy="274320"/>
          </a:xfrm>
          <a:prstGeom prst="roundRect">
            <a:avLst>
              <a:gd name="adj" fmla="val 10000"/>
            </a:avLst>
          </a:prstGeom>
          <a:solidFill>
            <a:srgbClr val="E2607A"/>
          </a:solidFill>
          <a:ln w="12700">
            <a:solidFill>
              <a:srgbClr val="333333"/>
            </a:solidFill>
            <a:prstDash val="solid"/>
          </a:ln>
        </p:spPr>
      </p:sp>
      <p:sp>
        <p:nvSpPr>
          <p:cNvPr id="67" name="Shape 65"/>
          <p:cNvSpPr/>
          <p:nvPr/>
        </p:nvSpPr>
        <p:spPr>
          <a:xfrm>
            <a:off x="2194560" y="3319272"/>
            <a:ext cx="274320" cy="274320"/>
          </a:xfrm>
          <a:prstGeom prst="roundRect">
            <a:avLst>
              <a:gd name="adj" fmla="val 10000"/>
            </a:avLst>
          </a:prstGeom>
          <a:solidFill>
            <a:srgbClr val="1E6A66"/>
          </a:solidFill>
          <a:ln w="12700">
            <a:solidFill>
              <a:srgbClr val="333333"/>
            </a:solidFill>
            <a:prstDash val="solid"/>
          </a:ln>
        </p:spPr>
      </p:sp>
      <p:sp>
        <p:nvSpPr>
          <p:cNvPr id="68" name="Shape 66"/>
          <p:cNvSpPr/>
          <p:nvPr/>
        </p:nvSpPr>
        <p:spPr>
          <a:xfrm>
            <a:off x="2578608" y="3319272"/>
            <a:ext cx="274320" cy="274320"/>
          </a:xfrm>
          <a:prstGeom prst="roundRect">
            <a:avLst>
              <a:gd name="adj" fmla="val 10000"/>
            </a:avLst>
          </a:prstGeom>
          <a:solidFill>
            <a:srgbClr val="1E6A66"/>
          </a:solidFill>
          <a:ln w="12700">
            <a:solidFill>
              <a:srgbClr val="333333"/>
            </a:solidFill>
            <a:prstDash val="solid"/>
          </a:ln>
        </p:spPr>
      </p:sp>
      <p:sp>
        <p:nvSpPr>
          <p:cNvPr id="69" name="Shape 67"/>
          <p:cNvSpPr/>
          <p:nvPr/>
        </p:nvSpPr>
        <p:spPr>
          <a:xfrm>
            <a:off x="2962656" y="3319272"/>
            <a:ext cx="274320" cy="274320"/>
          </a:xfrm>
          <a:prstGeom prst="roundRect">
            <a:avLst>
              <a:gd name="adj" fmla="val 10000"/>
            </a:avLst>
          </a:prstGeom>
          <a:solidFill>
            <a:srgbClr val="1E6A66"/>
          </a:solidFill>
          <a:ln w="12700">
            <a:solidFill>
              <a:srgbClr val="333333"/>
            </a:solidFill>
            <a:prstDash val="solid"/>
          </a:ln>
        </p:spPr>
      </p:sp>
      <p:sp>
        <p:nvSpPr>
          <p:cNvPr id="70" name="Shape 68"/>
          <p:cNvSpPr/>
          <p:nvPr/>
        </p:nvSpPr>
        <p:spPr>
          <a:xfrm>
            <a:off x="3346704" y="3319272"/>
            <a:ext cx="274320" cy="274320"/>
          </a:xfrm>
          <a:prstGeom prst="roundRect">
            <a:avLst>
              <a:gd name="adj" fmla="val 10000"/>
            </a:avLst>
          </a:prstGeom>
          <a:solidFill>
            <a:srgbClr val="1E6A66"/>
          </a:solidFill>
          <a:ln w="12700">
            <a:solidFill>
              <a:srgbClr val="333333"/>
            </a:solidFill>
            <a:prstDash val="solid"/>
          </a:ln>
        </p:spPr>
      </p:sp>
      <p:sp>
        <p:nvSpPr>
          <p:cNvPr id="71" name="Shape 69"/>
          <p:cNvSpPr/>
          <p:nvPr/>
        </p:nvSpPr>
        <p:spPr>
          <a:xfrm>
            <a:off x="3730752" y="3319272"/>
            <a:ext cx="274320" cy="274320"/>
          </a:xfrm>
          <a:prstGeom prst="roundRect">
            <a:avLst>
              <a:gd name="adj" fmla="val 10000"/>
            </a:avLst>
          </a:prstGeom>
          <a:solidFill>
            <a:srgbClr val="1E6A66"/>
          </a:solidFill>
          <a:ln w="12700">
            <a:solidFill>
              <a:srgbClr val="333333"/>
            </a:solidFill>
            <a:prstDash val="solid"/>
          </a:ln>
        </p:spPr>
      </p:sp>
      <p:sp>
        <p:nvSpPr>
          <p:cNvPr id="72" name="Shape 70"/>
          <p:cNvSpPr/>
          <p:nvPr/>
        </p:nvSpPr>
        <p:spPr>
          <a:xfrm>
            <a:off x="4114800" y="3319272"/>
            <a:ext cx="274320" cy="274320"/>
          </a:xfrm>
          <a:prstGeom prst="roundRect">
            <a:avLst>
              <a:gd name="adj" fmla="val 10000"/>
            </a:avLst>
          </a:prstGeom>
          <a:solidFill>
            <a:srgbClr val="1E6A66"/>
          </a:solidFill>
          <a:ln w="12700">
            <a:solidFill>
              <a:srgbClr val="333333"/>
            </a:solidFill>
            <a:prstDash val="solid"/>
          </a:ln>
        </p:spPr>
      </p:sp>
      <p:sp>
        <p:nvSpPr>
          <p:cNvPr id="73" name="Shape 71"/>
          <p:cNvSpPr/>
          <p:nvPr/>
        </p:nvSpPr>
        <p:spPr>
          <a:xfrm>
            <a:off x="4498848" y="3319272"/>
            <a:ext cx="274320" cy="274320"/>
          </a:xfrm>
          <a:prstGeom prst="roundRect">
            <a:avLst>
              <a:gd name="adj" fmla="val 10000"/>
            </a:avLst>
          </a:prstGeom>
          <a:solidFill>
            <a:srgbClr val="E2607A"/>
          </a:solidFill>
          <a:ln w="12700">
            <a:solidFill>
              <a:srgbClr val="333333"/>
            </a:solidFill>
            <a:prstDash val="solid"/>
          </a:ln>
        </p:spPr>
      </p:sp>
      <p:sp>
        <p:nvSpPr>
          <p:cNvPr id="74" name="Shape 72"/>
          <p:cNvSpPr/>
          <p:nvPr/>
        </p:nvSpPr>
        <p:spPr>
          <a:xfrm>
            <a:off x="4882896" y="3319272"/>
            <a:ext cx="274320" cy="274320"/>
          </a:xfrm>
          <a:prstGeom prst="roundRect">
            <a:avLst>
              <a:gd name="adj" fmla="val 10000"/>
            </a:avLst>
          </a:prstGeom>
          <a:solidFill>
            <a:srgbClr val="1E6A66"/>
          </a:solidFill>
          <a:ln w="12700">
            <a:solidFill>
              <a:srgbClr val="333333"/>
            </a:solidFill>
            <a:prstDash val="solid"/>
          </a:ln>
        </p:spPr>
      </p:sp>
      <p:sp>
        <p:nvSpPr>
          <p:cNvPr id="75" name="Shape 73"/>
          <p:cNvSpPr/>
          <p:nvPr/>
        </p:nvSpPr>
        <p:spPr>
          <a:xfrm>
            <a:off x="5266944" y="3319272"/>
            <a:ext cx="274320" cy="274320"/>
          </a:xfrm>
          <a:prstGeom prst="roundRect">
            <a:avLst>
              <a:gd name="adj" fmla="val 10000"/>
            </a:avLst>
          </a:prstGeom>
          <a:solidFill>
            <a:srgbClr val="1E6A66"/>
          </a:solidFill>
          <a:ln w="12700">
            <a:solidFill>
              <a:srgbClr val="333333"/>
            </a:solidFill>
            <a:prstDash val="solid"/>
          </a:ln>
        </p:spPr>
      </p:sp>
      <p:sp>
        <p:nvSpPr>
          <p:cNvPr id="76" name="Shape 74"/>
          <p:cNvSpPr/>
          <p:nvPr/>
        </p:nvSpPr>
        <p:spPr>
          <a:xfrm>
            <a:off x="5650992" y="3319272"/>
            <a:ext cx="274320" cy="274320"/>
          </a:xfrm>
          <a:prstGeom prst="roundRect">
            <a:avLst>
              <a:gd name="adj" fmla="val 10000"/>
            </a:avLst>
          </a:prstGeom>
          <a:solidFill>
            <a:srgbClr val="1E6A66"/>
          </a:solidFill>
          <a:ln w="12700">
            <a:solidFill>
              <a:srgbClr val="333333"/>
            </a:solidFill>
            <a:prstDash val="solid"/>
          </a:ln>
        </p:spPr>
      </p:sp>
      <p:sp>
        <p:nvSpPr>
          <p:cNvPr id="77" name="Shape 75"/>
          <p:cNvSpPr/>
          <p:nvPr/>
        </p:nvSpPr>
        <p:spPr>
          <a:xfrm>
            <a:off x="658368" y="3703320"/>
            <a:ext cx="274320" cy="274320"/>
          </a:xfrm>
          <a:prstGeom prst="roundRect">
            <a:avLst>
              <a:gd name="adj" fmla="val 10000"/>
            </a:avLst>
          </a:prstGeom>
          <a:solidFill>
            <a:srgbClr val="1E6A66"/>
          </a:solidFill>
          <a:ln w="12700">
            <a:solidFill>
              <a:srgbClr val="333333"/>
            </a:solidFill>
            <a:prstDash val="solid"/>
          </a:ln>
        </p:spPr>
      </p:sp>
      <p:sp>
        <p:nvSpPr>
          <p:cNvPr id="78" name="Shape 76"/>
          <p:cNvSpPr/>
          <p:nvPr/>
        </p:nvSpPr>
        <p:spPr>
          <a:xfrm>
            <a:off x="1042416" y="3703320"/>
            <a:ext cx="274320" cy="274320"/>
          </a:xfrm>
          <a:prstGeom prst="roundRect">
            <a:avLst>
              <a:gd name="adj" fmla="val 10000"/>
            </a:avLst>
          </a:prstGeom>
          <a:solidFill>
            <a:srgbClr val="1E6A66"/>
          </a:solidFill>
          <a:ln w="12700">
            <a:solidFill>
              <a:srgbClr val="333333"/>
            </a:solidFill>
            <a:prstDash val="solid"/>
          </a:ln>
        </p:spPr>
      </p:sp>
      <p:sp>
        <p:nvSpPr>
          <p:cNvPr id="79" name="Shape 77"/>
          <p:cNvSpPr/>
          <p:nvPr/>
        </p:nvSpPr>
        <p:spPr>
          <a:xfrm>
            <a:off x="1426464" y="3703320"/>
            <a:ext cx="274320" cy="274320"/>
          </a:xfrm>
          <a:prstGeom prst="roundRect">
            <a:avLst>
              <a:gd name="adj" fmla="val 10000"/>
            </a:avLst>
          </a:prstGeom>
          <a:solidFill>
            <a:srgbClr val="1E6A66"/>
          </a:solidFill>
          <a:ln w="12700">
            <a:solidFill>
              <a:srgbClr val="333333"/>
            </a:solidFill>
            <a:prstDash val="solid"/>
          </a:ln>
        </p:spPr>
      </p:sp>
      <p:sp>
        <p:nvSpPr>
          <p:cNvPr id="80" name="Shape 78"/>
          <p:cNvSpPr/>
          <p:nvPr/>
        </p:nvSpPr>
        <p:spPr>
          <a:xfrm>
            <a:off x="1810512" y="3703320"/>
            <a:ext cx="274320" cy="274320"/>
          </a:xfrm>
          <a:prstGeom prst="roundRect">
            <a:avLst>
              <a:gd name="adj" fmla="val 10000"/>
            </a:avLst>
          </a:prstGeom>
          <a:solidFill>
            <a:srgbClr val="E2607A"/>
          </a:solidFill>
          <a:ln w="12700">
            <a:solidFill>
              <a:srgbClr val="333333"/>
            </a:solidFill>
            <a:prstDash val="solid"/>
          </a:ln>
        </p:spPr>
      </p:sp>
      <p:sp>
        <p:nvSpPr>
          <p:cNvPr id="81" name="Shape 79"/>
          <p:cNvSpPr/>
          <p:nvPr/>
        </p:nvSpPr>
        <p:spPr>
          <a:xfrm>
            <a:off x="2194560" y="3703320"/>
            <a:ext cx="274320" cy="274320"/>
          </a:xfrm>
          <a:prstGeom prst="roundRect">
            <a:avLst>
              <a:gd name="adj" fmla="val 10000"/>
            </a:avLst>
          </a:prstGeom>
          <a:solidFill>
            <a:srgbClr val="1E6A66"/>
          </a:solidFill>
          <a:ln w="12700">
            <a:solidFill>
              <a:srgbClr val="333333"/>
            </a:solidFill>
            <a:prstDash val="solid"/>
          </a:ln>
        </p:spPr>
      </p:sp>
      <p:sp>
        <p:nvSpPr>
          <p:cNvPr id="82" name="Shape 80"/>
          <p:cNvSpPr/>
          <p:nvPr/>
        </p:nvSpPr>
        <p:spPr>
          <a:xfrm>
            <a:off x="2578608" y="3703320"/>
            <a:ext cx="274320" cy="274320"/>
          </a:xfrm>
          <a:prstGeom prst="roundRect">
            <a:avLst>
              <a:gd name="adj" fmla="val 10000"/>
            </a:avLst>
          </a:prstGeom>
          <a:solidFill>
            <a:srgbClr val="1E6A66"/>
          </a:solidFill>
          <a:ln w="12700">
            <a:solidFill>
              <a:srgbClr val="333333"/>
            </a:solidFill>
            <a:prstDash val="solid"/>
          </a:ln>
        </p:spPr>
      </p:sp>
      <p:sp>
        <p:nvSpPr>
          <p:cNvPr id="83" name="Shape 81"/>
          <p:cNvSpPr/>
          <p:nvPr/>
        </p:nvSpPr>
        <p:spPr>
          <a:xfrm>
            <a:off x="2962656" y="3703320"/>
            <a:ext cx="274320" cy="274320"/>
          </a:xfrm>
          <a:prstGeom prst="roundRect">
            <a:avLst>
              <a:gd name="adj" fmla="val 10000"/>
            </a:avLst>
          </a:prstGeom>
          <a:solidFill>
            <a:srgbClr val="1E6A66"/>
          </a:solidFill>
          <a:ln w="12700">
            <a:solidFill>
              <a:srgbClr val="333333"/>
            </a:solidFill>
            <a:prstDash val="solid"/>
          </a:ln>
        </p:spPr>
      </p:sp>
      <p:sp>
        <p:nvSpPr>
          <p:cNvPr id="84" name="Shape 82"/>
          <p:cNvSpPr/>
          <p:nvPr/>
        </p:nvSpPr>
        <p:spPr>
          <a:xfrm>
            <a:off x="3346704" y="3703320"/>
            <a:ext cx="274320" cy="274320"/>
          </a:xfrm>
          <a:prstGeom prst="roundRect">
            <a:avLst>
              <a:gd name="adj" fmla="val 10000"/>
            </a:avLst>
          </a:prstGeom>
          <a:solidFill>
            <a:srgbClr val="1E6A66"/>
          </a:solidFill>
          <a:ln w="12700">
            <a:solidFill>
              <a:srgbClr val="333333"/>
            </a:solidFill>
            <a:prstDash val="solid"/>
          </a:ln>
        </p:spPr>
      </p:sp>
      <p:sp>
        <p:nvSpPr>
          <p:cNvPr id="85" name="Shape 83"/>
          <p:cNvSpPr/>
          <p:nvPr/>
        </p:nvSpPr>
        <p:spPr>
          <a:xfrm>
            <a:off x="3730752" y="3703320"/>
            <a:ext cx="274320" cy="274320"/>
          </a:xfrm>
          <a:prstGeom prst="roundRect">
            <a:avLst>
              <a:gd name="adj" fmla="val 10000"/>
            </a:avLst>
          </a:prstGeom>
          <a:solidFill>
            <a:srgbClr val="1E6A66"/>
          </a:solidFill>
          <a:ln w="12700">
            <a:solidFill>
              <a:srgbClr val="333333"/>
            </a:solidFill>
            <a:prstDash val="solid"/>
          </a:ln>
        </p:spPr>
      </p:sp>
      <p:sp>
        <p:nvSpPr>
          <p:cNvPr id="86" name="Shape 84"/>
          <p:cNvSpPr/>
          <p:nvPr/>
        </p:nvSpPr>
        <p:spPr>
          <a:xfrm>
            <a:off x="4114800" y="3703320"/>
            <a:ext cx="274320" cy="274320"/>
          </a:xfrm>
          <a:prstGeom prst="roundRect">
            <a:avLst>
              <a:gd name="adj" fmla="val 10000"/>
            </a:avLst>
          </a:prstGeom>
          <a:solidFill>
            <a:srgbClr val="1E6A66"/>
          </a:solidFill>
          <a:ln w="12700">
            <a:solidFill>
              <a:srgbClr val="333333"/>
            </a:solidFill>
            <a:prstDash val="solid"/>
          </a:ln>
        </p:spPr>
      </p:sp>
      <p:sp>
        <p:nvSpPr>
          <p:cNvPr id="87" name="Shape 85"/>
          <p:cNvSpPr/>
          <p:nvPr/>
        </p:nvSpPr>
        <p:spPr>
          <a:xfrm>
            <a:off x="4498848" y="3703320"/>
            <a:ext cx="274320" cy="274320"/>
          </a:xfrm>
          <a:prstGeom prst="roundRect">
            <a:avLst>
              <a:gd name="adj" fmla="val 10000"/>
            </a:avLst>
          </a:prstGeom>
          <a:solidFill>
            <a:srgbClr val="E2607A"/>
          </a:solidFill>
          <a:ln w="12700">
            <a:solidFill>
              <a:srgbClr val="333333"/>
            </a:solidFill>
            <a:prstDash val="solid"/>
          </a:ln>
        </p:spPr>
      </p:sp>
      <p:sp>
        <p:nvSpPr>
          <p:cNvPr id="88" name="Shape 86"/>
          <p:cNvSpPr/>
          <p:nvPr/>
        </p:nvSpPr>
        <p:spPr>
          <a:xfrm>
            <a:off x="4882896" y="3703320"/>
            <a:ext cx="274320" cy="274320"/>
          </a:xfrm>
          <a:prstGeom prst="roundRect">
            <a:avLst>
              <a:gd name="adj" fmla="val 10000"/>
            </a:avLst>
          </a:prstGeom>
          <a:solidFill>
            <a:srgbClr val="1E6A66"/>
          </a:solidFill>
          <a:ln w="12700">
            <a:solidFill>
              <a:srgbClr val="333333"/>
            </a:solidFill>
            <a:prstDash val="solid"/>
          </a:ln>
        </p:spPr>
      </p:sp>
      <p:sp>
        <p:nvSpPr>
          <p:cNvPr id="89" name="Shape 87"/>
          <p:cNvSpPr/>
          <p:nvPr/>
        </p:nvSpPr>
        <p:spPr>
          <a:xfrm>
            <a:off x="5266944" y="3703320"/>
            <a:ext cx="274320" cy="274320"/>
          </a:xfrm>
          <a:prstGeom prst="roundRect">
            <a:avLst>
              <a:gd name="adj" fmla="val 10000"/>
            </a:avLst>
          </a:prstGeom>
          <a:solidFill>
            <a:srgbClr val="1E6A66"/>
          </a:solidFill>
          <a:ln w="12700">
            <a:solidFill>
              <a:srgbClr val="333333"/>
            </a:solidFill>
            <a:prstDash val="solid"/>
          </a:ln>
        </p:spPr>
      </p:sp>
      <p:sp>
        <p:nvSpPr>
          <p:cNvPr id="90" name="Shape 88"/>
          <p:cNvSpPr/>
          <p:nvPr/>
        </p:nvSpPr>
        <p:spPr>
          <a:xfrm>
            <a:off x="5650992" y="3703320"/>
            <a:ext cx="274320" cy="274320"/>
          </a:xfrm>
          <a:prstGeom prst="roundRect">
            <a:avLst>
              <a:gd name="adj" fmla="val 10000"/>
            </a:avLst>
          </a:prstGeom>
          <a:solidFill>
            <a:srgbClr val="1E6A66"/>
          </a:solidFill>
          <a:ln w="12700">
            <a:solidFill>
              <a:srgbClr val="333333"/>
            </a:solidFill>
            <a:prstDash val="solid"/>
          </a:ln>
        </p:spPr>
      </p:sp>
      <p:sp>
        <p:nvSpPr>
          <p:cNvPr id="91" name="Text 89"/>
          <p:cNvSpPr txBox="1"/>
          <p:nvPr/>
        </p:nvSpPr>
        <p:spPr>
          <a:xfrm>
            <a:off x="658368" y="4206240"/>
            <a:ext cx="5577840" cy="274320"/>
          </a:xfrm>
          <a:prstGeom prst="rect">
            <a:avLst/>
          </a:prstGeom>
          <a:noFill/>
          <a:ln/>
        </p:spPr>
        <p:txBody>
          <a:bodyPr wrap="square" lIns="0" tIns="0" rIns="0" bIns="0" rtlCol="0" anchor="ctr"/>
          <a:lstStyle/>
          <a:p>
            <a:pPr indent="0" marL="0">
              <a:buNone/>
            </a:pPr>
            <a:r>
              <a:rPr lang="en-US" sz="1050" dirty="0">
                <a:solidFill>
                  <a:srgbClr val="7E8798"/>
                </a:solidFill>
                <a:latin typeface="Nirmala UI" pitchFamily="34" charset="0"/>
                <a:ea typeface="Nirmala UI" pitchFamily="34" charset="-122"/>
                <a:cs typeface="Nirmala UI" pitchFamily="34" charset="-120"/>
              </a:rPr>
              <a:t>valid — পরের ক্যাম্পেইনে থাকবে        invalid — কোয়েরিতেই আর আসবে না</a:t>
            </a:r>
            <a:endParaRPr lang="en-US" sz="1050" dirty="0"/>
          </a:p>
        </p:txBody>
      </p:sp>
      <p:sp>
        <p:nvSpPr>
          <p:cNvPr id="92" name="Text 90"/>
          <p:cNvSpPr txBox="1"/>
          <p:nvPr/>
        </p:nvSpPr>
        <p:spPr>
          <a:xfrm>
            <a:off x="658368" y="4617720"/>
            <a:ext cx="5577840" cy="14630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B4BCCE"/>
                </a:solidFill>
                <a:latin typeface="Nirmala UI" pitchFamily="34" charset="0"/>
                <a:ea typeface="Nirmala UI" pitchFamily="34" charset="-122"/>
                <a:cs typeface="Nirmala UI" pitchFamily="34" charset="-120"/>
              </a:rPr>
              <a:t>টোকেন মরে কেন — আনইনস্টল, ডেটা ক্লিয়ার, বা ৬ মাস অ্যাপ না খোলা</a:t>
            </a:r>
            <a:endParaRPr lang="en-US" sz="1100" dirty="0"/>
          </a:p>
          <a:p>
            <a:pPr marL="342900" indent="-342900">
              <a:spcAft>
                <a:spcPts val="600"/>
              </a:spcAft>
              <a:buSzPct val="100000"/>
              <a:buChar char="–"/>
            </a:pPr>
            <a:r>
              <a:rPr lang="en-US" sz="1100" dirty="0">
                <a:solidFill>
                  <a:srgbClr val="B4BCCE"/>
                </a:solidFill>
                <a:latin typeface="Nirmala UI" pitchFamily="34" charset="0"/>
                <a:ea typeface="Nirmala UI" pitchFamily="34" charset="-122"/>
                <a:cs typeface="Nirmala UI" pitchFamily="34" charset="-120"/>
              </a:rPr>
              <a:t>ডিলিট করি না — isValid = false, কতজন ছেড়ে গেছে সেই হিসাব থাকে</a:t>
            </a:r>
            <a:endParaRPr lang="en-US" sz="1100" dirty="0"/>
          </a:p>
          <a:p>
            <a:pPr marL="342900" indent="-342900">
              <a:spcAft>
                <a:spcPts val="600"/>
              </a:spcAft>
              <a:buSzPct val="100000"/>
              <a:buChar char="–"/>
            </a:pPr>
            <a:r>
              <a:rPr lang="en-US" sz="1100" dirty="0">
                <a:solidFill>
                  <a:srgbClr val="B4BCCE"/>
                </a:solidFill>
                <a:latin typeface="Nirmala UI" pitchFamily="34" charset="0"/>
                <a:ea typeface="Nirmala UI" pitchFamily="34" charset="-122"/>
                <a:cs typeface="Nirmala UI" pitchFamily="34" charset="-120"/>
              </a:rPr>
              <a:t>প্রতিটা ক্যাম্পেইন টোকেন টেবিলকে একটু একটু করে সুস্থ করে</a:t>
            </a:r>
            <a:endParaRPr lang="en-US" sz="1100" dirty="0"/>
          </a:p>
        </p:txBody>
      </p:sp>
      <p:sp>
        <p:nvSpPr>
          <p:cNvPr id="93" name="Shape 91"/>
          <p:cNvSpPr/>
          <p:nvPr/>
        </p:nvSpPr>
        <p:spPr>
          <a:xfrm>
            <a:off x="6492240" y="1783080"/>
            <a:ext cx="5029200" cy="3291840"/>
          </a:xfrm>
          <a:prstGeom prst="roundRect">
            <a:avLst>
              <a:gd name="adj" fmla="val 1667"/>
            </a:avLst>
          </a:prstGeom>
          <a:solidFill>
            <a:srgbClr val="090C13"/>
          </a:solidFill>
          <a:ln w="12700">
            <a:solidFill>
              <a:srgbClr val="28303F"/>
            </a:solidFill>
            <a:prstDash val="solid"/>
          </a:ln>
        </p:spPr>
      </p:sp>
      <p:sp>
        <p:nvSpPr>
          <p:cNvPr id="94" name="Shape 92"/>
          <p:cNvSpPr/>
          <p:nvPr/>
        </p:nvSpPr>
        <p:spPr>
          <a:xfrm>
            <a:off x="6492240" y="1837944"/>
            <a:ext cx="32004" cy="3182112"/>
          </a:xfrm>
          <a:prstGeom prst="rect">
            <a:avLst/>
          </a:prstGeom>
          <a:solidFill>
            <a:srgbClr val="E2607A"/>
          </a:solidFill>
          <a:ln/>
        </p:spPr>
      </p:sp>
      <p:sp>
        <p:nvSpPr>
          <p:cNvPr id="95" name="Text 93"/>
          <p:cNvSpPr txBox="1"/>
          <p:nvPr/>
        </p:nvSpPr>
        <p:spPr>
          <a:xfrm>
            <a:off x="6693408" y="1929384"/>
            <a:ext cx="4663440" cy="2999232"/>
          </a:xfrm>
          <a:prstGeom prst="rect">
            <a:avLst/>
          </a:prstGeom>
          <a:noFill/>
          <a:ln/>
        </p:spPr>
        <p:txBody>
          <a:bodyPr wrap="square" lIns="0" tIns="0" rIns="0" bIns="0" rtlCol="0" anchor="t"/>
          <a:lstStyle/>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const code = r?.error?.code;</a:t>
            </a:r>
            <a:endParaRPr lang="en-US" sz="1000" dirty="0"/>
          </a:p>
          <a:p>
            <a:pPr indent="0" marL="0">
              <a:lnSpc>
                <a:spcPts val="1550"/>
              </a:lnSpc>
              <a:buNone/>
            </a:pP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if (code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"messaging/registration-token-not-registered"</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 code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"messaging/invalid-registration-token")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invalidTokens.push(part[i]);</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a:t>
            </a:r>
            <a:endParaRPr lang="en-US" sz="1000" dirty="0"/>
          </a:p>
          <a:p>
            <a:pPr indent="0" marL="0">
              <a:lnSpc>
                <a:spcPts val="1550"/>
              </a:lnSpc>
              <a:buNone/>
            </a:pP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in the worker</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await prisma.pushNotification.updateMany({</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where: { token: { in: invalidTokens }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data:  { isValid: false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15</a:t>
            </a:r>
            <a:endParaRPr lang="en-US" sz="1000" dirty="0"/>
          </a:p>
        </p:txBody>
      </p:sp>
      <p:sp>
        <p:nvSpPr>
          <p:cNvPr id="3" name="Text 1"/>
          <p:cNvSpPr txBox="1"/>
          <p:nvPr/>
        </p:nvSpPr>
        <p:spPr>
          <a:xfrm>
            <a:off x="10088575" y="274320"/>
            <a:ext cx="187452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PUSH PIPELINE</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ধাপ ১০</a:t>
            </a:r>
            <a:endParaRPr lang="en-US" sz="1000" dirty="0"/>
          </a:p>
        </p:txBody>
      </p:sp>
      <p:sp>
        <p:nvSpPr>
          <p:cNvPr id="6" name="Text 4"/>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000" b="1" dirty="0">
                <a:solidFill>
                  <a:srgbClr val="E9EDF6"/>
                </a:solidFill>
                <a:latin typeface="Nirmala UI" pitchFamily="34" charset="0"/>
                <a:ea typeface="Nirmala UI" pitchFamily="34" charset="-122"/>
                <a:cs typeface="Nirmala UI" pitchFamily="34" charset="-120"/>
              </a:rPr>
              <a:t>প্রতিটা ক্যাম্পেইনের পূর্ণ হিসাব</a:t>
            </a:r>
            <a:endParaRPr lang="en-US" sz="3000" dirty="0"/>
          </a:p>
        </p:txBody>
      </p:sp>
      <p:sp>
        <p:nvSpPr>
          <p:cNvPr id="7" name="Shape 5"/>
          <p:cNvSpPr/>
          <p:nvPr/>
        </p:nvSpPr>
        <p:spPr>
          <a:xfrm>
            <a:off x="658368" y="1737360"/>
            <a:ext cx="5577840" cy="1554480"/>
          </a:xfrm>
          <a:prstGeom prst="roundRect">
            <a:avLst>
              <a:gd name="adj" fmla="val 3529"/>
            </a:avLst>
          </a:prstGeom>
          <a:solidFill>
            <a:srgbClr val="161B28"/>
          </a:solidFill>
          <a:ln w="12700">
            <a:solidFill>
              <a:srgbClr val="28303F"/>
            </a:solidFill>
            <a:prstDash val="solid"/>
          </a:ln>
        </p:spPr>
      </p:sp>
      <p:sp>
        <p:nvSpPr>
          <p:cNvPr id="8" name="Text 6"/>
          <p:cNvSpPr txBox="1"/>
          <p:nvPr/>
        </p:nvSpPr>
        <p:spPr>
          <a:xfrm>
            <a:off x="886968" y="1901952"/>
            <a:ext cx="5120640" cy="256032"/>
          </a:xfrm>
          <a:prstGeom prst="rect">
            <a:avLst/>
          </a:prstGeom>
          <a:noFill/>
          <a:ln/>
        </p:spPr>
        <p:txBody>
          <a:bodyPr wrap="square" lIns="0" tIns="0" rIns="0" bIns="0" rtlCol="0" anchor="ctr"/>
          <a:lstStyle/>
          <a:p>
            <a:pPr indent="0" marL="0">
              <a:buNone/>
            </a:pPr>
            <a:r>
              <a:rPr lang="en-US" sz="950" spc="100" kern="0" dirty="0">
                <a:solidFill>
                  <a:srgbClr val="7E8798"/>
                </a:solidFill>
                <a:latin typeface="Consolas" pitchFamily="34" charset="0"/>
                <a:ea typeface="Consolas" pitchFamily="34" charset="-122"/>
                <a:cs typeface="Consolas" pitchFamily="34" charset="-120"/>
              </a:rPr>
              <a:t>notificationLogs · uniqueId দিয়ে মেলানো</a:t>
            </a:r>
            <a:endParaRPr lang="en-US" sz="950" dirty="0"/>
          </a:p>
        </p:txBody>
      </p:sp>
      <p:sp>
        <p:nvSpPr>
          <p:cNvPr id="9" name="Text 7"/>
          <p:cNvSpPr txBox="1"/>
          <p:nvPr/>
        </p:nvSpPr>
        <p:spPr>
          <a:xfrm>
            <a:off x="886968" y="2286000"/>
            <a:ext cx="1691640" cy="411480"/>
          </a:xfrm>
          <a:prstGeom prst="rect">
            <a:avLst/>
          </a:prstGeom>
          <a:noFill/>
          <a:ln/>
        </p:spPr>
        <p:txBody>
          <a:bodyPr wrap="square" lIns="0" tIns="0" rIns="0" bIns="0" rtlCol="0" anchor="t"/>
          <a:lstStyle/>
          <a:p>
            <a:pPr indent="0" marL="0">
              <a:buNone/>
            </a:pPr>
            <a:r>
              <a:rPr lang="en-US" sz="1900" b="1" dirty="0">
                <a:solidFill>
                  <a:srgbClr val="7BD88F"/>
                </a:solidFill>
                <a:latin typeface="Consolas" pitchFamily="34" charset="0"/>
                <a:ea typeface="Consolas" pitchFamily="34" charset="-122"/>
                <a:cs typeface="Consolas" pitchFamily="34" charset="-120"/>
              </a:rPr>
              <a:t>৪,৮২,১৩৭</a:t>
            </a:r>
            <a:endParaRPr lang="en-US" sz="1900" dirty="0"/>
          </a:p>
        </p:txBody>
      </p:sp>
      <p:sp>
        <p:nvSpPr>
          <p:cNvPr id="10" name="Text 8"/>
          <p:cNvSpPr txBox="1"/>
          <p:nvPr/>
        </p:nvSpPr>
        <p:spPr>
          <a:xfrm>
            <a:off x="886968" y="2697480"/>
            <a:ext cx="1691640" cy="274320"/>
          </a:xfrm>
          <a:prstGeom prst="rect">
            <a:avLst/>
          </a:prstGeom>
          <a:noFill/>
          <a:ln/>
        </p:spPr>
        <p:txBody>
          <a:bodyPr wrap="square" lIns="0" tIns="0" rIns="0" bIns="0" rtlCol="0" anchor="t"/>
          <a:lstStyle/>
          <a:p>
            <a:pPr indent="0" marL="0">
              <a:buNone/>
            </a:pPr>
            <a:r>
              <a:rPr lang="en-US" sz="1000" dirty="0">
                <a:solidFill>
                  <a:srgbClr val="7E8798"/>
                </a:solidFill>
                <a:latin typeface="Nirmala UI" pitchFamily="34" charset="0"/>
                <a:ea typeface="Nirmala UI" pitchFamily="34" charset="-122"/>
                <a:cs typeface="Nirmala UI" pitchFamily="34" charset="-120"/>
              </a:rPr>
              <a:t>sendCount</a:t>
            </a:r>
            <a:endParaRPr lang="en-US" sz="1000" dirty="0"/>
          </a:p>
        </p:txBody>
      </p:sp>
      <p:sp>
        <p:nvSpPr>
          <p:cNvPr id="11" name="Text 9"/>
          <p:cNvSpPr txBox="1"/>
          <p:nvPr/>
        </p:nvSpPr>
        <p:spPr>
          <a:xfrm>
            <a:off x="2670048" y="2286000"/>
            <a:ext cx="1691640" cy="411480"/>
          </a:xfrm>
          <a:prstGeom prst="rect">
            <a:avLst/>
          </a:prstGeom>
          <a:noFill/>
          <a:ln/>
        </p:spPr>
        <p:txBody>
          <a:bodyPr wrap="square" lIns="0" tIns="0" rIns="0" bIns="0" rtlCol="0" anchor="t"/>
          <a:lstStyle/>
          <a:p>
            <a:pPr indent="0" marL="0">
              <a:buNone/>
            </a:pPr>
            <a:r>
              <a:rPr lang="en-US" sz="1900" b="1" dirty="0">
                <a:solidFill>
                  <a:srgbClr val="E2607A"/>
                </a:solidFill>
                <a:latin typeface="Consolas" pitchFamily="34" charset="0"/>
                <a:ea typeface="Consolas" pitchFamily="34" charset="-122"/>
                <a:cs typeface="Consolas" pitchFamily="34" charset="-120"/>
              </a:rPr>
              <a:t>৩,৪১২</a:t>
            </a:r>
            <a:endParaRPr lang="en-US" sz="1900" dirty="0"/>
          </a:p>
        </p:txBody>
      </p:sp>
      <p:sp>
        <p:nvSpPr>
          <p:cNvPr id="12" name="Text 10"/>
          <p:cNvSpPr txBox="1"/>
          <p:nvPr/>
        </p:nvSpPr>
        <p:spPr>
          <a:xfrm>
            <a:off x="2670048" y="2697480"/>
            <a:ext cx="1691640" cy="274320"/>
          </a:xfrm>
          <a:prstGeom prst="rect">
            <a:avLst/>
          </a:prstGeom>
          <a:noFill/>
          <a:ln/>
        </p:spPr>
        <p:txBody>
          <a:bodyPr wrap="square" lIns="0" tIns="0" rIns="0" bIns="0" rtlCol="0" anchor="t"/>
          <a:lstStyle/>
          <a:p>
            <a:pPr indent="0" marL="0">
              <a:buNone/>
            </a:pPr>
            <a:r>
              <a:rPr lang="en-US" sz="1000" dirty="0">
                <a:solidFill>
                  <a:srgbClr val="7E8798"/>
                </a:solidFill>
                <a:latin typeface="Nirmala UI" pitchFamily="34" charset="0"/>
                <a:ea typeface="Nirmala UI" pitchFamily="34" charset="-122"/>
                <a:cs typeface="Nirmala UI" pitchFamily="34" charset="-120"/>
              </a:rPr>
              <a:t>failedCount</a:t>
            </a:r>
            <a:endParaRPr lang="en-US" sz="1000" dirty="0"/>
          </a:p>
        </p:txBody>
      </p:sp>
      <p:sp>
        <p:nvSpPr>
          <p:cNvPr id="13" name="Text 11"/>
          <p:cNvSpPr txBox="1"/>
          <p:nvPr/>
        </p:nvSpPr>
        <p:spPr>
          <a:xfrm>
            <a:off x="4453128" y="2286000"/>
            <a:ext cx="1691640" cy="411480"/>
          </a:xfrm>
          <a:prstGeom prst="rect">
            <a:avLst/>
          </a:prstGeom>
          <a:noFill/>
          <a:ln/>
        </p:spPr>
        <p:txBody>
          <a:bodyPr wrap="square" lIns="0" tIns="0" rIns="0" bIns="0" rtlCol="0" anchor="t"/>
          <a:lstStyle/>
          <a:p>
            <a:pPr indent="0" marL="0">
              <a:buNone/>
            </a:pPr>
            <a:r>
              <a:rPr lang="en-US" sz="1900" b="1" dirty="0">
                <a:solidFill>
                  <a:srgbClr val="F5A63C"/>
                </a:solidFill>
                <a:latin typeface="Consolas" pitchFamily="34" charset="0"/>
                <a:ea typeface="Consolas" pitchFamily="34" charset="-122"/>
                <a:cs typeface="Consolas" pitchFamily="34" charset="-120"/>
              </a:rPr>
              <a:t>১৪,৪৫১</a:t>
            </a:r>
            <a:endParaRPr lang="en-US" sz="1900" dirty="0"/>
          </a:p>
        </p:txBody>
      </p:sp>
      <p:sp>
        <p:nvSpPr>
          <p:cNvPr id="14" name="Text 12"/>
          <p:cNvSpPr txBox="1"/>
          <p:nvPr/>
        </p:nvSpPr>
        <p:spPr>
          <a:xfrm>
            <a:off x="4453128" y="2697480"/>
            <a:ext cx="1691640" cy="274320"/>
          </a:xfrm>
          <a:prstGeom prst="rect">
            <a:avLst/>
          </a:prstGeom>
          <a:noFill/>
          <a:ln/>
        </p:spPr>
        <p:txBody>
          <a:bodyPr wrap="square" lIns="0" tIns="0" rIns="0" bIns="0" rtlCol="0" anchor="t"/>
          <a:lstStyle/>
          <a:p>
            <a:pPr indent="0" marL="0">
              <a:buNone/>
            </a:pPr>
            <a:r>
              <a:rPr lang="en-US" sz="1000" dirty="0">
                <a:solidFill>
                  <a:srgbClr val="7E8798"/>
                </a:solidFill>
                <a:latin typeface="Nirmala UI" pitchFamily="34" charset="0"/>
                <a:ea typeface="Nirmala UI" pitchFamily="34" charset="-122"/>
                <a:cs typeface="Nirmala UI" pitchFamily="34" charset="-120"/>
              </a:rPr>
              <a:t>invalidCount</a:t>
            </a:r>
            <a:endParaRPr lang="en-US" sz="1000" dirty="0"/>
          </a:p>
        </p:txBody>
      </p:sp>
      <p:sp>
        <p:nvSpPr>
          <p:cNvPr id="15" name="Shape 13"/>
          <p:cNvSpPr/>
          <p:nvPr/>
        </p:nvSpPr>
        <p:spPr>
          <a:xfrm>
            <a:off x="658368" y="3520440"/>
            <a:ext cx="5577840" cy="2286000"/>
          </a:xfrm>
          <a:prstGeom prst="roundRect">
            <a:avLst>
              <a:gd name="adj" fmla="val 2400"/>
            </a:avLst>
          </a:prstGeom>
          <a:solidFill>
            <a:srgbClr val="090C13"/>
          </a:solidFill>
          <a:ln w="12700">
            <a:solidFill>
              <a:srgbClr val="28303F"/>
            </a:solidFill>
            <a:prstDash val="solid"/>
          </a:ln>
        </p:spPr>
      </p:sp>
      <p:sp>
        <p:nvSpPr>
          <p:cNvPr id="16" name="Shape 14"/>
          <p:cNvSpPr/>
          <p:nvPr/>
        </p:nvSpPr>
        <p:spPr>
          <a:xfrm>
            <a:off x="658368" y="3575304"/>
            <a:ext cx="32004" cy="2176272"/>
          </a:xfrm>
          <a:prstGeom prst="rect">
            <a:avLst/>
          </a:prstGeom>
          <a:solidFill>
            <a:srgbClr val="F5A63C"/>
          </a:solidFill>
          <a:ln/>
        </p:spPr>
      </p:sp>
      <p:sp>
        <p:nvSpPr>
          <p:cNvPr id="17" name="Text 15"/>
          <p:cNvSpPr txBox="1"/>
          <p:nvPr/>
        </p:nvSpPr>
        <p:spPr>
          <a:xfrm>
            <a:off x="859536" y="3666744"/>
            <a:ext cx="5212080" cy="1993392"/>
          </a:xfrm>
          <a:prstGeom prst="rect">
            <a:avLst/>
          </a:prstGeom>
          <a:noFill/>
          <a:ln/>
        </p:spPr>
        <p:txBody>
          <a:bodyPr wrap="square" lIns="0" tIns="0" rIns="0" bIns="0" rtlCol="0" anchor="t"/>
          <a:lstStyle/>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worker.campaign.js</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worker.on("completed", async (job, result) =&gt;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await prisma.notificationLog.updateMany({</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where: { uniqueId: result.uniqueId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data: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sendCount:    { increment: result.sent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failedCount:  { increment: result.failed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invalidCount: { increment: result.invalid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a:t>
            </a:r>
            <a:endParaRPr lang="en-US" sz="1000" dirty="0"/>
          </a:p>
        </p:txBody>
      </p:sp>
      <p:sp>
        <p:nvSpPr>
          <p:cNvPr id="18" name="Text 16"/>
          <p:cNvSpPr txBox="1"/>
          <p:nvPr/>
        </p:nvSpPr>
        <p:spPr>
          <a:xfrm>
            <a:off x="6675120" y="1783080"/>
            <a:ext cx="4846320" cy="384048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uuid-ই সেতু — API যখন জব বানায় তখনই লগ রো বানায়, ওয়ার্কার শেষে সেই একই uuid দিয়ে খুঁজে নেয়</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increment, set নয় — একটা ক্যাম্পেইনের অনেক পেজ আলাদা আলাদা শেষ হয়, তাই যোগ হতে হবে</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অ্যাডমিন ড্যাশবোর্ড — raw SQL COUNT(DISTINCT …) FILTER (WHERE isValid) দিয়ে ইউনিক, ভ্যালিড আর ইনভ্যালিড</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এখান থেকেই বোঝা যায় — কোন টাইটেল বেশি ক্লিক পেল, কখন পাঠালে মানুষ খোলে</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16</a:t>
            </a:r>
            <a:endParaRPr lang="en-US" sz="1000" dirty="0"/>
          </a:p>
        </p:txBody>
      </p:sp>
      <p:sp>
        <p:nvSpPr>
          <p:cNvPr id="3" name="Text 1"/>
          <p:cNvSpPr txBox="1"/>
          <p:nvPr/>
        </p:nvSpPr>
        <p:spPr>
          <a:xfrm>
            <a:off x="10088575" y="274320"/>
            <a:ext cx="187452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PUSH PIPELINE</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দ্বিতীয় অর্ধেক</a:t>
            </a:r>
            <a:endParaRPr lang="en-US" sz="1000" dirty="0"/>
          </a:p>
        </p:txBody>
      </p:sp>
      <p:sp>
        <p:nvSpPr>
          <p:cNvPr id="6" name="Text 4"/>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000" b="1" dirty="0">
                <a:solidFill>
                  <a:srgbClr val="E9EDF6"/>
                </a:solidFill>
                <a:latin typeface="Nirmala UI" pitchFamily="34" charset="0"/>
                <a:ea typeface="Nirmala UI" pitchFamily="34" charset="-122"/>
                <a:cs typeface="Nirmala UI" pitchFamily="34" charset="-120"/>
              </a:rPr>
              <a:t>ইন-অ্যাপ ফিড — ক্যাশ মুছি না, ভার্সন বাড়াই</a:t>
            </a:r>
            <a:endParaRPr lang="en-US" sz="3000" dirty="0"/>
          </a:p>
        </p:txBody>
      </p:sp>
      <p:sp>
        <p:nvSpPr>
          <p:cNvPr id="7" name="Shape 5"/>
          <p:cNvSpPr/>
          <p:nvPr/>
        </p:nvSpPr>
        <p:spPr>
          <a:xfrm>
            <a:off x="658368" y="1783080"/>
            <a:ext cx="5577840" cy="438912"/>
          </a:xfrm>
          <a:prstGeom prst="roundRect">
            <a:avLst>
              <a:gd name="adj" fmla="val 12500"/>
            </a:avLst>
          </a:prstGeom>
          <a:solidFill>
            <a:srgbClr val="161B28"/>
          </a:solidFill>
          <a:ln w="12700">
            <a:solidFill>
              <a:srgbClr val="28303F"/>
            </a:solidFill>
            <a:prstDash val="solid"/>
          </a:ln>
        </p:spPr>
      </p:sp>
      <p:sp>
        <p:nvSpPr>
          <p:cNvPr id="8" name="Text 6"/>
          <p:cNvSpPr txBox="1"/>
          <p:nvPr/>
        </p:nvSpPr>
        <p:spPr>
          <a:xfrm>
            <a:off x="841248" y="1883664"/>
            <a:ext cx="5212080" cy="256032"/>
          </a:xfrm>
          <a:prstGeom prst="rect">
            <a:avLst/>
          </a:prstGeom>
          <a:noFill/>
          <a:ln/>
        </p:spPr>
        <p:txBody>
          <a:bodyPr wrap="square" lIns="0" tIns="0" rIns="0" bIns="0" rtlCol="0" anchor="ctr"/>
          <a:lstStyle/>
          <a:p>
            <a:pPr indent="0" marL="0">
              <a:buNone/>
            </a:pPr>
            <a:r>
              <a:rPr lang="en-US" sz="1000" strike="sngStrike" dirty="0">
                <a:solidFill>
                  <a:srgbClr val="7E8798"/>
                </a:solidFill>
                <a:latin typeface="Consolas" pitchFamily="34" charset="0"/>
                <a:ea typeface="Consolas" pitchFamily="34" charset="-122"/>
                <a:cs typeface="Consolas" pitchFamily="34" charset="-120"/>
              </a:rPr>
              <a:t>cache:notification:v1:list:student:a91…:frb:7c2f:g41:u3</a:t>
            </a:r>
            <a:endParaRPr lang="en-US" sz="1000" dirty="0"/>
          </a:p>
        </p:txBody>
      </p:sp>
      <p:sp>
        <p:nvSpPr>
          <p:cNvPr id="9" name="Shape 7"/>
          <p:cNvSpPr/>
          <p:nvPr/>
        </p:nvSpPr>
        <p:spPr>
          <a:xfrm>
            <a:off x="658368" y="2350008"/>
            <a:ext cx="5577840" cy="438912"/>
          </a:xfrm>
          <a:prstGeom prst="roundRect">
            <a:avLst>
              <a:gd name="adj" fmla="val 12500"/>
            </a:avLst>
          </a:prstGeom>
          <a:solidFill>
            <a:srgbClr val="161B28"/>
          </a:solidFill>
          <a:ln w="12700">
            <a:solidFill>
              <a:srgbClr val="28303F"/>
            </a:solidFill>
            <a:prstDash val="solid"/>
          </a:ln>
        </p:spPr>
      </p:sp>
      <p:sp>
        <p:nvSpPr>
          <p:cNvPr id="10" name="Text 8"/>
          <p:cNvSpPr txBox="1"/>
          <p:nvPr/>
        </p:nvSpPr>
        <p:spPr>
          <a:xfrm>
            <a:off x="841248" y="2450592"/>
            <a:ext cx="5212080" cy="256032"/>
          </a:xfrm>
          <a:prstGeom prst="rect">
            <a:avLst/>
          </a:prstGeom>
          <a:noFill/>
          <a:ln/>
        </p:spPr>
        <p:txBody>
          <a:bodyPr wrap="square" lIns="0" tIns="0" rIns="0" bIns="0" rtlCol="0" anchor="ctr"/>
          <a:lstStyle/>
          <a:p>
            <a:pPr indent="0" marL="0">
              <a:buNone/>
            </a:pPr>
            <a:r>
              <a:rPr lang="en-US" sz="1000" strike="sngStrike" dirty="0">
                <a:solidFill>
                  <a:srgbClr val="7E8798"/>
                </a:solidFill>
                <a:latin typeface="Consolas" pitchFamily="34" charset="0"/>
                <a:ea typeface="Consolas" pitchFamily="34" charset="-122"/>
                <a:cs typeface="Consolas" pitchFamily="34" charset="-120"/>
              </a:rPr>
              <a:t>cache:notification:v1:list:student:a91…:frb:7c2f:g41:u9</a:t>
            </a:r>
            <a:endParaRPr lang="en-US" sz="1000" dirty="0"/>
          </a:p>
        </p:txBody>
      </p:sp>
      <p:sp>
        <p:nvSpPr>
          <p:cNvPr id="11" name="Shape 9"/>
          <p:cNvSpPr/>
          <p:nvPr/>
        </p:nvSpPr>
        <p:spPr>
          <a:xfrm>
            <a:off x="658368" y="2916936"/>
            <a:ext cx="5577840" cy="438912"/>
          </a:xfrm>
          <a:prstGeom prst="roundRect">
            <a:avLst>
              <a:gd name="adj" fmla="val 12500"/>
            </a:avLst>
          </a:prstGeom>
          <a:solidFill>
            <a:srgbClr val="161B28"/>
          </a:solidFill>
          <a:ln w="12700">
            <a:solidFill>
              <a:srgbClr val="1E6A66"/>
            </a:solidFill>
            <a:prstDash val="solid"/>
          </a:ln>
        </p:spPr>
      </p:sp>
      <p:sp>
        <p:nvSpPr>
          <p:cNvPr id="12" name="Text 10"/>
          <p:cNvSpPr txBox="1"/>
          <p:nvPr/>
        </p:nvSpPr>
        <p:spPr>
          <a:xfrm>
            <a:off x="841248" y="3017520"/>
            <a:ext cx="5212080" cy="256032"/>
          </a:xfrm>
          <a:prstGeom prst="rect">
            <a:avLst/>
          </a:prstGeom>
          <a:noFill/>
          <a:ln/>
        </p:spPr>
        <p:txBody>
          <a:bodyPr wrap="square" lIns="0" tIns="0" rIns="0" bIns="0" rtlCol="0" anchor="ctr"/>
          <a:lstStyle/>
          <a:p>
            <a:pPr indent="0" marL="0">
              <a:buNone/>
            </a:pPr>
            <a:r>
              <a:rPr lang="en-US" sz="1000" strike="none" dirty="0">
                <a:solidFill>
                  <a:srgbClr val="E9EDF6"/>
                </a:solidFill>
                <a:latin typeface="Consolas" pitchFamily="34" charset="0"/>
                <a:ea typeface="Consolas" pitchFamily="34" charset="-122"/>
                <a:cs typeface="Consolas" pitchFamily="34" charset="-120"/>
              </a:rPr>
              <a:t>cache:notification:v1:list:student:a91…:frb:7c2f:g42:u3</a:t>
            </a:r>
            <a:endParaRPr lang="en-US" sz="1000" dirty="0"/>
          </a:p>
        </p:txBody>
      </p:sp>
      <p:sp>
        <p:nvSpPr>
          <p:cNvPr id="13" name="Shape 11"/>
          <p:cNvSpPr/>
          <p:nvPr/>
        </p:nvSpPr>
        <p:spPr>
          <a:xfrm>
            <a:off x="658368" y="3657600"/>
            <a:ext cx="5577840" cy="1508760"/>
          </a:xfrm>
          <a:prstGeom prst="roundRect">
            <a:avLst>
              <a:gd name="adj" fmla="val 3636"/>
            </a:avLst>
          </a:prstGeom>
          <a:solidFill>
            <a:srgbClr val="090C13"/>
          </a:solidFill>
          <a:ln w="12700">
            <a:solidFill>
              <a:srgbClr val="28303F"/>
            </a:solidFill>
            <a:prstDash val="solid"/>
          </a:ln>
        </p:spPr>
      </p:sp>
      <p:sp>
        <p:nvSpPr>
          <p:cNvPr id="14" name="Shape 12"/>
          <p:cNvSpPr/>
          <p:nvPr/>
        </p:nvSpPr>
        <p:spPr>
          <a:xfrm>
            <a:off x="658368" y="3712464"/>
            <a:ext cx="32004" cy="1399032"/>
          </a:xfrm>
          <a:prstGeom prst="rect">
            <a:avLst/>
          </a:prstGeom>
          <a:solidFill>
            <a:srgbClr val="3FC9C0"/>
          </a:solidFill>
          <a:ln/>
        </p:spPr>
      </p:sp>
      <p:sp>
        <p:nvSpPr>
          <p:cNvPr id="15" name="Text 13"/>
          <p:cNvSpPr txBox="1"/>
          <p:nvPr/>
        </p:nvSpPr>
        <p:spPr>
          <a:xfrm>
            <a:off x="859536" y="3803904"/>
            <a:ext cx="5212080" cy="1216152"/>
          </a:xfrm>
          <a:prstGeom prst="rect">
            <a:avLst/>
          </a:prstGeom>
          <a:noFill/>
          <a:ln/>
        </p:spPr>
        <p:txBody>
          <a:bodyPr wrap="square" lIns="0" tIns="0" rIns="0" bIns="0" rtlCol="0" anchor="t"/>
          <a:lstStyle/>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one command when a notification goes out</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await redis.incr(</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"cache:notification:v1:version:global"</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every old key is orphaned instantly</a:t>
            </a:r>
            <a:endParaRPr lang="en-US" sz="1000" dirty="0"/>
          </a:p>
        </p:txBody>
      </p:sp>
      <p:sp>
        <p:nvSpPr>
          <p:cNvPr id="16" name="Text 14"/>
          <p:cNvSpPr txBox="1"/>
          <p:nvPr/>
        </p:nvSpPr>
        <p:spPr>
          <a:xfrm>
            <a:off x="6675120" y="1783080"/>
            <a:ext cx="4846320" cy="393192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সমস্যাটা আলাদা — পুশ তো গেল, কিন্তু ইউজার অ্যাপ খুলে ঘণ্টার পর ঘণ্টা লিস্টটা স্ক্রল করবে</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DELETE করলে বিপদ — ৫ লাখ key মুছতে KEYS বা SCAN চালালে Redis আটকে যাবে</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ভার্সন বাড়ালেই যথেষ্ট — key-এর নামেই ভার্সন, তাই INCR-এর পর পুরনো key অনাথ হয়ে TTL-এ মরে যায়</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দুইটা ভার্সন — global সবার জন্য, user শুধু ওই একজনের</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TTL ২০ সেকেন্ড + jitter — সব key যেন একসাথে এক্সপায়ার না করে</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17</a:t>
            </a:r>
            <a:endParaRPr lang="en-US" sz="1000" dirty="0"/>
          </a:p>
        </p:txBody>
      </p:sp>
      <p:sp>
        <p:nvSpPr>
          <p:cNvPr id="3" name="Text 1"/>
          <p:cNvSpPr txBox="1"/>
          <p:nvPr/>
        </p:nvSpPr>
        <p:spPr>
          <a:xfrm>
            <a:off x="10088575" y="274320"/>
            <a:ext cx="187452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PUSH PIPELINE</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Cache Stampede</a:t>
            </a:r>
            <a:endParaRPr lang="en-US" sz="1000" dirty="0"/>
          </a:p>
        </p:txBody>
      </p:sp>
      <p:sp>
        <p:nvSpPr>
          <p:cNvPr id="6" name="Text 4"/>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000" b="1" dirty="0">
                <a:solidFill>
                  <a:srgbClr val="E9EDF6"/>
                </a:solidFill>
                <a:latin typeface="Nirmala UI" pitchFamily="34" charset="0"/>
                <a:ea typeface="Nirmala UI" pitchFamily="34" charset="-122"/>
                <a:cs typeface="Nirmala UI" pitchFamily="34" charset="-120"/>
              </a:rPr>
              <a:t>১০,০০০ জন একসাথে ফিড খুললে DB বাঁচবে?</a:t>
            </a:r>
            <a:endParaRPr lang="en-US" sz="3000" dirty="0"/>
          </a:p>
        </p:txBody>
      </p:sp>
      <p:sp>
        <p:nvSpPr>
          <p:cNvPr id="7" name="Shape 5"/>
          <p:cNvSpPr/>
          <p:nvPr/>
        </p:nvSpPr>
        <p:spPr>
          <a:xfrm>
            <a:off x="658368" y="1920240"/>
            <a:ext cx="164592" cy="164592"/>
          </a:xfrm>
          <a:prstGeom prst="ellipse">
            <a:avLst/>
          </a:prstGeom>
          <a:solidFill>
            <a:srgbClr val="1E6A66"/>
          </a:solidFill>
          <a:ln w="12700">
            <a:solidFill>
              <a:srgbClr val="333333"/>
            </a:solidFill>
            <a:prstDash val="solid"/>
          </a:ln>
        </p:spPr>
      </p:sp>
      <p:sp>
        <p:nvSpPr>
          <p:cNvPr id="8" name="Shape 6"/>
          <p:cNvSpPr/>
          <p:nvPr/>
        </p:nvSpPr>
        <p:spPr>
          <a:xfrm>
            <a:off x="914400" y="1920240"/>
            <a:ext cx="164592" cy="164592"/>
          </a:xfrm>
          <a:prstGeom prst="ellipse">
            <a:avLst/>
          </a:prstGeom>
          <a:solidFill>
            <a:srgbClr val="1E6A66"/>
          </a:solidFill>
          <a:ln w="12700">
            <a:solidFill>
              <a:srgbClr val="333333"/>
            </a:solidFill>
            <a:prstDash val="solid"/>
          </a:ln>
        </p:spPr>
      </p:sp>
      <p:sp>
        <p:nvSpPr>
          <p:cNvPr id="9" name="Shape 7"/>
          <p:cNvSpPr/>
          <p:nvPr/>
        </p:nvSpPr>
        <p:spPr>
          <a:xfrm>
            <a:off x="1170432" y="1920240"/>
            <a:ext cx="164592" cy="164592"/>
          </a:xfrm>
          <a:prstGeom prst="ellipse">
            <a:avLst/>
          </a:prstGeom>
          <a:solidFill>
            <a:srgbClr val="1E6A66"/>
          </a:solidFill>
          <a:ln w="12700">
            <a:solidFill>
              <a:srgbClr val="333333"/>
            </a:solidFill>
            <a:prstDash val="solid"/>
          </a:ln>
        </p:spPr>
      </p:sp>
      <p:sp>
        <p:nvSpPr>
          <p:cNvPr id="10" name="Shape 8"/>
          <p:cNvSpPr/>
          <p:nvPr/>
        </p:nvSpPr>
        <p:spPr>
          <a:xfrm>
            <a:off x="1426464" y="1920240"/>
            <a:ext cx="164592" cy="164592"/>
          </a:xfrm>
          <a:prstGeom prst="ellipse">
            <a:avLst/>
          </a:prstGeom>
          <a:solidFill>
            <a:srgbClr val="1E6A66"/>
          </a:solidFill>
          <a:ln w="12700">
            <a:solidFill>
              <a:srgbClr val="333333"/>
            </a:solidFill>
            <a:prstDash val="solid"/>
          </a:ln>
        </p:spPr>
      </p:sp>
      <p:sp>
        <p:nvSpPr>
          <p:cNvPr id="11" name="Shape 9"/>
          <p:cNvSpPr/>
          <p:nvPr/>
        </p:nvSpPr>
        <p:spPr>
          <a:xfrm>
            <a:off x="1682496" y="1920240"/>
            <a:ext cx="164592" cy="164592"/>
          </a:xfrm>
          <a:prstGeom prst="ellipse">
            <a:avLst/>
          </a:prstGeom>
          <a:solidFill>
            <a:srgbClr val="1E6A66"/>
          </a:solidFill>
          <a:ln w="12700">
            <a:solidFill>
              <a:srgbClr val="333333"/>
            </a:solidFill>
            <a:prstDash val="solid"/>
          </a:ln>
        </p:spPr>
      </p:sp>
      <p:sp>
        <p:nvSpPr>
          <p:cNvPr id="12" name="Shape 10"/>
          <p:cNvSpPr/>
          <p:nvPr/>
        </p:nvSpPr>
        <p:spPr>
          <a:xfrm>
            <a:off x="1938528" y="1920240"/>
            <a:ext cx="164592" cy="164592"/>
          </a:xfrm>
          <a:prstGeom prst="ellipse">
            <a:avLst/>
          </a:prstGeom>
          <a:solidFill>
            <a:srgbClr val="1E6A66"/>
          </a:solidFill>
          <a:ln w="12700">
            <a:solidFill>
              <a:srgbClr val="333333"/>
            </a:solidFill>
            <a:prstDash val="solid"/>
          </a:ln>
        </p:spPr>
      </p:sp>
      <p:sp>
        <p:nvSpPr>
          <p:cNvPr id="13" name="Shape 11"/>
          <p:cNvSpPr/>
          <p:nvPr/>
        </p:nvSpPr>
        <p:spPr>
          <a:xfrm>
            <a:off x="658368" y="2176272"/>
            <a:ext cx="164592" cy="164592"/>
          </a:xfrm>
          <a:prstGeom prst="ellipse">
            <a:avLst/>
          </a:prstGeom>
          <a:solidFill>
            <a:srgbClr val="1E6A66"/>
          </a:solidFill>
          <a:ln w="12700">
            <a:solidFill>
              <a:srgbClr val="333333"/>
            </a:solidFill>
            <a:prstDash val="solid"/>
          </a:ln>
        </p:spPr>
      </p:sp>
      <p:sp>
        <p:nvSpPr>
          <p:cNvPr id="14" name="Shape 12"/>
          <p:cNvSpPr/>
          <p:nvPr/>
        </p:nvSpPr>
        <p:spPr>
          <a:xfrm>
            <a:off x="914400" y="2176272"/>
            <a:ext cx="164592" cy="164592"/>
          </a:xfrm>
          <a:prstGeom prst="ellipse">
            <a:avLst/>
          </a:prstGeom>
          <a:solidFill>
            <a:srgbClr val="1E6A66"/>
          </a:solidFill>
          <a:ln w="12700">
            <a:solidFill>
              <a:srgbClr val="333333"/>
            </a:solidFill>
            <a:prstDash val="solid"/>
          </a:ln>
        </p:spPr>
      </p:sp>
      <p:sp>
        <p:nvSpPr>
          <p:cNvPr id="15" name="Shape 13"/>
          <p:cNvSpPr/>
          <p:nvPr/>
        </p:nvSpPr>
        <p:spPr>
          <a:xfrm>
            <a:off x="1170432" y="2176272"/>
            <a:ext cx="164592" cy="164592"/>
          </a:xfrm>
          <a:prstGeom prst="ellipse">
            <a:avLst/>
          </a:prstGeom>
          <a:solidFill>
            <a:srgbClr val="1E6A66"/>
          </a:solidFill>
          <a:ln w="12700">
            <a:solidFill>
              <a:srgbClr val="333333"/>
            </a:solidFill>
            <a:prstDash val="solid"/>
          </a:ln>
        </p:spPr>
      </p:sp>
      <p:sp>
        <p:nvSpPr>
          <p:cNvPr id="16" name="Shape 14"/>
          <p:cNvSpPr/>
          <p:nvPr/>
        </p:nvSpPr>
        <p:spPr>
          <a:xfrm>
            <a:off x="1426464" y="2176272"/>
            <a:ext cx="164592" cy="164592"/>
          </a:xfrm>
          <a:prstGeom prst="ellipse">
            <a:avLst/>
          </a:prstGeom>
          <a:solidFill>
            <a:srgbClr val="1E6A66"/>
          </a:solidFill>
          <a:ln w="12700">
            <a:solidFill>
              <a:srgbClr val="333333"/>
            </a:solidFill>
            <a:prstDash val="solid"/>
          </a:ln>
        </p:spPr>
      </p:sp>
      <p:sp>
        <p:nvSpPr>
          <p:cNvPr id="17" name="Shape 15"/>
          <p:cNvSpPr/>
          <p:nvPr/>
        </p:nvSpPr>
        <p:spPr>
          <a:xfrm>
            <a:off x="1682496" y="2176272"/>
            <a:ext cx="164592" cy="164592"/>
          </a:xfrm>
          <a:prstGeom prst="ellipse">
            <a:avLst/>
          </a:prstGeom>
          <a:solidFill>
            <a:srgbClr val="1E6A66"/>
          </a:solidFill>
          <a:ln w="12700">
            <a:solidFill>
              <a:srgbClr val="333333"/>
            </a:solidFill>
            <a:prstDash val="solid"/>
          </a:ln>
        </p:spPr>
      </p:sp>
      <p:sp>
        <p:nvSpPr>
          <p:cNvPr id="18" name="Shape 16"/>
          <p:cNvSpPr/>
          <p:nvPr/>
        </p:nvSpPr>
        <p:spPr>
          <a:xfrm>
            <a:off x="1938528" y="2176272"/>
            <a:ext cx="164592" cy="164592"/>
          </a:xfrm>
          <a:prstGeom prst="ellipse">
            <a:avLst/>
          </a:prstGeom>
          <a:solidFill>
            <a:srgbClr val="1E6A66"/>
          </a:solidFill>
          <a:ln w="12700">
            <a:solidFill>
              <a:srgbClr val="333333"/>
            </a:solidFill>
            <a:prstDash val="solid"/>
          </a:ln>
        </p:spPr>
      </p:sp>
      <p:sp>
        <p:nvSpPr>
          <p:cNvPr id="19" name="Shape 17"/>
          <p:cNvSpPr/>
          <p:nvPr/>
        </p:nvSpPr>
        <p:spPr>
          <a:xfrm>
            <a:off x="658368" y="2432304"/>
            <a:ext cx="164592" cy="164592"/>
          </a:xfrm>
          <a:prstGeom prst="ellipse">
            <a:avLst/>
          </a:prstGeom>
          <a:solidFill>
            <a:srgbClr val="1E6A66"/>
          </a:solidFill>
          <a:ln w="12700">
            <a:solidFill>
              <a:srgbClr val="333333"/>
            </a:solidFill>
            <a:prstDash val="solid"/>
          </a:ln>
        </p:spPr>
      </p:sp>
      <p:sp>
        <p:nvSpPr>
          <p:cNvPr id="20" name="Shape 18"/>
          <p:cNvSpPr/>
          <p:nvPr/>
        </p:nvSpPr>
        <p:spPr>
          <a:xfrm>
            <a:off x="914400" y="2432304"/>
            <a:ext cx="164592" cy="164592"/>
          </a:xfrm>
          <a:prstGeom prst="ellipse">
            <a:avLst/>
          </a:prstGeom>
          <a:solidFill>
            <a:srgbClr val="1E6A66"/>
          </a:solidFill>
          <a:ln w="12700">
            <a:solidFill>
              <a:srgbClr val="333333"/>
            </a:solidFill>
            <a:prstDash val="solid"/>
          </a:ln>
        </p:spPr>
      </p:sp>
      <p:sp>
        <p:nvSpPr>
          <p:cNvPr id="21" name="Shape 19"/>
          <p:cNvSpPr/>
          <p:nvPr/>
        </p:nvSpPr>
        <p:spPr>
          <a:xfrm>
            <a:off x="1170432" y="2432304"/>
            <a:ext cx="164592" cy="164592"/>
          </a:xfrm>
          <a:prstGeom prst="ellipse">
            <a:avLst/>
          </a:prstGeom>
          <a:solidFill>
            <a:srgbClr val="1E6A66"/>
          </a:solidFill>
          <a:ln w="12700">
            <a:solidFill>
              <a:srgbClr val="333333"/>
            </a:solidFill>
            <a:prstDash val="solid"/>
          </a:ln>
        </p:spPr>
      </p:sp>
      <p:sp>
        <p:nvSpPr>
          <p:cNvPr id="22" name="Shape 20"/>
          <p:cNvSpPr/>
          <p:nvPr/>
        </p:nvSpPr>
        <p:spPr>
          <a:xfrm>
            <a:off x="1426464" y="2432304"/>
            <a:ext cx="164592" cy="164592"/>
          </a:xfrm>
          <a:prstGeom prst="ellipse">
            <a:avLst/>
          </a:prstGeom>
          <a:solidFill>
            <a:srgbClr val="1E6A66"/>
          </a:solidFill>
          <a:ln w="12700">
            <a:solidFill>
              <a:srgbClr val="333333"/>
            </a:solidFill>
            <a:prstDash val="solid"/>
          </a:ln>
        </p:spPr>
      </p:sp>
      <p:sp>
        <p:nvSpPr>
          <p:cNvPr id="23" name="Shape 21"/>
          <p:cNvSpPr/>
          <p:nvPr/>
        </p:nvSpPr>
        <p:spPr>
          <a:xfrm>
            <a:off x="1682496" y="2432304"/>
            <a:ext cx="164592" cy="164592"/>
          </a:xfrm>
          <a:prstGeom prst="ellipse">
            <a:avLst/>
          </a:prstGeom>
          <a:solidFill>
            <a:srgbClr val="1E6A66"/>
          </a:solidFill>
          <a:ln w="12700">
            <a:solidFill>
              <a:srgbClr val="333333"/>
            </a:solidFill>
            <a:prstDash val="solid"/>
          </a:ln>
        </p:spPr>
      </p:sp>
      <p:sp>
        <p:nvSpPr>
          <p:cNvPr id="24" name="Shape 22"/>
          <p:cNvSpPr/>
          <p:nvPr/>
        </p:nvSpPr>
        <p:spPr>
          <a:xfrm>
            <a:off x="1938528" y="2432304"/>
            <a:ext cx="164592" cy="164592"/>
          </a:xfrm>
          <a:prstGeom prst="ellipse">
            <a:avLst/>
          </a:prstGeom>
          <a:solidFill>
            <a:srgbClr val="1E6A66"/>
          </a:solidFill>
          <a:ln w="12700">
            <a:solidFill>
              <a:srgbClr val="333333"/>
            </a:solidFill>
            <a:prstDash val="solid"/>
          </a:ln>
        </p:spPr>
      </p:sp>
      <p:sp>
        <p:nvSpPr>
          <p:cNvPr id="25" name="Shape 23"/>
          <p:cNvSpPr/>
          <p:nvPr/>
        </p:nvSpPr>
        <p:spPr>
          <a:xfrm>
            <a:off x="658368" y="2688336"/>
            <a:ext cx="164592" cy="164592"/>
          </a:xfrm>
          <a:prstGeom prst="ellipse">
            <a:avLst/>
          </a:prstGeom>
          <a:solidFill>
            <a:srgbClr val="1E6A66"/>
          </a:solidFill>
          <a:ln w="12700">
            <a:solidFill>
              <a:srgbClr val="333333"/>
            </a:solidFill>
            <a:prstDash val="solid"/>
          </a:ln>
        </p:spPr>
      </p:sp>
      <p:sp>
        <p:nvSpPr>
          <p:cNvPr id="26" name="Shape 24"/>
          <p:cNvSpPr/>
          <p:nvPr/>
        </p:nvSpPr>
        <p:spPr>
          <a:xfrm>
            <a:off x="914400" y="2688336"/>
            <a:ext cx="164592" cy="164592"/>
          </a:xfrm>
          <a:prstGeom prst="ellipse">
            <a:avLst/>
          </a:prstGeom>
          <a:solidFill>
            <a:srgbClr val="1E6A66"/>
          </a:solidFill>
          <a:ln w="12700">
            <a:solidFill>
              <a:srgbClr val="333333"/>
            </a:solidFill>
            <a:prstDash val="solid"/>
          </a:ln>
        </p:spPr>
      </p:sp>
      <p:sp>
        <p:nvSpPr>
          <p:cNvPr id="27" name="Shape 25"/>
          <p:cNvSpPr/>
          <p:nvPr/>
        </p:nvSpPr>
        <p:spPr>
          <a:xfrm>
            <a:off x="1170432" y="2688336"/>
            <a:ext cx="164592" cy="164592"/>
          </a:xfrm>
          <a:prstGeom prst="ellipse">
            <a:avLst/>
          </a:prstGeom>
          <a:solidFill>
            <a:srgbClr val="1E6A66"/>
          </a:solidFill>
          <a:ln w="12700">
            <a:solidFill>
              <a:srgbClr val="333333"/>
            </a:solidFill>
            <a:prstDash val="solid"/>
          </a:ln>
        </p:spPr>
      </p:sp>
      <p:sp>
        <p:nvSpPr>
          <p:cNvPr id="28" name="Shape 26"/>
          <p:cNvSpPr/>
          <p:nvPr/>
        </p:nvSpPr>
        <p:spPr>
          <a:xfrm>
            <a:off x="1426464" y="2688336"/>
            <a:ext cx="164592" cy="164592"/>
          </a:xfrm>
          <a:prstGeom prst="ellipse">
            <a:avLst/>
          </a:prstGeom>
          <a:solidFill>
            <a:srgbClr val="1E6A66"/>
          </a:solidFill>
          <a:ln w="12700">
            <a:solidFill>
              <a:srgbClr val="333333"/>
            </a:solidFill>
            <a:prstDash val="solid"/>
          </a:ln>
        </p:spPr>
      </p:sp>
      <p:sp>
        <p:nvSpPr>
          <p:cNvPr id="29" name="Shape 27"/>
          <p:cNvSpPr/>
          <p:nvPr/>
        </p:nvSpPr>
        <p:spPr>
          <a:xfrm>
            <a:off x="1682496" y="2688336"/>
            <a:ext cx="164592" cy="164592"/>
          </a:xfrm>
          <a:prstGeom prst="ellipse">
            <a:avLst/>
          </a:prstGeom>
          <a:solidFill>
            <a:srgbClr val="1E6A66"/>
          </a:solidFill>
          <a:ln w="12700">
            <a:solidFill>
              <a:srgbClr val="333333"/>
            </a:solidFill>
            <a:prstDash val="solid"/>
          </a:ln>
        </p:spPr>
      </p:sp>
      <p:sp>
        <p:nvSpPr>
          <p:cNvPr id="30" name="Shape 28"/>
          <p:cNvSpPr/>
          <p:nvPr/>
        </p:nvSpPr>
        <p:spPr>
          <a:xfrm>
            <a:off x="1938528" y="2688336"/>
            <a:ext cx="164592" cy="164592"/>
          </a:xfrm>
          <a:prstGeom prst="ellipse">
            <a:avLst/>
          </a:prstGeom>
          <a:solidFill>
            <a:srgbClr val="1E6A66"/>
          </a:solidFill>
          <a:ln w="12700">
            <a:solidFill>
              <a:srgbClr val="333333"/>
            </a:solidFill>
            <a:prstDash val="solid"/>
          </a:ln>
        </p:spPr>
      </p:sp>
      <p:sp>
        <p:nvSpPr>
          <p:cNvPr id="31" name="Shape 29"/>
          <p:cNvSpPr/>
          <p:nvPr/>
        </p:nvSpPr>
        <p:spPr>
          <a:xfrm>
            <a:off x="658368" y="2944368"/>
            <a:ext cx="164592" cy="164592"/>
          </a:xfrm>
          <a:prstGeom prst="ellipse">
            <a:avLst/>
          </a:prstGeom>
          <a:solidFill>
            <a:srgbClr val="1E6A66"/>
          </a:solidFill>
          <a:ln w="12700">
            <a:solidFill>
              <a:srgbClr val="333333"/>
            </a:solidFill>
            <a:prstDash val="solid"/>
          </a:ln>
        </p:spPr>
      </p:sp>
      <p:sp>
        <p:nvSpPr>
          <p:cNvPr id="32" name="Shape 30"/>
          <p:cNvSpPr/>
          <p:nvPr/>
        </p:nvSpPr>
        <p:spPr>
          <a:xfrm>
            <a:off x="914400" y="2944368"/>
            <a:ext cx="164592" cy="164592"/>
          </a:xfrm>
          <a:prstGeom prst="ellipse">
            <a:avLst/>
          </a:prstGeom>
          <a:solidFill>
            <a:srgbClr val="1E6A66"/>
          </a:solidFill>
          <a:ln w="12700">
            <a:solidFill>
              <a:srgbClr val="333333"/>
            </a:solidFill>
            <a:prstDash val="solid"/>
          </a:ln>
        </p:spPr>
      </p:sp>
      <p:sp>
        <p:nvSpPr>
          <p:cNvPr id="33" name="Shape 31"/>
          <p:cNvSpPr/>
          <p:nvPr/>
        </p:nvSpPr>
        <p:spPr>
          <a:xfrm>
            <a:off x="1170432" y="2944368"/>
            <a:ext cx="164592" cy="164592"/>
          </a:xfrm>
          <a:prstGeom prst="ellipse">
            <a:avLst/>
          </a:prstGeom>
          <a:solidFill>
            <a:srgbClr val="1E6A66"/>
          </a:solidFill>
          <a:ln w="12700">
            <a:solidFill>
              <a:srgbClr val="333333"/>
            </a:solidFill>
            <a:prstDash val="solid"/>
          </a:ln>
        </p:spPr>
      </p:sp>
      <p:sp>
        <p:nvSpPr>
          <p:cNvPr id="34" name="Shape 32"/>
          <p:cNvSpPr/>
          <p:nvPr/>
        </p:nvSpPr>
        <p:spPr>
          <a:xfrm>
            <a:off x="1426464" y="2944368"/>
            <a:ext cx="164592" cy="164592"/>
          </a:xfrm>
          <a:prstGeom prst="ellipse">
            <a:avLst/>
          </a:prstGeom>
          <a:solidFill>
            <a:srgbClr val="1E6A66"/>
          </a:solidFill>
          <a:ln w="12700">
            <a:solidFill>
              <a:srgbClr val="333333"/>
            </a:solidFill>
            <a:prstDash val="solid"/>
          </a:ln>
        </p:spPr>
      </p:sp>
      <p:sp>
        <p:nvSpPr>
          <p:cNvPr id="35" name="Shape 33"/>
          <p:cNvSpPr/>
          <p:nvPr/>
        </p:nvSpPr>
        <p:spPr>
          <a:xfrm>
            <a:off x="1682496" y="2944368"/>
            <a:ext cx="164592" cy="164592"/>
          </a:xfrm>
          <a:prstGeom prst="ellipse">
            <a:avLst/>
          </a:prstGeom>
          <a:solidFill>
            <a:srgbClr val="1E6A66"/>
          </a:solidFill>
          <a:ln w="12700">
            <a:solidFill>
              <a:srgbClr val="333333"/>
            </a:solidFill>
            <a:prstDash val="solid"/>
          </a:ln>
        </p:spPr>
      </p:sp>
      <p:sp>
        <p:nvSpPr>
          <p:cNvPr id="36" name="Shape 34"/>
          <p:cNvSpPr/>
          <p:nvPr/>
        </p:nvSpPr>
        <p:spPr>
          <a:xfrm>
            <a:off x="1938528" y="2944368"/>
            <a:ext cx="164592" cy="164592"/>
          </a:xfrm>
          <a:prstGeom prst="ellipse">
            <a:avLst/>
          </a:prstGeom>
          <a:solidFill>
            <a:srgbClr val="1E6A66"/>
          </a:solidFill>
          <a:ln w="12700">
            <a:solidFill>
              <a:srgbClr val="333333"/>
            </a:solidFill>
            <a:prstDash val="solid"/>
          </a:ln>
        </p:spPr>
      </p:sp>
      <p:sp>
        <p:nvSpPr>
          <p:cNvPr id="37" name="Shape 35"/>
          <p:cNvSpPr/>
          <p:nvPr/>
        </p:nvSpPr>
        <p:spPr>
          <a:xfrm>
            <a:off x="658368" y="3200400"/>
            <a:ext cx="164592" cy="164592"/>
          </a:xfrm>
          <a:prstGeom prst="ellipse">
            <a:avLst/>
          </a:prstGeom>
          <a:solidFill>
            <a:srgbClr val="1E6A66"/>
          </a:solidFill>
          <a:ln w="12700">
            <a:solidFill>
              <a:srgbClr val="333333"/>
            </a:solidFill>
            <a:prstDash val="solid"/>
          </a:ln>
        </p:spPr>
      </p:sp>
      <p:sp>
        <p:nvSpPr>
          <p:cNvPr id="38" name="Shape 36"/>
          <p:cNvSpPr/>
          <p:nvPr/>
        </p:nvSpPr>
        <p:spPr>
          <a:xfrm>
            <a:off x="914400" y="3200400"/>
            <a:ext cx="164592" cy="164592"/>
          </a:xfrm>
          <a:prstGeom prst="ellipse">
            <a:avLst/>
          </a:prstGeom>
          <a:solidFill>
            <a:srgbClr val="1E6A66"/>
          </a:solidFill>
          <a:ln w="12700">
            <a:solidFill>
              <a:srgbClr val="333333"/>
            </a:solidFill>
            <a:prstDash val="solid"/>
          </a:ln>
        </p:spPr>
      </p:sp>
      <p:sp>
        <p:nvSpPr>
          <p:cNvPr id="39" name="Shape 37"/>
          <p:cNvSpPr/>
          <p:nvPr/>
        </p:nvSpPr>
        <p:spPr>
          <a:xfrm>
            <a:off x="1170432" y="3200400"/>
            <a:ext cx="164592" cy="164592"/>
          </a:xfrm>
          <a:prstGeom prst="ellipse">
            <a:avLst/>
          </a:prstGeom>
          <a:solidFill>
            <a:srgbClr val="1E6A66"/>
          </a:solidFill>
          <a:ln w="12700">
            <a:solidFill>
              <a:srgbClr val="333333"/>
            </a:solidFill>
            <a:prstDash val="solid"/>
          </a:ln>
        </p:spPr>
      </p:sp>
      <p:sp>
        <p:nvSpPr>
          <p:cNvPr id="40" name="Shape 38"/>
          <p:cNvSpPr/>
          <p:nvPr/>
        </p:nvSpPr>
        <p:spPr>
          <a:xfrm>
            <a:off x="1426464" y="3200400"/>
            <a:ext cx="164592" cy="164592"/>
          </a:xfrm>
          <a:prstGeom prst="ellipse">
            <a:avLst/>
          </a:prstGeom>
          <a:solidFill>
            <a:srgbClr val="1E6A66"/>
          </a:solidFill>
          <a:ln w="12700">
            <a:solidFill>
              <a:srgbClr val="333333"/>
            </a:solidFill>
            <a:prstDash val="solid"/>
          </a:ln>
        </p:spPr>
      </p:sp>
      <p:sp>
        <p:nvSpPr>
          <p:cNvPr id="41" name="Shape 39"/>
          <p:cNvSpPr/>
          <p:nvPr/>
        </p:nvSpPr>
        <p:spPr>
          <a:xfrm>
            <a:off x="1682496" y="3200400"/>
            <a:ext cx="164592" cy="164592"/>
          </a:xfrm>
          <a:prstGeom prst="ellipse">
            <a:avLst/>
          </a:prstGeom>
          <a:solidFill>
            <a:srgbClr val="1E6A66"/>
          </a:solidFill>
          <a:ln w="12700">
            <a:solidFill>
              <a:srgbClr val="333333"/>
            </a:solidFill>
            <a:prstDash val="solid"/>
          </a:ln>
        </p:spPr>
      </p:sp>
      <p:sp>
        <p:nvSpPr>
          <p:cNvPr id="42" name="Shape 40"/>
          <p:cNvSpPr/>
          <p:nvPr/>
        </p:nvSpPr>
        <p:spPr>
          <a:xfrm>
            <a:off x="1938528" y="3200400"/>
            <a:ext cx="164592" cy="164592"/>
          </a:xfrm>
          <a:prstGeom prst="ellipse">
            <a:avLst/>
          </a:prstGeom>
          <a:solidFill>
            <a:srgbClr val="1E6A66"/>
          </a:solidFill>
          <a:ln w="12700">
            <a:solidFill>
              <a:srgbClr val="333333"/>
            </a:solidFill>
            <a:prstDash val="solid"/>
          </a:ln>
        </p:spPr>
      </p:sp>
      <p:sp>
        <p:nvSpPr>
          <p:cNvPr id="43" name="Shape 41"/>
          <p:cNvSpPr/>
          <p:nvPr/>
        </p:nvSpPr>
        <p:spPr>
          <a:xfrm>
            <a:off x="2441448" y="2651760"/>
            <a:ext cx="274320" cy="146304"/>
          </a:xfrm>
          <a:prstGeom prst="rightArrow">
            <a:avLst/>
          </a:prstGeom>
          <a:solidFill>
            <a:srgbClr val="F5A63C"/>
          </a:solidFill>
          <a:ln w="12700">
            <a:solidFill>
              <a:srgbClr val="F5A63C"/>
            </a:solidFill>
            <a:prstDash val="solid"/>
          </a:ln>
        </p:spPr>
      </p:sp>
      <p:sp>
        <p:nvSpPr>
          <p:cNvPr id="44" name="Shape 42"/>
          <p:cNvSpPr/>
          <p:nvPr/>
        </p:nvSpPr>
        <p:spPr>
          <a:xfrm>
            <a:off x="2990088" y="2103120"/>
            <a:ext cx="1554480" cy="1051560"/>
          </a:xfrm>
          <a:prstGeom prst="roundRect">
            <a:avLst>
              <a:gd name="adj" fmla="val 5217"/>
            </a:avLst>
          </a:prstGeom>
          <a:solidFill>
            <a:srgbClr val="161B28"/>
          </a:solidFill>
          <a:ln w="12700">
            <a:solidFill>
              <a:srgbClr val="1E6A66"/>
            </a:solidFill>
            <a:prstDash val="solid"/>
          </a:ln>
        </p:spPr>
      </p:sp>
      <p:sp>
        <p:nvSpPr>
          <p:cNvPr id="45" name="Text 43"/>
          <p:cNvSpPr txBox="1"/>
          <p:nvPr/>
        </p:nvSpPr>
        <p:spPr>
          <a:xfrm>
            <a:off x="3035808" y="2240280"/>
            <a:ext cx="1463040" cy="457200"/>
          </a:xfrm>
          <a:prstGeom prst="rect">
            <a:avLst/>
          </a:prstGeom>
          <a:noFill/>
          <a:ln/>
        </p:spPr>
        <p:txBody>
          <a:bodyPr wrap="square" lIns="0" tIns="0" rIns="0" bIns="0" rtlCol="0" anchor="ctr"/>
          <a:lstStyle/>
          <a:p>
            <a:pPr algn="ctr" indent="0" marL="0">
              <a:buNone/>
            </a:pPr>
            <a:r>
              <a:rPr lang="en-US" sz="2800" b="1" dirty="0">
                <a:solidFill>
                  <a:srgbClr val="3FC9C0"/>
                </a:solidFill>
                <a:latin typeface="Consolas" pitchFamily="34" charset="0"/>
                <a:ea typeface="Consolas" pitchFamily="34" charset="-122"/>
                <a:cs typeface="Consolas" pitchFamily="34" charset="-120"/>
              </a:rPr>
              <a:t>১</a:t>
            </a:r>
            <a:endParaRPr lang="en-US" sz="2800" dirty="0"/>
          </a:p>
        </p:txBody>
      </p:sp>
      <p:sp>
        <p:nvSpPr>
          <p:cNvPr id="46" name="Text 44"/>
          <p:cNvSpPr txBox="1"/>
          <p:nvPr/>
        </p:nvSpPr>
        <p:spPr>
          <a:xfrm>
            <a:off x="3035808" y="2743200"/>
            <a:ext cx="1463040" cy="256032"/>
          </a:xfrm>
          <a:prstGeom prst="rect">
            <a:avLst/>
          </a:prstGeom>
          <a:noFill/>
          <a:ln/>
        </p:spPr>
        <p:txBody>
          <a:bodyPr wrap="square" lIns="0" tIns="0" rIns="0" bIns="0" rtlCol="0" anchor="ctr"/>
          <a:lstStyle/>
          <a:p>
            <a:pPr algn="ctr" indent="0" marL="0">
              <a:buNone/>
            </a:pPr>
            <a:r>
              <a:rPr lang="en-US" sz="900" spc="100" kern="0" dirty="0">
                <a:solidFill>
                  <a:srgbClr val="7E8798"/>
                </a:solidFill>
                <a:latin typeface="Consolas" pitchFamily="34" charset="0"/>
                <a:ea typeface="Consolas" pitchFamily="34" charset="-122"/>
                <a:cs typeface="Consolas" pitchFamily="34" charset="-120"/>
              </a:rPr>
              <a:t>DB QUERY</a:t>
            </a:r>
            <a:endParaRPr lang="en-US" sz="900" dirty="0"/>
          </a:p>
        </p:txBody>
      </p:sp>
      <p:sp>
        <p:nvSpPr>
          <p:cNvPr id="47" name="Text 45"/>
          <p:cNvSpPr txBox="1"/>
          <p:nvPr/>
        </p:nvSpPr>
        <p:spPr>
          <a:xfrm>
            <a:off x="658368" y="3794760"/>
            <a:ext cx="5577840" cy="210312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B4BCCE"/>
                </a:solidFill>
                <a:latin typeface="Nirmala UI" pitchFamily="34" charset="0"/>
                <a:ea typeface="Nirmala UI" pitchFamily="34" charset="-122"/>
                <a:cs typeface="Nirmala UI" pitchFamily="34" charset="-120"/>
              </a:rPr>
              <a:t>singleFlight — একই প্রসেসের ভেতর একটা promise সবাই শেয়ার করে</a:t>
            </a:r>
            <a:endParaRPr lang="en-US" sz="1150" dirty="0"/>
          </a:p>
          <a:p>
            <a:pPr marL="342900" indent="-342900">
              <a:spcAft>
                <a:spcPts val="700"/>
              </a:spcAft>
              <a:buSzPct val="100000"/>
              <a:buChar char="–"/>
            </a:pPr>
            <a:r>
              <a:rPr lang="en-US" sz="1150" dirty="0">
                <a:solidFill>
                  <a:srgbClr val="B4BCCE"/>
                </a:solidFill>
                <a:latin typeface="Nirmala UI" pitchFamily="34" charset="0"/>
                <a:ea typeface="Nirmala UI" pitchFamily="34" charset="-122"/>
                <a:cs typeface="Nirmala UI" pitchFamily="34" charset="-120"/>
              </a:rPr>
              <a:t>Redis distributed lock — একজনই লক পায়, সেই একজনই DB-তে যায়</a:t>
            </a:r>
            <a:endParaRPr lang="en-US" sz="1150" dirty="0"/>
          </a:p>
          <a:p>
            <a:pPr marL="342900" indent="-342900">
              <a:spcAft>
                <a:spcPts val="700"/>
              </a:spcAft>
              <a:buSzPct val="100000"/>
              <a:buChar char="–"/>
            </a:pPr>
            <a:r>
              <a:rPr lang="en-US" sz="1150" dirty="0">
                <a:solidFill>
                  <a:srgbClr val="B4BCCE"/>
                </a:solidFill>
                <a:latin typeface="Nirmala UI" pitchFamily="34" charset="0"/>
                <a:ea typeface="Nirmala UI" pitchFamily="34" charset="-122"/>
                <a:cs typeface="Nirmala UI" pitchFamily="34" charset="-120"/>
              </a:rPr>
              <a:t>লক ছাড়ি Lua স্ক্রিপ্টে টোকেন মিলিয়ে, যাতে একজনের লক আরেকজন ছেড়ে না দেয়</a:t>
            </a:r>
            <a:endParaRPr lang="en-US" sz="1150" dirty="0"/>
          </a:p>
          <a:p>
            <a:pPr marL="342900" indent="-342900">
              <a:spcAft>
                <a:spcPts val="700"/>
              </a:spcAft>
              <a:buSzPct val="100000"/>
              <a:buChar char="–"/>
            </a:pPr>
            <a:r>
              <a:rPr lang="en-US" sz="1150" dirty="0">
                <a:solidFill>
                  <a:srgbClr val="B4BCCE"/>
                </a:solidFill>
                <a:latin typeface="Nirmala UI" pitchFamily="34" charset="0"/>
                <a:ea typeface="Nirmala UI" pitchFamily="34" charset="-122"/>
                <a:cs typeface="Nirmala UI" pitchFamily="34" charset="-120"/>
              </a:rPr>
              <a:t>Redis ডাউন হলে সরাসরি DB থেকে পড়ে — ক্যাশ ফেল করলেও ফিচার ফেল করে না</a:t>
            </a:r>
            <a:endParaRPr lang="en-US" sz="1150" dirty="0"/>
          </a:p>
        </p:txBody>
      </p:sp>
      <p:sp>
        <p:nvSpPr>
          <p:cNvPr id="48" name="Shape 46"/>
          <p:cNvSpPr/>
          <p:nvPr/>
        </p:nvSpPr>
        <p:spPr>
          <a:xfrm>
            <a:off x="6492240" y="1783080"/>
            <a:ext cx="5029200" cy="4114800"/>
          </a:xfrm>
          <a:prstGeom prst="roundRect">
            <a:avLst>
              <a:gd name="adj" fmla="val 1333"/>
            </a:avLst>
          </a:prstGeom>
          <a:solidFill>
            <a:srgbClr val="090C13"/>
          </a:solidFill>
          <a:ln w="12700">
            <a:solidFill>
              <a:srgbClr val="28303F"/>
            </a:solidFill>
            <a:prstDash val="solid"/>
          </a:ln>
        </p:spPr>
      </p:sp>
      <p:sp>
        <p:nvSpPr>
          <p:cNvPr id="49" name="Shape 47"/>
          <p:cNvSpPr/>
          <p:nvPr/>
        </p:nvSpPr>
        <p:spPr>
          <a:xfrm>
            <a:off x="6492240" y="1837944"/>
            <a:ext cx="32004" cy="4005072"/>
          </a:xfrm>
          <a:prstGeom prst="rect">
            <a:avLst/>
          </a:prstGeom>
          <a:solidFill>
            <a:srgbClr val="3FC9C0"/>
          </a:solidFill>
          <a:ln/>
        </p:spPr>
      </p:sp>
      <p:sp>
        <p:nvSpPr>
          <p:cNvPr id="50" name="Text 48"/>
          <p:cNvSpPr txBox="1"/>
          <p:nvPr/>
        </p:nvSpPr>
        <p:spPr>
          <a:xfrm>
            <a:off x="6693408" y="1929384"/>
            <a:ext cx="4663440" cy="3822192"/>
          </a:xfrm>
          <a:prstGeom prst="rect">
            <a:avLst/>
          </a:prstGeom>
          <a:noFill/>
          <a:ln/>
        </p:spPr>
        <p:txBody>
          <a:bodyPr wrap="square" lIns="0" tIns="0" rIns="0" bIns="0" rtlCol="0" anchor="t"/>
          <a:lstStyle/>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1. inside one process</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return singleFlight(`cold:${key}`, async () =&gt; {</a:t>
            </a:r>
            <a:endParaRPr lang="en-US" sz="1000" dirty="0"/>
          </a:p>
          <a:p>
            <a:pPr indent="0" marL="0">
              <a:lnSpc>
                <a:spcPts val="1550"/>
              </a:lnSpc>
              <a:buNone/>
            </a:pP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 2. across processes — redis lock</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const lock = await acquireLock(</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`lock:${key}`, lockTtlMs);</a:t>
            </a:r>
            <a:endParaRPr lang="en-US" sz="1000" dirty="0"/>
          </a:p>
          <a:p>
            <a:pPr indent="0" marL="0">
              <a:lnSpc>
                <a:spcPts val="1550"/>
              </a:lnSpc>
              <a:buNone/>
            </a:pP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if (lock)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startLockHeartbeat(lock, lockTtlMs);</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return await loadAndCache({ key, loader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a:t>
            </a:r>
            <a:endParaRPr lang="en-US" sz="1000" dirty="0"/>
          </a:p>
          <a:p>
            <a:pPr indent="0" marL="0">
              <a:lnSpc>
                <a:spcPts val="1550"/>
              </a:lnSpc>
              <a:buNone/>
            </a:pP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 3. everyone else waits, never hits the DB</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while (Date.now() &lt; deadline)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await sleep(randomBetween(40, 100));</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const cached = await readCache(key);</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if (cached.state !== "miss")</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return cached.value;</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18</a:t>
            </a:r>
            <a:endParaRPr lang="en-US" sz="1000" dirty="0"/>
          </a:p>
        </p:txBody>
      </p:sp>
      <p:sp>
        <p:nvSpPr>
          <p:cNvPr id="3" name="Text 1"/>
          <p:cNvSpPr txBox="1"/>
          <p:nvPr/>
        </p:nvSpPr>
        <p:spPr>
          <a:xfrm>
            <a:off x="10088575" y="274320"/>
            <a:ext cx="187452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PUSH PIPELINE</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রক্ষণাবেক্ষণ</a:t>
            </a:r>
            <a:endParaRPr lang="en-US" sz="1000" dirty="0"/>
          </a:p>
        </p:txBody>
      </p:sp>
      <p:sp>
        <p:nvSpPr>
          <p:cNvPr id="6" name="Text 4"/>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000" b="1" dirty="0">
                <a:solidFill>
                  <a:srgbClr val="E9EDF6"/>
                </a:solidFill>
                <a:latin typeface="Nirmala UI" pitchFamily="34" charset="0"/>
                <a:ea typeface="Nirmala UI" pitchFamily="34" charset="-122"/>
                <a:cs typeface="Nirmala UI" pitchFamily="34" charset="-120"/>
              </a:rPr>
              <a:t>প্রতিদিন রাতে নিজে নিজেই পরিষ্কার</a:t>
            </a:r>
            <a:endParaRPr lang="en-US" sz="3000" dirty="0"/>
          </a:p>
        </p:txBody>
      </p:sp>
      <p:sp>
        <p:nvSpPr>
          <p:cNvPr id="7" name="Shape 5"/>
          <p:cNvSpPr/>
          <p:nvPr/>
        </p:nvSpPr>
        <p:spPr>
          <a:xfrm>
            <a:off x="658368" y="1783080"/>
            <a:ext cx="6035040" cy="3017520"/>
          </a:xfrm>
          <a:prstGeom prst="roundRect">
            <a:avLst>
              <a:gd name="adj" fmla="val 1818"/>
            </a:avLst>
          </a:prstGeom>
          <a:solidFill>
            <a:srgbClr val="090C13"/>
          </a:solidFill>
          <a:ln w="12700">
            <a:solidFill>
              <a:srgbClr val="28303F"/>
            </a:solidFill>
            <a:prstDash val="solid"/>
          </a:ln>
        </p:spPr>
      </p:sp>
      <p:sp>
        <p:nvSpPr>
          <p:cNvPr id="8" name="Shape 6"/>
          <p:cNvSpPr/>
          <p:nvPr/>
        </p:nvSpPr>
        <p:spPr>
          <a:xfrm>
            <a:off x="658368" y="1837944"/>
            <a:ext cx="32004" cy="2907792"/>
          </a:xfrm>
          <a:prstGeom prst="rect">
            <a:avLst/>
          </a:prstGeom>
          <a:solidFill>
            <a:srgbClr val="F5A63C"/>
          </a:solidFill>
          <a:ln/>
        </p:spPr>
      </p:sp>
      <p:sp>
        <p:nvSpPr>
          <p:cNvPr id="9" name="Text 7"/>
          <p:cNvSpPr txBox="1"/>
          <p:nvPr/>
        </p:nvSpPr>
        <p:spPr>
          <a:xfrm>
            <a:off x="859536" y="1929384"/>
            <a:ext cx="5669280" cy="2724912"/>
          </a:xfrm>
          <a:prstGeom prst="rect">
            <a:avLst/>
          </a:prstGeom>
          <a:noFill/>
          <a:ln/>
        </p:spPr>
        <p:txBody>
          <a:bodyPr wrap="square" lIns="0" tIns="0" rIns="0" bIns="0" rtlCol="0" anchor="t"/>
          <a:lstStyle/>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every day at 00:05</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cron.schedule("5 0 * * *", deleteOldNotifications);</a:t>
            </a:r>
            <a:endParaRPr lang="en-US" sz="1050" dirty="0"/>
          </a:p>
          <a:p>
            <a:pPr indent="0" marL="0">
              <a:lnSpc>
                <a:spcPts val="1628"/>
              </a:lnSpc>
              <a:buNone/>
            </a:pP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await prisma.$transaction(async (tx) =&gt; {</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await tx.notificationUserStatus.deleteMany({</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where: { createdAt: { lt: cutoffDate } }  // 7 days</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await tx.notificationLog.deleteMany({</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where: { createdAt: { lt: cutoffDate } }</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a:t>
            </a:r>
            <a:endParaRPr lang="en-US" sz="1050" dirty="0"/>
          </a:p>
          <a:p>
            <a:pPr indent="0" marL="0">
              <a:lnSpc>
                <a:spcPts val="1628"/>
              </a:lnSpc>
              <a:buNone/>
            </a:pP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await bumpNotificationGlobalVersion();</a:t>
            </a:r>
            <a:endParaRPr lang="en-US" sz="1050" dirty="0"/>
          </a:p>
        </p:txBody>
      </p:sp>
      <p:sp>
        <p:nvSpPr>
          <p:cNvPr id="10" name="Text 8"/>
          <p:cNvSpPr txBox="1"/>
          <p:nvPr/>
        </p:nvSpPr>
        <p:spPr>
          <a:xfrm>
            <a:off x="6858000" y="1828800"/>
            <a:ext cx="4663440" cy="310896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৭ দিনের পুরনো সব মুছে যায় — নোটিফিকেশন ফিড আর্কাইভ নয়, সাম্প্রতিক খবরের জায়গা</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ট্রানজেকশনে — status আগে, log পরে। মাঝপথে ফেল করলে কিছুই মুছবে না</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ডিলিটের পরেই ভার্সন বাড়ানো — নাহলে ক্যাশে এমন নোটিফিকেশন থেকে যেত যেটা DB-তে আর নেই</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টেবিল ছোট থাকে — ইনডেক্স হালকা, কোয়েরি দ্রুত, ডিস্কের বিল কম</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19</a:t>
            </a:r>
            <a:endParaRPr lang="en-US" sz="1000" dirty="0"/>
          </a:p>
        </p:txBody>
      </p:sp>
      <p:sp>
        <p:nvSpPr>
          <p:cNvPr id="3" name="Text 1"/>
          <p:cNvSpPr txBox="1"/>
          <p:nvPr/>
        </p:nvSpPr>
        <p:spPr>
          <a:xfrm>
            <a:off x="10088575" y="274320"/>
            <a:ext cx="187452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PUSH PIPELINE</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ফলাফল</a:t>
            </a:r>
            <a:endParaRPr lang="en-US" sz="1000" dirty="0"/>
          </a:p>
        </p:txBody>
      </p:sp>
      <p:sp>
        <p:nvSpPr>
          <p:cNvPr id="6" name="Shape 4"/>
          <p:cNvSpPr/>
          <p:nvPr/>
        </p:nvSpPr>
        <p:spPr>
          <a:xfrm>
            <a:off x="9509760" y="2194560"/>
            <a:ext cx="2103120" cy="2103120"/>
          </a:xfrm>
          <a:prstGeom prst="ellipse">
            <a:avLst/>
          </a:prstGeom>
          <a:solidFill>
            <a:srgbClr val="0C0F17"/>
          </a:solidFill>
          <a:ln w="15875">
            <a:solidFill>
              <a:srgbClr val="3FC9C0"/>
            </a:solidFill>
            <a:prstDash val="solid"/>
          </a:ln>
        </p:spPr>
      </p:sp>
      <p:sp>
        <p:nvSpPr>
          <p:cNvPr id="7" name="Shape 5"/>
          <p:cNvSpPr/>
          <p:nvPr/>
        </p:nvSpPr>
        <p:spPr>
          <a:xfrm>
            <a:off x="10241280" y="2926080"/>
            <a:ext cx="640080" cy="640080"/>
          </a:xfrm>
          <a:prstGeom prst="ellipse">
            <a:avLst/>
          </a:prstGeom>
          <a:solidFill>
            <a:srgbClr val="F5A63C"/>
          </a:solidFill>
          <a:ln w="12700">
            <a:solidFill>
              <a:srgbClr val="333333"/>
            </a:solidFill>
            <a:prstDash val="solid"/>
          </a:ln>
        </p:spPr>
      </p:sp>
      <p:sp>
        <p:nvSpPr>
          <p:cNvPr id="8" name="Text 6"/>
          <p:cNvSpPr txBox="1"/>
          <p:nvPr/>
        </p:nvSpPr>
        <p:spPr>
          <a:xfrm>
            <a:off x="658368" y="1005840"/>
            <a:ext cx="8046720" cy="1371600"/>
          </a:xfrm>
          <a:prstGeom prst="rect">
            <a:avLst/>
          </a:prstGeom>
          <a:noFill/>
          <a:ln/>
        </p:spPr>
        <p:txBody>
          <a:bodyPr wrap="square" lIns="0" tIns="0" rIns="0" bIns="0" rtlCol="0" anchor="t"/>
          <a:lstStyle/>
          <a:p>
            <a:pPr indent="0" marL="0">
              <a:lnSpc>
                <a:spcPts val="4200"/>
              </a:lnSpc>
              <a:buNone/>
            </a:pPr>
            <a:r>
              <a:rPr lang="en-US" sz="3400" b="1" dirty="0">
                <a:solidFill>
                  <a:srgbClr val="E9EDF6"/>
                </a:solidFill>
                <a:latin typeface="Nirmala UI" pitchFamily="34" charset="0"/>
                <a:ea typeface="Nirmala UI" pitchFamily="34" charset="-122"/>
                <a:cs typeface="Nirmala UI" pitchFamily="34" charset="-120"/>
              </a:rPr>
              <a:t>একটা VPS, একটা Redis —</a:t>
            </a:r>
            <a:endParaRPr lang="en-US" sz="3400" dirty="0"/>
          </a:p>
          <a:p>
            <a:pPr indent="0" marL="0">
              <a:lnSpc>
                <a:spcPts val="4200"/>
              </a:lnSpc>
              <a:buNone/>
            </a:pPr>
            <a:r>
              <a:rPr lang="en-US" sz="3400" b="1" dirty="0">
                <a:solidFill>
                  <a:srgbClr val="E9EDF6"/>
                </a:solidFill>
                <a:latin typeface="Nirmala UI" pitchFamily="34" charset="0"/>
                <a:ea typeface="Nirmala UI" pitchFamily="34" charset="-122"/>
                <a:cs typeface="Nirmala UI" pitchFamily="34" charset="-120"/>
              </a:rPr>
              <a:t>আর পুরো দেশ</a:t>
            </a:r>
            <a:endParaRPr lang="en-US" sz="3400" dirty="0"/>
          </a:p>
        </p:txBody>
      </p:sp>
      <p:sp>
        <p:nvSpPr>
          <p:cNvPr id="9" name="Text 7"/>
          <p:cNvSpPr txBox="1"/>
          <p:nvPr/>
        </p:nvSpPr>
        <p:spPr>
          <a:xfrm>
            <a:off x="658368" y="2606040"/>
            <a:ext cx="2468880" cy="548640"/>
          </a:xfrm>
          <a:prstGeom prst="rect">
            <a:avLst/>
          </a:prstGeom>
          <a:noFill/>
          <a:ln/>
        </p:spPr>
        <p:txBody>
          <a:bodyPr wrap="square" lIns="0" tIns="0" rIns="0" bIns="0" rtlCol="0" anchor="t"/>
          <a:lstStyle/>
          <a:p>
            <a:pPr indent="0" marL="0">
              <a:buNone/>
            </a:pPr>
            <a:r>
              <a:rPr lang="en-US" sz="3000" b="1" dirty="0">
                <a:solidFill>
                  <a:srgbClr val="F5A63C"/>
                </a:solidFill>
                <a:latin typeface="Consolas" pitchFamily="34" charset="0"/>
                <a:ea typeface="Consolas" pitchFamily="34" charset="-122"/>
                <a:cs typeface="Consolas" pitchFamily="34" charset="-120"/>
              </a:rPr>
              <a:t>~১০০s</a:t>
            </a:r>
            <a:endParaRPr lang="en-US" sz="3000" dirty="0"/>
          </a:p>
        </p:txBody>
      </p:sp>
      <p:sp>
        <p:nvSpPr>
          <p:cNvPr id="10" name="Text 8"/>
          <p:cNvSpPr txBox="1"/>
          <p:nvPr/>
        </p:nvSpPr>
        <p:spPr>
          <a:xfrm>
            <a:off x="658368" y="3154680"/>
            <a:ext cx="2468880" cy="274320"/>
          </a:xfrm>
          <a:prstGeom prst="rect">
            <a:avLst/>
          </a:prstGeom>
          <a:noFill/>
          <a:ln/>
        </p:spPr>
        <p:txBody>
          <a:bodyPr wrap="square" lIns="0" tIns="0" rIns="0" bIns="0" rtlCol="0" anchor="t"/>
          <a:lstStyle/>
          <a:p>
            <a:pPr indent="0" marL="0">
              <a:buNone/>
            </a:pPr>
            <a:r>
              <a:rPr lang="en-US" sz="1000" dirty="0">
                <a:solidFill>
                  <a:srgbClr val="7E8798"/>
                </a:solidFill>
                <a:latin typeface="Nirmala UI" pitchFamily="34" charset="0"/>
                <a:ea typeface="Nirmala UI" pitchFamily="34" charset="-122"/>
                <a:cs typeface="Nirmala UI" pitchFamily="34" charset="-120"/>
              </a:rPr>
              <a:t>৫ লাখ ডিভাইস</a:t>
            </a:r>
            <a:endParaRPr lang="en-US" sz="1000" dirty="0"/>
          </a:p>
        </p:txBody>
      </p:sp>
      <p:sp>
        <p:nvSpPr>
          <p:cNvPr id="11" name="Text 9"/>
          <p:cNvSpPr txBox="1"/>
          <p:nvPr/>
        </p:nvSpPr>
        <p:spPr>
          <a:xfrm>
            <a:off x="3310128" y="2606040"/>
            <a:ext cx="2468880" cy="548640"/>
          </a:xfrm>
          <a:prstGeom prst="rect">
            <a:avLst/>
          </a:prstGeom>
          <a:noFill/>
          <a:ln/>
        </p:spPr>
        <p:txBody>
          <a:bodyPr wrap="square" lIns="0" tIns="0" rIns="0" bIns="0" rtlCol="0" anchor="t"/>
          <a:lstStyle/>
          <a:p>
            <a:pPr indent="0" marL="0">
              <a:buNone/>
            </a:pPr>
            <a:r>
              <a:rPr lang="en-US" sz="3000" b="1" dirty="0">
                <a:solidFill>
                  <a:srgbClr val="3FC9C0"/>
                </a:solidFill>
                <a:latin typeface="Consolas" pitchFamily="34" charset="0"/>
                <a:ea typeface="Consolas" pitchFamily="34" charset="-122"/>
                <a:cs typeface="Consolas" pitchFamily="34" charset="-120"/>
              </a:rPr>
              <a:t>~৪০ms</a:t>
            </a:r>
            <a:endParaRPr lang="en-US" sz="3000" dirty="0"/>
          </a:p>
        </p:txBody>
      </p:sp>
      <p:sp>
        <p:nvSpPr>
          <p:cNvPr id="12" name="Text 10"/>
          <p:cNvSpPr txBox="1"/>
          <p:nvPr/>
        </p:nvSpPr>
        <p:spPr>
          <a:xfrm>
            <a:off x="3310128" y="3154680"/>
            <a:ext cx="2468880" cy="274320"/>
          </a:xfrm>
          <a:prstGeom prst="rect">
            <a:avLst/>
          </a:prstGeom>
          <a:noFill/>
          <a:ln/>
        </p:spPr>
        <p:txBody>
          <a:bodyPr wrap="square" lIns="0" tIns="0" rIns="0" bIns="0" rtlCol="0" anchor="t"/>
          <a:lstStyle/>
          <a:p>
            <a:pPr indent="0" marL="0">
              <a:buNone/>
            </a:pPr>
            <a:r>
              <a:rPr lang="en-US" sz="1000" dirty="0">
                <a:solidFill>
                  <a:srgbClr val="7E8798"/>
                </a:solidFill>
                <a:latin typeface="Nirmala UI" pitchFamily="34" charset="0"/>
                <a:ea typeface="Nirmala UI" pitchFamily="34" charset="-122"/>
                <a:cs typeface="Nirmala UI" pitchFamily="34" charset="-120"/>
              </a:rPr>
              <a:t>API রেসপন্স</a:t>
            </a:r>
            <a:endParaRPr lang="en-US" sz="1000" dirty="0"/>
          </a:p>
        </p:txBody>
      </p:sp>
      <p:sp>
        <p:nvSpPr>
          <p:cNvPr id="13" name="Text 11"/>
          <p:cNvSpPr txBox="1"/>
          <p:nvPr/>
        </p:nvSpPr>
        <p:spPr>
          <a:xfrm>
            <a:off x="5961888" y="2606040"/>
            <a:ext cx="2468880" cy="548640"/>
          </a:xfrm>
          <a:prstGeom prst="rect">
            <a:avLst/>
          </a:prstGeom>
          <a:noFill/>
          <a:ln/>
        </p:spPr>
        <p:txBody>
          <a:bodyPr wrap="square" lIns="0" tIns="0" rIns="0" bIns="0" rtlCol="0" anchor="t"/>
          <a:lstStyle/>
          <a:p>
            <a:pPr indent="0" marL="0">
              <a:buNone/>
            </a:pPr>
            <a:r>
              <a:rPr lang="en-US" sz="3000" b="1" dirty="0">
                <a:solidFill>
                  <a:srgbClr val="7BD88F"/>
                </a:solidFill>
                <a:latin typeface="Consolas" pitchFamily="34" charset="0"/>
                <a:ea typeface="Consolas" pitchFamily="34" charset="-122"/>
                <a:cs typeface="Consolas" pitchFamily="34" charset="-120"/>
              </a:rPr>
              <a:t>৳০</a:t>
            </a:r>
            <a:endParaRPr lang="en-US" sz="3000" dirty="0"/>
          </a:p>
        </p:txBody>
      </p:sp>
      <p:sp>
        <p:nvSpPr>
          <p:cNvPr id="14" name="Text 12"/>
          <p:cNvSpPr txBox="1"/>
          <p:nvPr/>
        </p:nvSpPr>
        <p:spPr>
          <a:xfrm>
            <a:off x="5961888" y="3154680"/>
            <a:ext cx="2468880" cy="274320"/>
          </a:xfrm>
          <a:prstGeom prst="rect">
            <a:avLst/>
          </a:prstGeom>
          <a:noFill/>
          <a:ln/>
        </p:spPr>
        <p:txBody>
          <a:bodyPr wrap="square" lIns="0" tIns="0" rIns="0" bIns="0" rtlCol="0" anchor="t"/>
          <a:lstStyle/>
          <a:p>
            <a:pPr indent="0" marL="0">
              <a:buNone/>
            </a:pPr>
            <a:r>
              <a:rPr lang="en-US" sz="1000" dirty="0">
                <a:solidFill>
                  <a:srgbClr val="7E8798"/>
                </a:solidFill>
                <a:latin typeface="Nirmala UI" pitchFamily="34" charset="0"/>
                <a:ea typeface="Nirmala UI" pitchFamily="34" charset="-122"/>
                <a:cs typeface="Nirmala UI" pitchFamily="34" charset="-120"/>
              </a:rPr>
              <a:t>FCM বিল</a:t>
            </a:r>
            <a:endParaRPr lang="en-US" sz="1000" dirty="0"/>
          </a:p>
        </p:txBody>
      </p:sp>
      <p:sp>
        <p:nvSpPr>
          <p:cNvPr id="15" name="Text 13"/>
          <p:cNvSpPr txBox="1"/>
          <p:nvPr/>
        </p:nvSpPr>
        <p:spPr>
          <a:xfrm>
            <a:off x="658368" y="3977640"/>
            <a:ext cx="7863840" cy="20116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B4BCCE"/>
                </a:solidFill>
                <a:latin typeface="Nirmala UI" pitchFamily="34" charset="0"/>
                <a:ea typeface="Nirmala UI" pitchFamily="34" charset="-122"/>
                <a:cs typeface="Nirmala UI" pitchFamily="34" charset="-120"/>
              </a:rPr>
              <a:t>কিউ = নিরাপত্তা — সার্ভার ক্র্যাশ করলেও একটা নোটিফিকেশনও হারায় না</a:t>
            </a:r>
            <a:endParaRPr lang="en-US" sz="1250" dirty="0"/>
          </a:p>
          <a:p>
            <a:pPr marL="342900" indent="-342900">
              <a:spcAft>
                <a:spcPts val="900"/>
              </a:spcAft>
              <a:buSzPct val="100000"/>
              <a:buChar char="–"/>
            </a:pPr>
            <a:r>
              <a:rPr lang="en-US" sz="1250" dirty="0">
                <a:solidFill>
                  <a:srgbClr val="B4BCCE"/>
                </a:solidFill>
                <a:latin typeface="Nirmala UI" pitchFamily="34" charset="0"/>
                <a:ea typeface="Nirmala UI" pitchFamily="34" charset="-122"/>
                <a:cs typeface="Nirmala UI" pitchFamily="34" charset="-120"/>
              </a:rPr>
              <a:t>ব্যাচ + থ্রটল = গতি — ধাক্কা না দিয়ে, মেপে মেপে</a:t>
            </a:r>
            <a:endParaRPr lang="en-US" sz="1250" dirty="0"/>
          </a:p>
          <a:p>
            <a:pPr marL="342900" indent="-342900">
              <a:spcAft>
                <a:spcPts val="900"/>
              </a:spcAft>
              <a:buSzPct val="100000"/>
              <a:buChar char="–"/>
            </a:pPr>
            <a:r>
              <a:rPr lang="en-US" sz="1250" dirty="0">
                <a:solidFill>
                  <a:srgbClr val="B4BCCE"/>
                </a:solidFill>
                <a:latin typeface="Nirmala UI" pitchFamily="34" charset="0"/>
                <a:ea typeface="Nirmala UI" pitchFamily="34" charset="-122"/>
                <a:cs typeface="Nirmala UI" pitchFamily="34" charset="-120"/>
              </a:rPr>
              <a:t>Redis লক = বিশ্বাস — কেউ একই মেসেজ দুইবার পায় না</a:t>
            </a:r>
            <a:endParaRPr lang="en-US" sz="1250" dirty="0"/>
          </a:p>
          <a:p>
            <a:pPr marL="342900" indent="-342900">
              <a:spcAft>
                <a:spcPts val="900"/>
              </a:spcAft>
              <a:buSzPct val="100000"/>
              <a:buChar char="–"/>
            </a:pPr>
            <a:r>
              <a:rPr lang="en-US" sz="1250" dirty="0">
                <a:solidFill>
                  <a:srgbClr val="B4BCCE"/>
                </a:solidFill>
                <a:latin typeface="Nirmala UI" pitchFamily="34" charset="0"/>
                <a:ea typeface="Nirmala UI" pitchFamily="34" charset="-122"/>
                <a:cs typeface="Nirmala UI" pitchFamily="34" charset="-120"/>
              </a:rPr>
              <a:t>ভার্সন ক্যাশ = স্কেল — ফিড লোড ডাটাবেজে যায়ই না</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পুশ নোটিফিকেশন পাইপলাইন</dc:title>
  <dc:subject>PptxGenJS Presentation</dc:subject>
  <dc:creator>ASG Web App Backend</dc:creator>
  <cp:lastModifiedBy>ASG Web App Backend</cp:lastModifiedBy>
  <cp:revision>1</cp:revision>
  <dcterms:created xsi:type="dcterms:W3CDTF">2026-09-02T19:24:29Z</dcterms:created>
  <dcterms:modified xsi:type="dcterms:W3CDTF">2026-09-02T19:24:29Z</dcterms:modified>
</cp:coreProperties>
</file>